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682" autoAdjust="0"/>
  </p:normalViewPr>
  <p:slideViewPr>
    <p:cSldViewPr snapToGrid="0">
      <p:cViewPr varScale="1">
        <p:scale>
          <a:sx n="55" d="100"/>
          <a:sy n="55" d="100"/>
        </p:scale>
        <p:origin x="1714" y="43"/>
      </p:cViewPr>
      <p:guideLst/>
    </p:cSldViewPr>
  </p:slideViewPr>
  <p:notesTextViewPr>
    <p:cViewPr>
      <p:scale>
        <a:sx n="1" d="1"/>
        <a:sy n="1" d="1"/>
      </p:scale>
      <p:origin x="0" y="-47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Training images</c:v>
          </c:tx>
          <c:spPr>
            <a:solidFill>
              <a:srgbClr val="007F82"/>
            </a:solidFill>
          </c:spPr>
          <c:invertIfNegative val="0"/>
          <c:dLbls>
            <c:spPr>
              <a:noFill/>
              <a:ln>
                <a:noFill/>
              </a:ln>
              <a:effectLst/>
            </c:spPr>
            <c:txPr>
              <a:bodyPr anchorCtr="1"/>
              <a:lstStyle/>
              <a:p>
                <a:pPr>
                  <a:defRPr sz="1350">
                    <a:solidFill>
                      <a:srgbClr val="142D4E"/>
                    </a:solidFill>
                    <a:latin typeface="Helvetica Neue"/>
                    <a:ea typeface="Helvetica Neue"/>
                    <a:cs typeface="Helvetica Neue"/>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Lit>
              <c:ptCount val="10"/>
              <c:pt idx="0">
                <c:v>airplane</c:v>
              </c:pt>
              <c:pt idx="1">
                <c:v>automobile</c:v>
              </c:pt>
              <c:pt idx="2">
                <c:v>bird</c:v>
              </c:pt>
              <c:pt idx="3">
                <c:v>cat</c:v>
              </c:pt>
              <c:pt idx="4">
                <c:v>deer</c:v>
              </c:pt>
              <c:pt idx="5">
                <c:v>dog</c:v>
              </c:pt>
              <c:pt idx="6">
                <c:v>frog</c:v>
              </c:pt>
              <c:pt idx="7">
                <c:v>horse</c:v>
              </c:pt>
              <c:pt idx="8">
                <c:v>ship</c:v>
              </c:pt>
              <c:pt idx="9">
                <c:v>truck</c:v>
              </c:pt>
            </c:strLit>
          </c:cat>
          <c:val>
            <c:numLit>
              <c:formatCode>General</c:formatCode>
              <c:ptCount val="10"/>
              <c:pt idx="0">
                <c:v>4746</c:v>
              </c:pt>
              <c:pt idx="1">
                <c:v>4763</c:v>
              </c:pt>
              <c:pt idx="2">
                <c:v>4752</c:v>
              </c:pt>
              <c:pt idx="3">
                <c:v>4760</c:v>
              </c:pt>
              <c:pt idx="4">
                <c:v>4744</c:v>
              </c:pt>
              <c:pt idx="5">
                <c:v>4756</c:v>
              </c:pt>
              <c:pt idx="6">
                <c:v>4735</c:v>
              </c:pt>
              <c:pt idx="7">
                <c:v>4739</c:v>
              </c:pt>
              <c:pt idx="8">
                <c:v>4740</c:v>
              </c:pt>
              <c:pt idx="9">
                <c:v>4765</c:v>
              </c:pt>
            </c:numLit>
          </c:val>
          <c:extLst>
            <c:ext xmlns:c16="http://schemas.microsoft.com/office/drawing/2014/chart" uri="{C3380CC4-5D6E-409C-BE32-E72D297353CC}">
              <c16:uniqueId val="{00000000-E979-4A0C-B20D-6855EEF830B2}"/>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title>
          <c:tx>
            <c:rich>
              <a:bodyPr/>
              <a:lstStyle/>
              <a:p>
                <a:r>
                  <a:rPr lang="en-SG" sz="1575">
                    <a:latin typeface="Helvetica Neue"/>
                    <a:ea typeface="Helvetica Neue"/>
                    <a:cs typeface="Helvetica Neue"/>
                  </a:rPr>
                  <a:t>CIFAR-10 class</a:t>
                </a:r>
              </a:p>
            </c:rich>
          </c:tx>
          <c:layout/>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53657B"/>
                </a:solidFill>
                <a:latin typeface="Helvetica Neue"/>
                <a:ea typeface="Helvetica Neue"/>
                <a:cs typeface="Helvetica Neue"/>
              </a:defRPr>
            </a:pPr>
            <a:endParaRPr lang="en-US"/>
          </a:p>
        </c:txPr>
        <c:crossAx val="48672768"/>
        <c:crosses val="autoZero"/>
        <c:auto val="1"/>
        <c:lblAlgn val="ctr"/>
        <c:lblOffset val="100"/>
        <c:noMultiLvlLbl val="1"/>
      </c:catAx>
      <c:valAx>
        <c:axId val="48672768"/>
        <c:scaling>
          <c:orientation val="minMax"/>
          <c:max val="5500"/>
          <c:min val="0"/>
        </c:scaling>
        <c:delete val="0"/>
        <c:axPos val="l"/>
        <c:majorGridlines>
          <c:spPr>
            <a:ln w="9525">
              <a:solidFill>
                <a:srgbClr val="D4DEE8"/>
              </a:solidFill>
            </a:ln>
          </c:spPr>
        </c:majorGridlines>
        <c:title>
          <c:tx>
            <c:rich>
              <a:bodyPr/>
              <a:lstStyle/>
              <a:p>
                <a:r>
                  <a:rPr lang="en-SG" sz="1575">
                    <a:latin typeface="Helvetica Neue"/>
                    <a:ea typeface="Helvetica Neue"/>
                    <a:cs typeface="Helvetica Neue"/>
                  </a:rPr>
                  <a:t>Training image count</a:t>
                </a:r>
              </a:p>
            </c:rich>
          </c:tx>
          <c:layout/>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53657B"/>
                </a:solidFill>
                <a:latin typeface="Helvetica Neue"/>
                <a:ea typeface="Helvetica Neue"/>
                <a:cs typeface="Helvetica Neue"/>
              </a:defRPr>
            </a:pPr>
            <a:endParaRPr lang="en-US"/>
          </a:p>
        </c:txPr>
        <c:crossAx val="48650112"/>
        <c:crosses val="autoZero"/>
        <c:crossBetween val="between"/>
      </c:valAx>
      <c:spPr>
        <a:solidFill>
          <a:srgbClr val="F8FAFC"/>
        </a:solidFill>
      </c:spPr>
    </c:plotArea>
    <c:plotVisOnly val="1"/>
    <c:dispBlanksAs val="zero"/>
    <c:showDLblsOverMax val="1"/>
  </c:chart>
  <c:spPr>
    <a:solidFill>
      <a:srgbClr val="F8FAFC"/>
    </a:solid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Cosine</c:v>
          </c:tx>
          <c:spPr>
            <a:ln w="28575">
              <a:solidFill>
                <a:srgbClr val="007F82"/>
              </a:solidFill>
            </a:ln>
          </c:spPr>
          <c:marker>
            <c:symbol val="none"/>
          </c:marker>
          <c:xVal>
            <c:numLit>
              <c:formatCode>General</c:formatCode>
              <c:ptCount val="41"/>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pt idx="24">
                <c:v>600</c:v>
              </c:pt>
              <c:pt idx="25">
                <c:v>625</c:v>
              </c:pt>
              <c:pt idx="26">
                <c:v>650</c:v>
              </c:pt>
              <c:pt idx="27">
                <c:v>675</c:v>
              </c:pt>
              <c:pt idx="28">
                <c:v>700</c:v>
              </c:pt>
              <c:pt idx="29">
                <c:v>725</c:v>
              </c:pt>
              <c:pt idx="30">
                <c:v>750</c:v>
              </c:pt>
              <c:pt idx="31">
                <c:v>775</c:v>
              </c:pt>
              <c:pt idx="32">
                <c:v>800</c:v>
              </c:pt>
              <c:pt idx="33">
                <c:v>825</c:v>
              </c:pt>
              <c:pt idx="34">
                <c:v>850</c:v>
              </c:pt>
              <c:pt idx="35">
                <c:v>875</c:v>
              </c:pt>
              <c:pt idx="36">
                <c:v>900</c:v>
              </c:pt>
              <c:pt idx="37">
                <c:v>925</c:v>
              </c:pt>
              <c:pt idx="38">
                <c:v>950</c:v>
              </c:pt>
              <c:pt idx="39">
                <c:v>975</c:v>
              </c:pt>
              <c:pt idx="40">
                <c:v>999</c:v>
              </c:pt>
            </c:numLit>
          </c:xVal>
          <c:yVal>
            <c:numLit>
              <c:formatCode>0.00</c:formatCode>
              <c:ptCount val="41"/>
              <c:pt idx="0">
                <c:v>0.99995871577517803</c:v>
              </c:pt>
              <c:pt idx="1">
                <c:v>0.99735040259214913</c:v>
              </c:pt>
              <c:pt idx="2">
                <c:v>0.99172468461168983</c:v>
              </c:pt>
              <c:pt idx="3">
                <c:v>0.98311569817166988</c:v>
              </c:pt>
              <c:pt idx="4">
                <c:v>0.97157568180783804</c:v>
              </c:pt>
              <c:pt idx="5">
                <c:v>0.95717465927520406</c:v>
              </c:pt>
              <c:pt idx="6">
                <c:v>0.9400000146503521</c:v>
              </c:pt>
              <c:pt idx="7">
                <c:v>0.92015596209292283</c:v>
              </c:pt>
              <c:pt idx="8">
                <c:v>0.89776291348370374</c:v>
              </c:pt>
              <c:pt idx="9">
                <c:v>0.87295674777644161</c:v>
              </c:pt>
              <c:pt idx="10">
                <c:v>0.8458879864968829</c:v>
              </c:pt>
              <c:pt idx="11">
                <c:v>0.81672088039203716</c:v>
              </c:pt>
              <c:pt idx="12">
                <c:v>0.78563241277179341</c:v>
              </c:pt>
              <c:pt idx="13">
                <c:v>0.75281122559051594</c:v>
              </c:pt>
              <c:pt idx="14">
                <c:v>0.71845647478506514</c:v>
              </c:pt>
              <c:pt idx="15">
                <c:v>0.68277662181493848</c:v>
              </c:pt>
              <c:pt idx="16">
                <c:v>0.64598816873736042</c:v>
              </c:pt>
              <c:pt idx="17">
                <c:v>0.60831434449276645</c:v>
              </c:pt>
              <c:pt idx="18">
                <c:v>0.56998375037217863</c:v>
              </c:pt>
              <c:pt idx="19">
                <c:v>0.53122897288565629</c:v>
              </c:pt>
              <c:pt idx="20">
                <c:v>0.4922851724488026</c:v>
              </c:pt>
              <c:pt idx="21">
                <c:v>0.45338865645104998</c:v>
              </c:pt>
              <c:pt idx="22">
                <c:v>0.41477544536421584</c:v>
              </c:pt>
              <c:pt idx="23">
                <c:v>0.37667984059204607</c:v>
              </c:pt>
              <c:pt idx="24">
                <c:v>0.33933300275090533</c:v>
              </c:pt>
              <c:pt idx="25">
                <c:v>0.30296154900847655</c:v>
              </c:pt>
              <c:pt idx="26">
                <c:v>0.26778617799168747</c:v>
              </c:pt>
              <c:pt idx="27">
                <c:v>0.23402033060779565</c:v>
              </c:pt>
              <c:pt idx="28">
                <c:v>0.20186889490464888</c:v>
              </c:pt>
              <c:pt idx="29">
                <c:v>0.17152696282890609</c:v>
              </c:pt>
              <c:pt idx="30">
                <c:v>0.14317864642609793</c:v>
              </c:pt>
              <c:pt idx="31">
                <c:v>0.11699596066571438</c:v>
              </c:pt>
              <c:pt idx="32">
                <c:v>9.3137779670233525E-2</c:v>
              </c:pt>
              <c:pt idx="33">
                <c:v>7.1748872681599629E-2</c:v>
              </c:pt>
              <c:pt idx="34">
                <c:v>5.2959025614813159E-2</c:v>
              </c:pt>
              <c:pt idx="35">
                <c:v>3.6882253528969296E-2</c:v>
              </c:pt>
              <c:pt idx="36">
                <c:v>2.3616108794393829E-2</c:v>
              </c:pt>
              <c:pt idx="37">
                <c:v>1.3241089153857239E-2</c:v>
              </c:pt>
              <c:pt idx="38">
                <c:v>5.8201492696951518E-3</c:v>
              </c:pt>
              <c:pt idx="39">
                <c:v>1.3983187207234392E-3</c:v>
              </c:pt>
              <c:pt idx="40">
                <c:v>2.4287669070348542E-9</c:v>
              </c:pt>
            </c:numLit>
          </c:yVal>
          <c:smooth val="1"/>
          <c:extLst>
            <c:ext xmlns:c16="http://schemas.microsoft.com/office/drawing/2014/chart" uri="{C3380CC4-5D6E-409C-BE32-E72D297353CC}">
              <c16:uniqueId val="{00000000-99E5-4594-8F6A-4CB5D4B9C3FB}"/>
            </c:ext>
          </c:extLst>
        </c:ser>
        <c:ser>
          <c:idx val="1"/>
          <c:order val="1"/>
          <c:tx>
            <c:v>Linear</c:v>
          </c:tx>
          <c:spPr>
            <a:ln w="28575">
              <a:solidFill>
                <a:srgbClr val="A65F13"/>
              </a:solidFill>
            </a:ln>
          </c:spPr>
          <c:marker>
            <c:symbol val="none"/>
          </c:marker>
          <c:xVal>
            <c:numLit>
              <c:formatCode>General</c:formatCode>
              <c:ptCount val="41"/>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pt idx="24">
                <c:v>600</c:v>
              </c:pt>
              <c:pt idx="25">
                <c:v>625</c:v>
              </c:pt>
              <c:pt idx="26">
                <c:v>650</c:v>
              </c:pt>
              <c:pt idx="27">
                <c:v>675</c:v>
              </c:pt>
              <c:pt idx="28">
                <c:v>700</c:v>
              </c:pt>
              <c:pt idx="29">
                <c:v>725</c:v>
              </c:pt>
              <c:pt idx="30">
                <c:v>750</c:v>
              </c:pt>
              <c:pt idx="31">
                <c:v>775</c:v>
              </c:pt>
              <c:pt idx="32">
                <c:v>800</c:v>
              </c:pt>
              <c:pt idx="33">
                <c:v>825</c:v>
              </c:pt>
              <c:pt idx="34">
                <c:v>850</c:v>
              </c:pt>
              <c:pt idx="35">
                <c:v>875</c:v>
              </c:pt>
              <c:pt idx="36">
                <c:v>900</c:v>
              </c:pt>
              <c:pt idx="37">
                <c:v>925</c:v>
              </c:pt>
              <c:pt idx="38">
                <c:v>950</c:v>
              </c:pt>
              <c:pt idx="39">
                <c:v>975</c:v>
              </c:pt>
              <c:pt idx="40">
                <c:v>999</c:v>
              </c:pt>
            </c:numLit>
          </c:xVal>
          <c:yVal>
            <c:numLit>
              <c:formatCode>0.00</c:formatCode>
              <c:ptCount val="41"/>
              <c:pt idx="0">
                <c:v>0.99990000000000001</c:v>
              </c:pt>
              <c:pt idx="1">
                <c:v>0.99096521308247276</c:v>
              </c:pt>
              <c:pt idx="2">
                <c:v>0.9699514935950494</c:v>
              </c:pt>
              <c:pt idx="3">
                <c:v>0.93762394922342829</c:v>
              </c:pt>
              <c:pt idx="4">
                <c:v>0.89514159089753653</c:v>
              </c:pt>
              <c:pt idx="5">
                <c:v>0.84398834002834788</c:v>
              </c:pt>
              <c:pt idx="6">
                <c:v>0.7858870240251884</c:v>
              </c:pt>
              <c:pt idx="7">
                <c:v>0.72270330725820875</c:v>
              </c:pt>
              <c:pt idx="8">
                <c:v>0.65634700551934677</c:v>
              </c:pt>
              <c:pt idx="9">
                <c:v>0.58867799590899983</c:v>
              </c:pt>
              <c:pt idx="10">
                <c:v>0.52142303061852746</c:v>
              </c:pt>
              <c:pt idx="11">
                <c:v>0.45610833608543627</c:v>
              </c:pt>
              <c:pt idx="12">
                <c:v>0.394011122523382</c:v>
              </c:pt>
              <c:pt idx="13">
                <c:v>0.33613125812220374</c:v>
              </c:pt>
              <c:pt idx="14">
                <c:v>0.28318258425946524</c:v>
              </c:pt>
              <c:pt idx="15">
                <c:v>0.23560183619586364</c:v>
              </c:pt>
              <c:pt idx="16">
                <c:v>0.19357200966664662</c:v>
              </c:pt>
              <c:pt idx="17">
                <c:v>0.15705633893679846</c:v>
              </c:pt>
              <c:pt idx="18">
                <c:v>0.12583882800090698</c:v>
              </c:pt>
              <c:pt idx="19">
                <c:v>9.9567454390728255E-2</c:v>
              </c:pt>
              <c:pt idx="20">
                <c:v>7.7796658365023891E-2</c:v>
              </c:pt>
              <c:pt idx="21">
                <c:v>6.0026432896092025E-2</c:v>
              </c:pt>
              <c:pt idx="22">
                <c:v>4.5736132110245326E-2</c:v>
              </c:pt>
              <c:pt idx="23">
                <c:v>3.4411918394276639E-2</c:v>
              </c:pt>
              <c:pt idx="24">
                <c:v>2.5567492265458999E-2</c:v>
              </c:pt>
              <c:pt idx="25">
                <c:v>1.8758340851309688E-2</c:v>
              </c:pt>
              <c:pt idx="26">
                <c:v>1.3590173256651777E-2</c:v>
              </c:pt>
              <c:pt idx="27">
                <c:v>9.7224805178706252E-3</c:v>
              </c:pt>
              <c:pt idx="28">
                <c:v>6.8682788903646416E-3</c:v>
              </c:pt>
              <c:pt idx="29">
                <c:v>4.7910945885543104E-3</c:v>
              </c:pt>
              <c:pt idx="30">
                <c:v>3.300158361569426E-3</c:v>
              </c:pt>
              <c:pt idx="31">
                <c:v>2.2446325359241743E-3</c:v>
              </c:pt>
              <c:pt idx="32">
                <c:v>1.5075210597816765E-3</c:v>
              </c:pt>
              <c:pt idx="33">
                <c:v>9.9973846770080453E-4</c:v>
              </c:pt>
              <c:pt idx="34">
                <c:v>6.5465353430265902E-4</c:v>
              </c:pt>
              <c:pt idx="35">
                <c:v>4.2328798741458049E-4</c:v>
              </c:pt>
              <c:pt idx="36">
                <c:v>2.702445195582643E-4</c:v>
              </c:pt>
              <c:pt idx="37">
                <c:v>1.7036154927296219E-4</c:v>
              </c:pt>
              <c:pt idx="38">
                <c:v>1.0604182814532021E-4</c:v>
              </c:pt>
              <c:pt idx="39">
                <c:v>6.5173489554601306E-5</c:v>
              </c:pt>
              <c:pt idx="40">
                <c:v>4.0358297653756761E-5</c:v>
              </c:pt>
            </c:numLit>
          </c:yVal>
          <c:smooth val="1"/>
          <c:extLst>
            <c:ext xmlns:c16="http://schemas.microsoft.com/office/drawing/2014/chart" uri="{C3380CC4-5D6E-409C-BE32-E72D297353CC}">
              <c16:uniqueId val="{00000001-99E5-4594-8F6A-4CB5D4B9C3FB}"/>
            </c:ext>
          </c:extLst>
        </c:ser>
        <c:dLbls>
          <c:showLegendKey val="0"/>
          <c:showVal val="0"/>
          <c:showCatName val="0"/>
          <c:showSerName val="0"/>
          <c:showPercent val="0"/>
          <c:showBubbleSize val="0"/>
        </c:dLbls>
        <c:axId val="48650112"/>
        <c:axId val="48672768"/>
      </c:scatterChart>
      <c:valAx>
        <c:axId val="48672768"/>
        <c:scaling>
          <c:orientation val="minMax"/>
          <c:max val="1"/>
          <c:min val="0"/>
        </c:scaling>
        <c:delete val="0"/>
        <c:axPos val="l"/>
        <c:majorGridlines>
          <c:spPr>
            <a:ln w="9525">
              <a:solidFill>
                <a:srgbClr val="D4DEE8"/>
              </a:solidFill>
              <a:prstDash val="solid"/>
            </a:ln>
          </c:spPr>
        </c:majorGridlines>
        <c:title>
          <c:tx>
            <c:rich>
              <a:bodyPr/>
              <a:lstStyle/>
              <a:p>
                <a:r>
                  <a:rPr lang="en-SG" sz="1575">
                    <a:latin typeface="Helvetica Neue"/>
                    <a:ea typeface="Helvetica Neue"/>
                    <a:cs typeface="Helvetica Neue"/>
                  </a:rPr>
                  <a:t>Signal coefficient </a:t>
                </a:r>
                <a:r>
                  <a:rPr lang="el-GR" sz="1575">
                    <a:latin typeface="Helvetica Neue"/>
                    <a:ea typeface="Helvetica Neue"/>
                    <a:cs typeface="Helvetica Neue"/>
                  </a:rPr>
                  <a:t>ᾱ</a:t>
                </a:r>
              </a:p>
            </c:rich>
          </c:tx>
          <c:layout/>
          <c:overlay val="0"/>
        </c:title>
        <c:numFmt formatCode="0.00" sourceLinked="1"/>
        <c:majorTickMark val="none"/>
        <c:minorTickMark val="none"/>
        <c:tickLblPos val="nextTo"/>
        <c:spPr>
          <a:ln w="9525">
            <a:solidFill>
              <a:srgbClr val="D4D4D4"/>
            </a:solidFill>
            <a:prstDash val="solid"/>
          </a:ln>
        </c:spPr>
        <c:txPr>
          <a:bodyPr anchorCtr="1"/>
          <a:lstStyle/>
          <a:p>
            <a:pPr>
              <a:defRPr sz="1350">
                <a:solidFill>
                  <a:srgbClr val="53657B"/>
                </a:solidFill>
                <a:latin typeface="Helvetica Neue"/>
                <a:ea typeface="Helvetica Neue"/>
                <a:cs typeface="Helvetica Neue"/>
              </a:defRPr>
            </a:pPr>
            <a:endParaRPr lang="en-US"/>
          </a:p>
        </c:txPr>
        <c:crossAx val="48650112"/>
        <c:crosses val="autoZero"/>
        <c:crossBetween val="midCat"/>
      </c:valAx>
      <c:valAx>
        <c:axId val="48650112"/>
        <c:scaling>
          <c:orientation val="minMax"/>
        </c:scaling>
        <c:delete val="0"/>
        <c:axPos val="b"/>
        <c:title>
          <c:tx>
            <c:rich>
              <a:bodyPr/>
              <a:lstStyle/>
              <a:p>
                <a:r>
                  <a:rPr lang="en-SG" sz="1575">
                    <a:latin typeface="Helvetica Neue"/>
                    <a:ea typeface="Helvetica Neue"/>
                    <a:cs typeface="Helvetica Neue"/>
                  </a:rPr>
                  <a:t>Timestep t</a:t>
                </a:r>
              </a:p>
            </c:rich>
          </c:tx>
          <c:layout/>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53657B"/>
                </a:solidFill>
                <a:latin typeface="Helvetica Neue"/>
                <a:ea typeface="Helvetica Neue"/>
                <a:cs typeface="Helvetica Neue"/>
              </a:defRPr>
            </a:pPr>
            <a:endParaRPr lang="en-US"/>
          </a:p>
        </c:txPr>
        <c:crossAx val="48672768"/>
        <c:crosses val="autoZero"/>
        <c:crossBetween val="midCat"/>
      </c:valAx>
      <c:spPr>
        <a:solidFill>
          <a:srgbClr val="F8FAFC"/>
        </a:solidFill>
      </c:spPr>
    </c:plotArea>
    <c:legend>
      <c:legendPos val="b"/>
      <c:layout/>
      <c:overlay val="0"/>
      <c:txPr>
        <a:bodyPr anchorCtr="1"/>
        <a:lstStyle/>
        <a:p>
          <a:pPr>
            <a:defRPr sz="1500">
              <a:solidFill>
                <a:srgbClr val="53657B"/>
              </a:solidFill>
              <a:latin typeface="Helvetica Neue"/>
              <a:ea typeface="Helvetica Neue"/>
              <a:cs typeface="Helvetica Neue"/>
            </a:defRPr>
          </a:pPr>
          <a:endParaRPr lang="en-US"/>
        </a:p>
      </c:txPr>
    </c:legend>
    <c:plotVisOnly val="1"/>
    <c:dispBlanksAs val="zero"/>
    <c:showDLblsOverMax val="1"/>
  </c:chart>
  <c:spPr>
    <a:solidFill>
      <a:srgbClr val="F8FAFC"/>
    </a:solid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Sanity-test loss</c:v>
          </c:tx>
          <c:spPr>
            <a:ln w="28575">
              <a:solidFill>
                <a:srgbClr val="007F82"/>
              </a:solidFill>
            </a:ln>
          </c:spPr>
          <c:marker>
            <c:symbol val="none"/>
          </c:marker>
          <c:xVal>
            <c:numLit>
              <c:formatCode>General</c:formatCode>
              <c:ptCount val="3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numLit>
          </c:xVal>
          <c:yVal>
            <c:numLit>
              <c:formatCode>0.00</c:formatCode>
              <c:ptCount val="300"/>
              <c:pt idx="0">
                <c:v>1.0894694328308105</c:v>
              </c:pt>
              <c:pt idx="1">
                <c:v>1.085296630859375</c:v>
              </c:pt>
              <c:pt idx="2">
                <c:v>1.0780599117279053</c:v>
              </c:pt>
              <c:pt idx="3">
                <c:v>1.0769325494766235</c:v>
              </c:pt>
              <c:pt idx="4">
                <c:v>1.0809791088104248</c:v>
              </c:pt>
              <c:pt idx="5">
                <c:v>1.0715510845184326</c:v>
              </c:pt>
              <c:pt idx="6">
                <c:v>1.0653724670410156</c:v>
              </c:pt>
              <c:pt idx="7">
                <c:v>1.0603219270706177</c:v>
              </c:pt>
              <c:pt idx="8">
                <c:v>1.0468626022338867</c:v>
              </c:pt>
              <c:pt idx="9">
                <c:v>1.0435842275619507</c:v>
              </c:pt>
              <c:pt idx="10">
                <c:v>1.0336066484451294</c:v>
              </c:pt>
              <c:pt idx="11">
                <c:v>1.0334124565124512</c:v>
              </c:pt>
              <c:pt idx="12">
                <c:v>1.0147198438644409</c:v>
              </c:pt>
              <c:pt idx="13">
                <c:v>0.99939322471618652</c:v>
              </c:pt>
              <c:pt idx="14">
                <c:v>0.99854177236557007</c:v>
              </c:pt>
              <c:pt idx="15">
                <c:v>0.9961998462677002</c:v>
              </c:pt>
              <c:pt idx="16">
                <c:v>0.9749295711517334</c:v>
              </c:pt>
              <c:pt idx="17">
                <c:v>0.95918738842010498</c:v>
              </c:pt>
              <c:pt idx="18">
                <c:v>0.94335788488388062</c:v>
              </c:pt>
              <c:pt idx="19">
                <c:v>0.93323898315429688</c:v>
              </c:pt>
              <c:pt idx="20">
                <c:v>0.92074596881866455</c:v>
              </c:pt>
              <c:pt idx="21">
                <c:v>0.91450279951095581</c:v>
              </c:pt>
              <c:pt idx="22">
                <c:v>0.90748786926269531</c:v>
              </c:pt>
              <c:pt idx="23">
                <c:v>0.8846207857131958</c:v>
              </c:pt>
              <c:pt idx="24">
                <c:v>0.86785191297531128</c:v>
              </c:pt>
              <c:pt idx="25">
                <c:v>0.85698509216308594</c:v>
              </c:pt>
              <c:pt idx="26">
                <c:v>0.83245962858200073</c:v>
              </c:pt>
              <c:pt idx="27">
                <c:v>0.83817523717880249</c:v>
              </c:pt>
              <c:pt idx="28">
                <c:v>0.82145547866821289</c:v>
              </c:pt>
              <c:pt idx="29">
                <c:v>0.77927625179290771</c:v>
              </c:pt>
              <c:pt idx="30">
                <c:v>0.76297318935394287</c:v>
              </c:pt>
              <c:pt idx="31">
                <c:v>0.75277137756347656</c:v>
              </c:pt>
              <c:pt idx="32">
                <c:v>0.75122642517089844</c:v>
              </c:pt>
              <c:pt idx="33">
                <c:v>0.72286885976791382</c:v>
              </c:pt>
              <c:pt idx="34">
                <c:v>0.72202193737030029</c:v>
              </c:pt>
              <c:pt idx="35">
                <c:v>0.70819276571273804</c:v>
              </c:pt>
              <c:pt idx="36">
                <c:v>0.66301286220550537</c:v>
              </c:pt>
              <c:pt idx="37">
                <c:v>0.62893551588058472</c:v>
              </c:pt>
              <c:pt idx="38">
                <c:v>0.6141362190246582</c:v>
              </c:pt>
              <c:pt idx="39">
                <c:v>0.61267226934432983</c:v>
              </c:pt>
              <c:pt idx="40">
                <c:v>0.60718560218811035</c:v>
              </c:pt>
              <c:pt idx="41">
                <c:v>0.58646887540817261</c:v>
              </c:pt>
              <c:pt idx="42">
                <c:v>0.58386015892028809</c:v>
              </c:pt>
              <c:pt idx="43">
                <c:v>0.54761934280395508</c:v>
              </c:pt>
              <c:pt idx="44">
                <c:v>0.53614580631256104</c:v>
              </c:pt>
              <c:pt idx="45">
                <c:v>0.49338430166244507</c:v>
              </c:pt>
              <c:pt idx="46">
                <c:v>0.50506776571273804</c:v>
              </c:pt>
              <c:pt idx="47">
                <c:v>0.50210505723953247</c:v>
              </c:pt>
              <c:pt idx="48">
                <c:v>0.4871114194393158</c:v>
              </c:pt>
              <c:pt idx="49">
                <c:v>0.45906564593315125</c:v>
              </c:pt>
              <c:pt idx="50">
                <c:v>0.45440360903739929</c:v>
              </c:pt>
              <c:pt idx="51">
                <c:v>0.38334387540817261</c:v>
              </c:pt>
              <c:pt idx="52">
                <c:v>0.43168222904205322</c:v>
              </c:pt>
              <c:pt idx="53">
                <c:v>0.4489712119102478</c:v>
              </c:pt>
              <c:pt idx="54">
                <c:v>0.37730163335800171</c:v>
              </c:pt>
              <c:pt idx="55">
                <c:v>0.37475836277008057</c:v>
              </c:pt>
              <c:pt idx="56">
                <c:v>0.33930748701095581</c:v>
              </c:pt>
              <c:pt idx="57">
                <c:v>0.37789261341094971</c:v>
              </c:pt>
              <c:pt idx="58">
                <c:v>0.34556478261947632</c:v>
              </c:pt>
              <c:pt idx="59">
                <c:v>0.3769645094871521</c:v>
              </c:pt>
              <c:pt idx="60">
                <c:v>0.33236923813819885</c:v>
              </c:pt>
              <c:pt idx="61">
                <c:v>0.31311091780662537</c:v>
              </c:pt>
              <c:pt idx="62">
                <c:v>0.2933647632598877</c:v>
              </c:pt>
              <c:pt idx="63">
                <c:v>0.33828660845756531</c:v>
              </c:pt>
              <c:pt idx="64">
                <c:v>0.30909943580627441</c:v>
              </c:pt>
              <c:pt idx="65">
                <c:v>0.29654693603515625</c:v>
              </c:pt>
              <c:pt idx="66">
                <c:v>0.26777848601341248</c:v>
              </c:pt>
              <c:pt idx="67">
                <c:v>0.26284649968147278</c:v>
              </c:pt>
              <c:pt idx="68">
                <c:v>0.26415148377418518</c:v>
              </c:pt>
              <c:pt idx="69">
                <c:v>0.26109695434570313</c:v>
              </c:pt>
              <c:pt idx="70">
                <c:v>0.22730320692062378</c:v>
              </c:pt>
              <c:pt idx="71">
                <c:v>0.22698280215263367</c:v>
              </c:pt>
              <c:pt idx="72">
                <c:v>0.2987554669380188</c:v>
              </c:pt>
              <c:pt idx="73">
                <c:v>0.24646131694316864</c:v>
              </c:pt>
              <c:pt idx="74">
                <c:v>0.26117837429046631</c:v>
              </c:pt>
              <c:pt idx="75">
                <c:v>0.25265350937843323</c:v>
              </c:pt>
              <c:pt idx="76">
                <c:v>0.24839800596237183</c:v>
              </c:pt>
              <c:pt idx="77">
                <c:v>0.24624912440776825</c:v>
              </c:pt>
              <c:pt idx="78">
                <c:v>0.20968902111053467</c:v>
              </c:pt>
              <c:pt idx="79">
                <c:v>0.21047751605510712</c:v>
              </c:pt>
              <c:pt idx="80">
                <c:v>0.2551843523979187</c:v>
              </c:pt>
              <c:pt idx="81">
                <c:v>0.21242344379425049</c:v>
              </c:pt>
              <c:pt idx="82">
                <c:v>0.23963469266891479</c:v>
              </c:pt>
              <c:pt idx="83">
                <c:v>0.25290453433990479</c:v>
              </c:pt>
              <c:pt idx="84">
                <c:v>0.22275936603546143</c:v>
              </c:pt>
              <c:pt idx="85">
                <c:v>0.1997353732585907</c:v>
              </c:pt>
              <c:pt idx="86">
                <c:v>0.20157954096794128</c:v>
              </c:pt>
              <c:pt idx="87">
                <c:v>0.23071412742137909</c:v>
              </c:pt>
              <c:pt idx="88">
                <c:v>0.17922493815422058</c:v>
              </c:pt>
              <c:pt idx="89">
                <c:v>0.22767059504985809</c:v>
              </c:pt>
              <c:pt idx="90">
                <c:v>0.18294879794120789</c:v>
              </c:pt>
              <c:pt idx="91">
                <c:v>0.20260715484619141</c:v>
              </c:pt>
              <c:pt idx="92">
                <c:v>0.21700894832611084</c:v>
              </c:pt>
              <c:pt idx="93">
                <c:v>0.18144306540489197</c:v>
              </c:pt>
              <c:pt idx="94">
                <c:v>0.24131670594215393</c:v>
              </c:pt>
              <c:pt idx="95">
                <c:v>0.18102340400218964</c:v>
              </c:pt>
              <c:pt idx="96">
                <c:v>0.2420591413974762</c:v>
              </c:pt>
              <c:pt idx="97">
                <c:v>0.21524558961391449</c:v>
              </c:pt>
              <c:pt idx="98">
                <c:v>0.16772878170013428</c:v>
              </c:pt>
              <c:pt idx="99">
                <c:v>0.20366016030311584</c:v>
              </c:pt>
              <c:pt idx="100">
                <c:v>0.19392728805541992</c:v>
              </c:pt>
              <c:pt idx="101">
                <c:v>0.20539294183254242</c:v>
              </c:pt>
              <c:pt idx="102">
                <c:v>0.19084781408309937</c:v>
              </c:pt>
              <c:pt idx="103">
                <c:v>0.16228404641151428</c:v>
              </c:pt>
              <c:pt idx="104">
                <c:v>0.19734446704387665</c:v>
              </c:pt>
              <c:pt idx="105">
                <c:v>0.21200713515281677</c:v>
              </c:pt>
              <c:pt idx="106">
                <c:v>0.16450397670269012</c:v>
              </c:pt>
              <c:pt idx="107">
                <c:v>0.14789797365665436</c:v>
              </c:pt>
              <c:pt idx="108">
                <c:v>0.17497448623180389</c:v>
              </c:pt>
              <c:pt idx="109">
                <c:v>0.17114453017711639</c:v>
              </c:pt>
              <c:pt idx="110">
                <c:v>0.17460159957408905</c:v>
              </c:pt>
              <c:pt idx="111">
                <c:v>0.15570840239524841</c:v>
              </c:pt>
              <c:pt idx="112">
                <c:v>0.16771149635314941</c:v>
              </c:pt>
              <c:pt idx="113">
                <c:v>0.16166497766971588</c:v>
              </c:pt>
              <c:pt idx="114">
                <c:v>0.18166987597942352</c:v>
              </c:pt>
              <c:pt idx="115">
                <c:v>0.16841989755630493</c:v>
              </c:pt>
              <c:pt idx="116">
                <c:v>0.15472006797790527</c:v>
              </c:pt>
              <c:pt idx="117">
                <c:v>0.17251585423946381</c:v>
              </c:pt>
              <c:pt idx="118">
                <c:v>0.20683464407920837</c:v>
              </c:pt>
              <c:pt idx="119">
                <c:v>0.19001504778862</c:v>
              </c:pt>
              <c:pt idx="120">
                <c:v>0.19211819767951965</c:v>
              </c:pt>
              <c:pt idx="121">
                <c:v>0.15966057777404785</c:v>
              </c:pt>
              <c:pt idx="122">
                <c:v>0.14497606456279755</c:v>
              </c:pt>
              <c:pt idx="123">
                <c:v>0.16828015446662903</c:v>
              </c:pt>
              <c:pt idx="124">
                <c:v>0.17591290175914764</c:v>
              </c:pt>
              <c:pt idx="125">
                <c:v>0.17245706915855408</c:v>
              </c:pt>
              <c:pt idx="126">
                <c:v>0.11877235770225525</c:v>
              </c:pt>
              <c:pt idx="127">
                <c:v>0.16938349604606628</c:v>
              </c:pt>
              <c:pt idx="128">
                <c:v>0.15660697221755981</c:v>
              </c:pt>
              <c:pt idx="129">
                <c:v>0.15530999004840851</c:v>
              </c:pt>
              <c:pt idx="130">
                <c:v>0.22345618903636932</c:v>
              </c:pt>
              <c:pt idx="131">
                <c:v>0.15672162175178528</c:v>
              </c:pt>
              <c:pt idx="132">
                <c:v>0.19097030162811279</c:v>
              </c:pt>
              <c:pt idx="133">
                <c:v>0.17034336924552917</c:v>
              </c:pt>
              <c:pt idx="134">
                <c:v>0.13756297528743744</c:v>
              </c:pt>
              <c:pt idx="135">
                <c:v>0.12466210126876831</c:v>
              </c:pt>
              <c:pt idx="136">
                <c:v>0.1465570330619812</c:v>
              </c:pt>
              <c:pt idx="137">
                <c:v>0.14249137043952942</c:v>
              </c:pt>
              <c:pt idx="138">
                <c:v>0.18634510040283203</c:v>
              </c:pt>
              <c:pt idx="139">
                <c:v>0.14124301075935364</c:v>
              </c:pt>
              <c:pt idx="140">
                <c:v>0.12936626374721527</c:v>
              </c:pt>
              <c:pt idx="141">
                <c:v>0.14131113886833191</c:v>
              </c:pt>
              <c:pt idx="142">
                <c:v>0.15000109374523163</c:v>
              </c:pt>
              <c:pt idx="143">
                <c:v>0.14109238982200623</c:v>
              </c:pt>
              <c:pt idx="144">
                <c:v>0.19022747874259949</c:v>
              </c:pt>
              <c:pt idx="145">
                <c:v>0.13442924618721008</c:v>
              </c:pt>
              <c:pt idx="146">
                <c:v>0.17215006053447723</c:v>
              </c:pt>
              <c:pt idx="147">
                <c:v>0.15887793898582458</c:v>
              </c:pt>
              <c:pt idx="148">
                <c:v>0.14819839596748352</c:v>
              </c:pt>
              <c:pt idx="149">
                <c:v>0.11459819972515106</c:v>
              </c:pt>
              <c:pt idx="150">
                <c:v>0.11747004091739655</c:v>
              </c:pt>
              <c:pt idx="151">
                <c:v>0.14575633406639099</c:v>
              </c:pt>
              <c:pt idx="152">
                <c:v>0.15531438589096069</c:v>
              </c:pt>
              <c:pt idx="153">
                <c:v>0.15846246480941772</c:v>
              </c:pt>
              <c:pt idx="154">
                <c:v>0.1244237944483757</c:v>
              </c:pt>
              <c:pt idx="155">
                <c:v>0.12896576523780823</c:v>
              </c:pt>
              <c:pt idx="156">
                <c:v>0.1526387482881546</c:v>
              </c:pt>
              <c:pt idx="157">
                <c:v>0.11186043918132782</c:v>
              </c:pt>
              <c:pt idx="158">
                <c:v>0.16906885802745819</c:v>
              </c:pt>
              <c:pt idx="159">
                <c:v>0.15851560235023499</c:v>
              </c:pt>
              <c:pt idx="160">
                <c:v>0.14335213601589203</c:v>
              </c:pt>
              <c:pt idx="161">
                <c:v>0.14401660859584808</c:v>
              </c:pt>
              <c:pt idx="162">
                <c:v>0.14103089272975922</c:v>
              </c:pt>
              <c:pt idx="163">
                <c:v>0.12732267379760742</c:v>
              </c:pt>
              <c:pt idx="164">
                <c:v>0.14047740399837494</c:v>
              </c:pt>
              <c:pt idx="165">
                <c:v>0.11584314703941345</c:v>
              </c:pt>
              <c:pt idx="166">
                <c:v>0.12552763521671295</c:v>
              </c:pt>
              <c:pt idx="167">
                <c:v>0.11419780552387238</c:v>
              </c:pt>
              <c:pt idx="168">
                <c:v>0.10086312144994736</c:v>
              </c:pt>
              <c:pt idx="169">
                <c:v>0.12647414207458496</c:v>
              </c:pt>
              <c:pt idx="170">
                <c:v>0.13736447691917419</c:v>
              </c:pt>
              <c:pt idx="171">
                <c:v>0.10493465512990952</c:v>
              </c:pt>
              <c:pt idx="172">
                <c:v>0.12886884808540344</c:v>
              </c:pt>
              <c:pt idx="173">
                <c:v>0.14228168129920959</c:v>
              </c:pt>
              <c:pt idx="174">
                <c:v>0.14147888123989105</c:v>
              </c:pt>
              <c:pt idx="175">
                <c:v>0.13712474703788757</c:v>
              </c:pt>
              <c:pt idx="176">
                <c:v>0.13704955577850342</c:v>
              </c:pt>
              <c:pt idx="177">
                <c:v>0.18083439767360687</c:v>
              </c:pt>
              <c:pt idx="178">
                <c:v>0.12534864246845245</c:v>
              </c:pt>
              <c:pt idx="179">
                <c:v>0.14756336808204651</c:v>
              </c:pt>
              <c:pt idx="180">
                <c:v>0.13971051573753357</c:v>
              </c:pt>
              <c:pt idx="181">
                <c:v>0.1299884021282196</c:v>
              </c:pt>
              <c:pt idx="182">
                <c:v>0.14255174994468689</c:v>
              </c:pt>
              <c:pt idx="183">
                <c:v>0.11643781512975693</c:v>
              </c:pt>
              <c:pt idx="184">
                <c:v>0.12910257279872894</c:v>
              </c:pt>
              <c:pt idx="185">
                <c:v>0.15327240526676178</c:v>
              </c:pt>
              <c:pt idx="186">
                <c:v>0.12493246793746948</c:v>
              </c:pt>
              <c:pt idx="187">
                <c:v>0.10298603773117065</c:v>
              </c:pt>
              <c:pt idx="188">
                <c:v>0.14682760834693909</c:v>
              </c:pt>
              <c:pt idx="189">
                <c:v>0.13023516535758972</c:v>
              </c:pt>
              <c:pt idx="190">
                <c:v>9.5631830394268036E-2</c:v>
              </c:pt>
              <c:pt idx="191">
                <c:v>0.10376026481389999</c:v>
              </c:pt>
              <c:pt idx="192">
                <c:v>0.13841159641742706</c:v>
              </c:pt>
              <c:pt idx="193">
                <c:v>0.14102961122989655</c:v>
              </c:pt>
              <c:pt idx="194">
                <c:v>0.14751675724983215</c:v>
              </c:pt>
              <c:pt idx="195">
                <c:v>0.13471758365631104</c:v>
              </c:pt>
              <c:pt idx="196">
                <c:v>0.15567681193351746</c:v>
              </c:pt>
              <c:pt idx="197">
                <c:v>0.14251996576786041</c:v>
              </c:pt>
              <c:pt idx="198">
                <c:v>0.13019327819347382</c:v>
              </c:pt>
              <c:pt idx="199">
                <c:v>0.1302897036075592</c:v>
              </c:pt>
              <c:pt idx="200">
                <c:v>0.10281705111265182</c:v>
              </c:pt>
              <c:pt idx="201">
                <c:v>0.11256652325391769</c:v>
              </c:pt>
              <c:pt idx="202">
                <c:v>0.10507869720458984</c:v>
              </c:pt>
              <c:pt idx="203">
                <c:v>0.10983753204345703</c:v>
              </c:pt>
              <c:pt idx="204">
                <c:v>8.7740302085876465E-2</c:v>
              </c:pt>
              <c:pt idx="205">
                <c:v>0.11611386388540268</c:v>
              </c:pt>
              <c:pt idx="206">
                <c:v>0.11118339747190475</c:v>
              </c:pt>
              <c:pt idx="207">
                <c:v>0.12772849202156067</c:v>
              </c:pt>
              <c:pt idx="208">
                <c:v>0.11642333120107651</c:v>
              </c:pt>
              <c:pt idx="209">
                <c:v>9.2591464519500732E-2</c:v>
              </c:pt>
              <c:pt idx="210">
                <c:v>0.15249155461788177</c:v>
              </c:pt>
              <c:pt idx="211">
                <c:v>0.10581089556217194</c:v>
              </c:pt>
              <c:pt idx="212">
                <c:v>0.11333188414573669</c:v>
              </c:pt>
              <c:pt idx="213">
                <c:v>0.13938318192958832</c:v>
              </c:pt>
              <c:pt idx="214">
                <c:v>0.14395955204963684</c:v>
              </c:pt>
              <c:pt idx="215">
                <c:v>0.11400885879993439</c:v>
              </c:pt>
              <c:pt idx="216">
                <c:v>0.12922811508178711</c:v>
              </c:pt>
              <c:pt idx="217">
                <c:v>0.15417927503585815</c:v>
              </c:pt>
              <c:pt idx="218">
                <c:v>0.10263733565807343</c:v>
              </c:pt>
              <c:pt idx="219">
                <c:v>0.1104973703622818</c:v>
              </c:pt>
              <c:pt idx="220">
                <c:v>0.10803855955600739</c:v>
              </c:pt>
              <c:pt idx="221">
                <c:v>0.12037336826324463</c:v>
              </c:pt>
              <c:pt idx="222">
                <c:v>0.12090426683425903</c:v>
              </c:pt>
              <c:pt idx="223">
                <c:v>0.11157853901386261</c:v>
              </c:pt>
              <c:pt idx="224">
                <c:v>0.12911742925643921</c:v>
              </c:pt>
              <c:pt idx="225">
                <c:v>0.11003919690847397</c:v>
              </c:pt>
              <c:pt idx="226">
                <c:v>0.10501899570226669</c:v>
              </c:pt>
              <c:pt idx="227">
                <c:v>0.11502955853939056</c:v>
              </c:pt>
              <c:pt idx="228">
                <c:v>0.10469160974025726</c:v>
              </c:pt>
              <c:pt idx="229">
                <c:v>0.11295100301504135</c:v>
              </c:pt>
              <c:pt idx="230">
                <c:v>0.11283986270427704</c:v>
              </c:pt>
              <c:pt idx="231">
                <c:v>0.10903754830360413</c:v>
              </c:pt>
              <c:pt idx="232">
                <c:v>0.11137475073337555</c:v>
              </c:pt>
              <c:pt idx="233">
                <c:v>0.12102197110652924</c:v>
              </c:pt>
              <c:pt idx="234">
                <c:v>0.11919020116329193</c:v>
              </c:pt>
              <c:pt idx="235">
                <c:v>0.10575293004512787</c:v>
              </c:pt>
              <c:pt idx="236">
                <c:v>0.11112213134765625</c:v>
              </c:pt>
              <c:pt idx="237">
                <c:v>8.5596516728401184E-2</c:v>
              </c:pt>
              <c:pt idx="238">
                <c:v>0.1253688633441925</c:v>
              </c:pt>
              <c:pt idx="239">
                <c:v>9.111388772726059E-2</c:v>
              </c:pt>
              <c:pt idx="240">
                <c:v>9.842710942029953E-2</c:v>
              </c:pt>
              <c:pt idx="241">
                <c:v>0.1071937307715416</c:v>
              </c:pt>
              <c:pt idx="242">
                <c:v>9.2060118913650513E-2</c:v>
              </c:pt>
              <c:pt idx="243">
                <c:v>9.4113469123840332E-2</c:v>
              </c:pt>
              <c:pt idx="244">
                <c:v>0.10908930003643036</c:v>
              </c:pt>
              <c:pt idx="245">
                <c:v>9.6640840172767639E-2</c:v>
              </c:pt>
              <c:pt idx="246">
                <c:v>0.10615555942058563</c:v>
              </c:pt>
              <c:pt idx="247">
                <c:v>0.10875488817691803</c:v>
              </c:pt>
              <c:pt idx="248">
                <c:v>0.12504652142524719</c:v>
              </c:pt>
              <c:pt idx="249">
                <c:v>8.3568751811981201E-2</c:v>
              </c:pt>
              <c:pt idx="250">
                <c:v>0.12029550969600677</c:v>
              </c:pt>
              <c:pt idx="251">
                <c:v>0.11234991997480392</c:v>
              </c:pt>
              <c:pt idx="252">
                <c:v>9.2374101281166077E-2</c:v>
              </c:pt>
              <c:pt idx="253">
                <c:v>9.8339490592479706E-2</c:v>
              </c:pt>
              <c:pt idx="254">
                <c:v>9.9210396409034729E-2</c:v>
              </c:pt>
              <c:pt idx="255">
                <c:v>8.2600921392440796E-2</c:v>
              </c:pt>
              <c:pt idx="256">
                <c:v>0.1153903603553772</c:v>
              </c:pt>
              <c:pt idx="257">
                <c:v>8.9470714330673218E-2</c:v>
              </c:pt>
              <c:pt idx="258">
                <c:v>8.4500156342983246E-2</c:v>
              </c:pt>
              <c:pt idx="259">
                <c:v>8.1974193453788757E-2</c:v>
              </c:pt>
              <c:pt idx="260">
                <c:v>0.12750773131847382</c:v>
              </c:pt>
              <c:pt idx="261">
                <c:v>0.11479586362838745</c:v>
              </c:pt>
              <c:pt idx="262">
                <c:v>0.10489281266927719</c:v>
              </c:pt>
              <c:pt idx="263">
                <c:v>9.5983311533927917E-2</c:v>
              </c:pt>
              <c:pt idx="264">
                <c:v>0.1058725118637085</c:v>
              </c:pt>
              <c:pt idx="265">
                <c:v>0.12327808141708374</c:v>
              </c:pt>
              <c:pt idx="266">
                <c:v>9.4247281551361084E-2</c:v>
              </c:pt>
              <c:pt idx="267">
                <c:v>9.0818963944911957E-2</c:v>
              </c:pt>
              <c:pt idx="268">
                <c:v>0.11775755137205124</c:v>
              </c:pt>
              <c:pt idx="269">
                <c:v>0.10019071400165558</c:v>
              </c:pt>
              <c:pt idx="270">
                <c:v>0.10220278799533844</c:v>
              </c:pt>
              <c:pt idx="271">
                <c:v>9.3886934220790863E-2</c:v>
              </c:pt>
              <c:pt idx="272">
                <c:v>0.10067018121480942</c:v>
              </c:pt>
              <c:pt idx="273">
                <c:v>0.10208432376384735</c:v>
              </c:pt>
              <c:pt idx="274">
                <c:v>0.10996874421834946</c:v>
              </c:pt>
              <c:pt idx="275">
                <c:v>0.1002420037984848</c:v>
              </c:pt>
              <c:pt idx="276">
                <c:v>0.12689715623855591</c:v>
              </c:pt>
              <c:pt idx="277">
                <c:v>9.1459929943084717E-2</c:v>
              </c:pt>
              <c:pt idx="278">
                <c:v>9.3976467847824097E-2</c:v>
              </c:pt>
              <c:pt idx="279">
                <c:v>0.10140993446111679</c:v>
              </c:pt>
              <c:pt idx="280">
                <c:v>8.0913335084915161E-2</c:v>
              </c:pt>
              <c:pt idx="281">
                <c:v>0.1024259552359581</c:v>
              </c:pt>
              <c:pt idx="282">
                <c:v>8.1087738275527954E-2</c:v>
              </c:pt>
              <c:pt idx="283">
                <c:v>8.2701295614242554E-2</c:v>
              </c:pt>
              <c:pt idx="284">
                <c:v>0.13174343109130859</c:v>
              </c:pt>
              <c:pt idx="285">
                <c:v>9.8095282912254333E-2</c:v>
              </c:pt>
              <c:pt idx="286">
                <c:v>9.4659134745597839E-2</c:v>
              </c:pt>
              <c:pt idx="287">
                <c:v>0.12072561681270599</c:v>
              </c:pt>
              <c:pt idx="288">
                <c:v>8.4839016199111938E-2</c:v>
              </c:pt>
              <c:pt idx="289">
                <c:v>0.13614287972450256</c:v>
              </c:pt>
              <c:pt idx="290">
                <c:v>9.5460355281829834E-2</c:v>
              </c:pt>
              <c:pt idx="291">
                <c:v>8.199802041053772E-2</c:v>
              </c:pt>
              <c:pt idx="292">
                <c:v>9.0500019490718842E-2</c:v>
              </c:pt>
              <c:pt idx="293">
                <c:v>7.7753394842147827E-2</c:v>
              </c:pt>
              <c:pt idx="294">
                <c:v>7.8377321362495422E-2</c:v>
              </c:pt>
              <c:pt idx="295">
                <c:v>0.12081994861364365</c:v>
              </c:pt>
              <c:pt idx="296">
                <c:v>9.1974377632141113E-2</c:v>
              </c:pt>
              <c:pt idx="297">
                <c:v>0.11230488121509552</c:v>
              </c:pt>
              <c:pt idx="298">
                <c:v>9.6091471612453461E-2</c:v>
              </c:pt>
              <c:pt idx="299">
                <c:v>9.6893660724163055E-2</c:v>
              </c:pt>
            </c:numLit>
          </c:yVal>
          <c:smooth val="1"/>
          <c:extLst>
            <c:ext xmlns:c16="http://schemas.microsoft.com/office/drawing/2014/chart" uri="{C3380CC4-5D6E-409C-BE32-E72D297353CC}">
              <c16:uniqueId val="{00000000-C276-4618-A01A-55B5856CB5D6}"/>
            </c:ext>
          </c:extLst>
        </c:ser>
        <c:dLbls>
          <c:showLegendKey val="0"/>
          <c:showVal val="0"/>
          <c:showCatName val="0"/>
          <c:showSerName val="0"/>
          <c:showPercent val="0"/>
          <c:showBubbleSize val="0"/>
        </c:dLbls>
        <c:axId val="48650112"/>
        <c:axId val="48672768"/>
      </c:scatterChart>
      <c:valAx>
        <c:axId val="48672768"/>
        <c:scaling>
          <c:orientation val="minMax"/>
          <c:max val="1.2"/>
          <c:min val="0"/>
        </c:scaling>
        <c:delete val="0"/>
        <c:axPos val="l"/>
        <c:majorGridlines>
          <c:spPr>
            <a:ln w="9525">
              <a:solidFill>
                <a:srgbClr val="D4DEE8"/>
              </a:solidFill>
              <a:prstDash val="solid"/>
            </a:ln>
          </c:spPr>
        </c:majorGridlines>
        <c:title>
          <c:tx>
            <c:rich>
              <a:bodyPr/>
              <a:lstStyle/>
              <a:p>
                <a:r>
                  <a:rPr lang="en-SG" sz="1575">
                    <a:latin typeface="Helvetica Neue"/>
                    <a:ea typeface="Helvetica Neue"/>
                    <a:cs typeface="Helvetica Neue"/>
                  </a:rPr>
                  <a:t>Noise-prediction MSE</a:t>
                </a:r>
              </a:p>
            </c:rich>
          </c:tx>
          <c:layout/>
          <c:overlay val="0"/>
        </c:title>
        <c:numFmt formatCode="0.00" sourceLinked="1"/>
        <c:majorTickMark val="none"/>
        <c:minorTickMark val="none"/>
        <c:tickLblPos val="nextTo"/>
        <c:spPr>
          <a:ln w="9525">
            <a:solidFill>
              <a:srgbClr val="D4D4D4"/>
            </a:solidFill>
            <a:prstDash val="solid"/>
          </a:ln>
        </c:spPr>
        <c:txPr>
          <a:bodyPr anchorCtr="1"/>
          <a:lstStyle/>
          <a:p>
            <a:pPr>
              <a:defRPr sz="1350">
                <a:solidFill>
                  <a:srgbClr val="53657B"/>
                </a:solidFill>
                <a:latin typeface="Helvetica Neue"/>
                <a:ea typeface="Helvetica Neue"/>
                <a:cs typeface="Helvetica Neue"/>
              </a:defRPr>
            </a:pPr>
            <a:endParaRPr lang="en-US"/>
          </a:p>
        </c:txPr>
        <c:crossAx val="48650112"/>
        <c:crosses val="autoZero"/>
        <c:crossBetween val="midCat"/>
      </c:valAx>
      <c:valAx>
        <c:axId val="48650112"/>
        <c:scaling>
          <c:orientation val="minMax"/>
        </c:scaling>
        <c:delete val="0"/>
        <c:axPos val="b"/>
        <c:title>
          <c:tx>
            <c:rich>
              <a:bodyPr/>
              <a:lstStyle/>
              <a:p>
                <a:r>
                  <a:rPr lang="en-SG" sz="1575">
                    <a:latin typeface="Helvetica Neue"/>
                    <a:ea typeface="Helvetica Neue"/>
                    <a:cs typeface="Helvetica Neue"/>
                  </a:rPr>
                  <a:t>Epoch</a:t>
                </a:r>
              </a:p>
            </c:rich>
          </c:tx>
          <c:layout/>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53657B"/>
                </a:solidFill>
                <a:latin typeface="Helvetica Neue"/>
                <a:ea typeface="Helvetica Neue"/>
                <a:cs typeface="Helvetica Neue"/>
              </a:defRPr>
            </a:pPr>
            <a:endParaRPr lang="en-US"/>
          </a:p>
        </c:txPr>
        <c:crossAx val="48672768"/>
        <c:crosses val="autoZero"/>
        <c:crossBetween val="midCat"/>
      </c:valAx>
      <c:spPr>
        <a:solidFill>
          <a:srgbClr val="F8FAFC"/>
        </a:solidFill>
      </c:spPr>
    </c:plotArea>
    <c:plotVisOnly val="1"/>
    <c:dispBlanksAs val="zero"/>
    <c:showDLblsOverMax val="1"/>
  </c:chart>
  <c:spPr>
    <a:solidFill>
      <a:srgbClr val="F8FAFC"/>
    </a:solidFill>
    <a:ln w="0">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Main-run loss</c:v>
          </c:tx>
          <c:spPr>
            <a:ln w="28575">
              <a:solidFill>
                <a:srgbClr val="007F82"/>
              </a:solidFill>
            </a:ln>
          </c:spPr>
          <c:marker>
            <c:symbol val="none"/>
          </c:marker>
          <c:xVal>
            <c:numLit>
              <c:formatCode>General</c:formatCode>
              <c:ptCount val="1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numLit>
          </c:xVal>
          <c:yVal>
            <c:numLit>
              <c:formatCode>0.00</c:formatCode>
              <c:ptCount val="18"/>
              <c:pt idx="0">
                <c:v>0.35539062317169579</c:v>
              </c:pt>
              <c:pt idx="1">
                <c:v>0.11061198997369032</c:v>
              </c:pt>
              <c:pt idx="2">
                <c:v>9.0024703566356487E-2</c:v>
              </c:pt>
              <c:pt idx="3">
                <c:v>8.1811629647434242E-2</c:v>
              </c:pt>
              <c:pt idx="4">
                <c:v>7.789280045667106E-2</c:v>
              </c:pt>
              <c:pt idx="5">
                <c:v>7.4756483956568962E-2</c:v>
              </c:pt>
              <c:pt idx="6">
                <c:v>7.316775154071356E-2</c:v>
              </c:pt>
              <c:pt idx="7">
                <c:v>7.0578323170100904E-2</c:v>
              </c:pt>
              <c:pt idx="8">
                <c:v>6.9437402177531762E-2</c:v>
              </c:pt>
              <c:pt idx="9">
                <c:v>6.8437589357564388E-2</c:v>
              </c:pt>
              <c:pt idx="10">
                <c:v>6.8070874742741858E-2</c:v>
              </c:pt>
              <c:pt idx="11">
                <c:v>6.6041863008811472E-2</c:v>
              </c:pt>
              <c:pt idx="12">
                <c:v>6.5609641995712759E-2</c:v>
              </c:pt>
              <c:pt idx="13">
                <c:v>6.5763155304678689E-2</c:v>
              </c:pt>
              <c:pt idx="14">
                <c:v>6.5051350993608856E-2</c:v>
              </c:pt>
              <c:pt idx="15">
                <c:v>6.4199494403809551E-2</c:v>
              </c:pt>
              <c:pt idx="16">
                <c:v>6.4811344527089698E-2</c:v>
              </c:pt>
              <c:pt idx="17">
                <c:v>6.3635839455612908E-2</c:v>
              </c:pt>
            </c:numLit>
          </c:yVal>
          <c:smooth val="1"/>
          <c:extLst>
            <c:ext xmlns:c16="http://schemas.microsoft.com/office/drawing/2014/chart" uri="{C3380CC4-5D6E-409C-BE32-E72D297353CC}">
              <c16:uniqueId val="{00000000-1DD0-4CF0-900B-819EE5F31134}"/>
            </c:ext>
          </c:extLst>
        </c:ser>
        <c:dLbls>
          <c:showLegendKey val="0"/>
          <c:showVal val="0"/>
          <c:showCatName val="0"/>
          <c:showSerName val="0"/>
          <c:showPercent val="0"/>
          <c:showBubbleSize val="0"/>
        </c:dLbls>
        <c:axId val="48650112"/>
        <c:axId val="48672768"/>
      </c:scatterChart>
      <c:valAx>
        <c:axId val="48672768"/>
        <c:scaling>
          <c:orientation val="minMax"/>
          <c:max val="0.4"/>
          <c:min val="0"/>
        </c:scaling>
        <c:delete val="0"/>
        <c:axPos val="l"/>
        <c:majorGridlines>
          <c:spPr>
            <a:ln w="9525">
              <a:solidFill>
                <a:srgbClr val="D4DEE8"/>
              </a:solidFill>
              <a:prstDash val="solid"/>
            </a:ln>
          </c:spPr>
        </c:majorGridlines>
        <c:title>
          <c:tx>
            <c:rich>
              <a:bodyPr/>
              <a:lstStyle/>
              <a:p>
                <a:r>
                  <a:rPr lang="en-SG" sz="1575">
                    <a:latin typeface="Helvetica Neue"/>
                    <a:ea typeface="Helvetica Neue"/>
                    <a:cs typeface="Helvetica Neue"/>
                  </a:rPr>
                  <a:t>Noise-prediction MSE</a:t>
                </a:r>
              </a:p>
            </c:rich>
          </c:tx>
          <c:layout/>
          <c:overlay val="0"/>
        </c:title>
        <c:numFmt formatCode="0.00" sourceLinked="1"/>
        <c:majorTickMark val="none"/>
        <c:minorTickMark val="none"/>
        <c:tickLblPos val="nextTo"/>
        <c:spPr>
          <a:ln w="9525">
            <a:solidFill>
              <a:srgbClr val="D4D4D4"/>
            </a:solidFill>
            <a:prstDash val="solid"/>
          </a:ln>
        </c:spPr>
        <c:txPr>
          <a:bodyPr anchorCtr="1"/>
          <a:lstStyle/>
          <a:p>
            <a:pPr>
              <a:defRPr sz="1350">
                <a:solidFill>
                  <a:srgbClr val="53657B"/>
                </a:solidFill>
                <a:latin typeface="Helvetica Neue"/>
                <a:ea typeface="Helvetica Neue"/>
                <a:cs typeface="Helvetica Neue"/>
              </a:defRPr>
            </a:pPr>
            <a:endParaRPr lang="en-US"/>
          </a:p>
        </c:txPr>
        <c:crossAx val="48650112"/>
        <c:crosses val="autoZero"/>
        <c:crossBetween val="midCat"/>
      </c:valAx>
      <c:valAx>
        <c:axId val="48650112"/>
        <c:scaling>
          <c:orientation val="minMax"/>
        </c:scaling>
        <c:delete val="0"/>
        <c:axPos val="b"/>
        <c:title>
          <c:tx>
            <c:rich>
              <a:bodyPr/>
              <a:lstStyle/>
              <a:p>
                <a:r>
                  <a:rPr lang="en-SG" sz="1575">
                    <a:latin typeface="Helvetica Neue"/>
                    <a:ea typeface="Helvetica Neue"/>
                    <a:cs typeface="Helvetica Neue"/>
                  </a:rPr>
                  <a:t>Epoch</a:t>
                </a:r>
              </a:p>
            </c:rich>
          </c:tx>
          <c:layout/>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53657B"/>
                </a:solidFill>
                <a:latin typeface="Helvetica Neue"/>
                <a:ea typeface="Helvetica Neue"/>
                <a:cs typeface="Helvetica Neue"/>
              </a:defRPr>
            </a:pPr>
            <a:endParaRPr lang="en-US"/>
          </a:p>
        </c:txPr>
        <c:crossAx val="48672768"/>
        <c:crosses val="autoZero"/>
        <c:crossBetween val="midCat"/>
      </c:valAx>
      <c:spPr>
        <a:solidFill>
          <a:srgbClr val="F8FAFC"/>
        </a:solidFill>
      </c:spPr>
    </c:plotArea>
    <c:plotVisOnly val="1"/>
    <c:dispBlanksAs val="zero"/>
    <c:showDLblsOverMax val="1"/>
  </c:chart>
  <c:spPr>
    <a:solidFill>
      <a:srgbClr val="F8FAFC"/>
    </a:solid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Today I will explain my project on building a </a:t>
            </a:r>
            <a:r>
              <a:rPr dirty="0" err="1"/>
              <a:t>Denoising</a:t>
            </a:r>
            <a:r>
              <a:rPr dirty="0"/>
              <a:t> Diffusion Probabilistic Model, or DDPM, from its core components in </a:t>
            </a:r>
            <a:r>
              <a:rPr dirty="0" err="1"/>
              <a:t>PyTorch</a:t>
            </a:r>
            <a:r>
              <a:rPr dirty="0"/>
              <a:t>. The task is to generate small </a:t>
            </a:r>
            <a:r>
              <a:rPr dirty="0" err="1"/>
              <a:t>colour</a:t>
            </a:r>
            <a:r>
              <a:rPr dirty="0"/>
              <a:t> images that resemble the distribution of </a:t>
            </a:r>
            <a:r>
              <a:rPr dirty="0" smtClean="0"/>
              <a:t>CIFAR-10</a:t>
            </a:r>
            <a:r>
              <a:rPr lang="en-SG" dirty="0" smtClean="0"/>
              <a:t>(</a:t>
            </a:r>
            <a:r>
              <a:rPr lang="en-US" sz="1200" b="0" u="none" strike="noStrike" kern="1200" dirty="0" smtClean="0">
                <a:effectLst/>
              </a:rPr>
              <a:t>CIFAR-10</a:t>
            </a:r>
            <a:r>
              <a:rPr lang="en-US" dirty="0" smtClean="0"/>
              <a:t> is a standard computer vision dataset containing 60,000 color images of size 32x32 pixels, split into 50,000 training images and 10,000 test images)</a:t>
            </a:r>
            <a:br>
              <a:rPr lang="en-US" dirty="0" smtClean="0"/>
            </a:br>
            <a:r>
              <a:rPr dirty="0" smtClean="0"/>
              <a:t>The </a:t>
            </a:r>
            <a:r>
              <a:rPr dirty="0"/>
              <a:t>project is a research and learning prototype, with local checkpoints and sample grids as the current deliverables.</a:t>
            </a:r>
          </a:p>
          <a:p>
            <a:endParaRPr dirty="0"/>
          </a:p>
          <a:p>
            <a:r>
              <a:rPr dirty="0"/>
              <a:t>A useful analogy is learning to restore a picture after adding static. During training we know exactly which static we added, so we can teach a network to estimate it. At generation time we begin with random static and repeatedly apply the learned estimate.</a:t>
            </a:r>
          </a:p>
          <a:p>
            <a:endParaRPr dirty="0"/>
          </a:p>
          <a:p>
            <a:r>
              <a:rPr dirty="0"/>
              <a:t>The notebook contains the complete intended workflow, including evaluation and comparison code. The saved evidence supports a narrower completed scope: a sanity test, an 18-epoch main run, and periodic generated grids. Numerical image-quality scores and baseline results are absent. I will distinguish those stages throughout the presentation.</a:t>
            </a:r>
          </a:p>
          <a:p>
            <a:endParaRPr dirty="0"/>
          </a:p>
          <a:p>
            <a:r>
              <a:rPr dirty="0"/>
              <a:t>The central outcome is an implemented training pipeline with recorded learning progress. Whether it beats other generators remains an open experimental question. I will begin with the project workflow and the criteria needed to answer that question</a:t>
            </a:r>
            <a:r>
              <a:rPr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presentation follows the actual project sequence. First we define the question and inspect the image dataset. Then we reserve a reference set, examine data quality, and prepare the image tensors. Those choices define the distribution the model will learn.</a:t>
            </a:r>
          </a:p>
          <a:p>
            <a:endParaRPr dirty="0"/>
          </a:p>
          <a:p>
            <a:r>
              <a:rPr dirty="0"/>
              <a:t>The middle section explains the diffusion mechanism, the time-conditioned U-Net, and the training loop. Each training example contains an image, a randomly chosen noise level, and a known noise target. This structure converts image generation into a supervised regression problem inside a broader generative system.</a:t>
            </a:r>
          </a:p>
          <a:p>
            <a:endParaRPr dirty="0"/>
          </a:p>
          <a:p>
            <a:r>
              <a:rPr dirty="0"/>
              <a:t>The final section uses saved checkpoint histories and sample grids to discuss what the run achieved. It then explains the evaluation protocol and comparison experiments implemented in code. Saved results are missing for those later experiments, so they remain pending evidence.</a:t>
            </a:r>
          </a:p>
          <a:p>
            <a:endParaRPr dirty="0"/>
          </a:p>
          <a:p>
            <a:r>
              <a:rPr dirty="0"/>
              <a:t>The arrows show dependencies rather than a claim that every stage has completed. A good evaluation depends on correct preparation, and a useful application depends on demonstrated generation quality. This sequence helps us explain why each decision matters instead of listing isolated pieces of code.</a:t>
            </a:r>
          </a:p>
          <a:p>
            <a:endParaRPr dirty="0"/>
          </a:p>
          <a:p>
            <a:r>
              <a:rPr dirty="0"/>
              <a:t>Next I will state the original research problem and separate the measurable technical objective from possible future business uses</a:t>
            </a:r>
            <a:r>
              <a:rPr dirty="0" smtClean="0"/>
              <a:t>.</a:t>
            </a:r>
          </a:p>
          <a:p>
            <a:endParaRPr smtClean="0"/>
          </a:p>
          <a:p>
            <a:r>
              <a:rPr smtClean="0"/>
              <a:t>Sources: DDPM_CIFAR10_Mac_Local.ipynb, workflow sections 1–20</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notebook asks whether a diffusion model built from core components can produce higher-fidelity images and more stable training than </a:t>
            </a:r>
            <a:r>
              <a:rPr dirty="0" err="1"/>
              <a:t>autoencoder</a:t>
            </a:r>
            <a:r>
              <a:rPr dirty="0"/>
              <a:t> (AE), </a:t>
            </a:r>
            <a:r>
              <a:rPr dirty="0" err="1"/>
              <a:t>variational</a:t>
            </a:r>
            <a:r>
              <a:rPr dirty="0"/>
              <a:t> </a:t>
            </a:r>
            <a:r>
              <a:rPr dirty="0" err="1"/>
              <a:t>autoencoder</a:t>
            </a:r>
            <a:r>
              <a:rPr dirty="0"/>
              <a:t> (VAE), and deep convolutional generative adversarial network (DCGAN) baselines on CIFAR-10. This is the actual project problem statement. The materials do not define a business sponsor, production requirement, revenue target, or numerical acceptance threshold.</a:t>
            </a:r>
          </a:p>
          <a:p>
            <a:endParaRPr dirty="0"/>
          </a:p>
          <a:p>
            <a:r>
              <a:rPr dirty="0"/>
              <a:t>The technical objective is to learn an image distribution, then create new samples from random noise. Higher fidelity means the samples resemble plausible dataset images. Diversity means the generator covers different types of images rather than repeatedly producing a narrow set.</a:t>
            </a:r>
          </a:p>
          <a:p>
            <a:endParaRPr dirty="0"/>
          </a:p>
          <a:p>
            <a:r>
              <a:rPr dirty="0"/>
              <a:t>A successful comparison would require consistent reference data, equal evaluation sample counts, reported compute budgets, and the same metric implementation across models. Training loss is useful for debugging, but it measures noise prediction rather than perceptual image quality. That is why the notebook also includes FID, Inception Score and generative precision and recall.</a:t>
            </a:r>
          </a:p>
          <a:p>
            <a:endParaRPr dirty="0"/>
          </a:p>
          <a:p>
            <a:r>
              <a:rPr dirty="0"/>
              <a:t>The saved run demonstrates learning of the noise-prediction task. It does not establish superiority over baselines or a measured business benefit. Potential business applications will therefore appear later as proposals with explicit validation requirements.</a:t>
            </a:r>
          </a:p>
          <a:p>
            <a:endParaRPr dirty="0"/>
          </a:p>
          <a:p>
            <a:r>
              <a:rPr dirty="0"/>
              <a:t>To understand what the generator must learn, I will now describe the dataset and the role of its labels</a:t>
            </a:r>
            <a:r>
              <a:rPr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notebook loads the training partition of CIFAR-10 through </a:t>
            </a:r>
            <a:r>
              <a:rPr dirty="0" err="1"/>
              <a:t>torchvision</a:t>
            </a:r>
            <a:r>
              <a:rPr dirty="0"/>
              <a:t>. The local files contain 50,000 images. Each image has three </a:t>
            </a:r>
            <a:r>
              <a:rPr dirty="0" err="1"/>
              <a:t>colour</a:t>
            </a:r>
            <a:r>
              <a:rPr dirty="0"/>
              <a:t> channels and a spatial resolution of 32 by 32 pixels, giving 3,072 pixel values per image. Raw pixels use unsigned 8-bit integers between zero and 255.</a:t>
            </a:r>
          </a:p>
          <a:p>
            <a:endParaRPr dirty="0"/>
          </a:p>
          <a:p>
            <a:r>
              <a:rPr dirty="0"/>
              <a:t>The dataset includes ten classes: airplane, automobile, bird, cat, deer, dog, frog, horse, ship and truck. These are image labels, rather than a numerical prediction target for the main run. The saved main checkpoint is unconditional, so the model does not receive class labels when generating an image.</a:t>
            </a:r>
          </a:p>
          <a:p>
            <a:endParaRPr dirty="0"/>
          </a:p>
          <a:p>
            <a:r>
              <a:rPr dirty="0"/>
              <a:t>The example images on this slide come from the existing held-out PNG folder. Their small size makes the experiment manageable on local hardware, but also limits fine visual detail. Low resolution is part of the problem setup and should not be confused with a presentation image-quality issue.</a:t>
            </a:r>
          </a:p>
          <a:p>
            <a:endParaRPr dirty="0"/>
          </a:p>
          <a:p>
            <a:r>
              <a:rPr dirty="0"/>
              <a:t>The notebook uses the 50,000-image training partition and creates its own internal reference split. Although a separate CIFAR test file exists locally, the notebook does not use it for the stated evaluation pipeline.</a:t>
            </a:r>
          </a:p>
          <a:p>
            <a:endParaRPr dirty="0"/>
          </a:p>
          <a:p>
            <a:r>
              <a:rPr dirty="0"/>
              <a:t>Next I will explain how this internal split keeps the reference images separate from model training.</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code creates a random permutation with a dedicated </a:t>
            </a:r>
            <a:r>
              <a:rPr dirty="0" err="1"/>
              <a:t>PyTorch</a:t>
            </a:r>
            <a:r>
              <a:rPr dirty="0"/>
              <a:t> generator seeded to 42. It assigns the first 2,500 indices to the hold-out reference set and the remaining 47,500 indices to training. The split is random and is not explicitly stratified by class.</a:t>
            </a:r>
          </a:p>
          <a:p>
            <a:endParaRPr dirty="0"/>
          </a:p>
          <a:p>
            <a:r>
              <a:rPr dirty="0"/>
              <a:t>The notebook asserts that the index sets do not overlap. Training uses a view with random horizontal flips. The reference view uses the same scaling but no random augmentation, which avoids changing the reference distribution between metric calculations.</a:t>
            </a:r>
          </a:p>
          <a:p>
            <a:endParaRPr dirty="0"/>
          </a:p>
          <a:p>
            <a:r>
              <a:rPr dirty="0"/>
              <a:t>For this presentation I reconstructed that permutation and compared every existing reference PNG with its corresponding raw image. All 2,500 files match. This supports the saved reference folder's consistency with the current split code. It does not prove the historical checkpoint used those same indices, because the checkpoint does not store its training index list or dataset fingerprint.</a:t>
            </a:r>
          </a:p>
          <a:p>
            <a:endParaRPr dirty="0"/>
          </a:p>
          <a:p>
            <a:r>
              <a:rPr dirty="0"/>
              <a:t>The </a:t>
            </a:r>
            <a:r>
              <a:rPr dirty="0" err="1"/>
              <a:t>DataLoader</a:t>
            </a:r>
            <a:r>
              <a:rPr dirty="0"/>
              <a:t> uses a batch size of 128 and drops the final incomplete batch. This gives 371 full batches per epoch. The main checkpoint records 6,678 steps, which equals 18 times 371 and is consistent with that loader configuration.</a:t>
            </a:r>
          </a:p>
          <a:p>
            <a:endParaRPr dirty="0"/>
          </a:p>
          <a:p>
            <a:r>
              <a:rPr dirty="0"/>
              <a:t>Next I will examine data quality and clarify what the implemented duplicate screening can and cannot establish.</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For images, data quality is about valid tensors and useful visual content as well as missing values. The local training array has a consistent 50,000 by 3 by 32 by 32 structure, with integer pixels spanning zero to 255. An integer tensor cannot contain floating-point </a:t>
            </a:r>
            <a:r>
              <a:rPr dirty="0" err="1"/>
              <a:t>NaNs</a:t>
            </a:r>
            <a:r>
              <a:rPr dirty="0"/>
              <a:t>, but that alone says nothing about mislabeled images or ambiguous content.</a:t>
            </a:r>
          </a:p>
          <a:p>
            <a:endParaRPr dirty="0"/>
          </a:p>
          <a:p>
            <a:r>
              <a:rPr dirty="0"/>
              <a:t>The notebook implements a low-cost duplicate candidate screen on the first 5,000 images of the training permutation. It averages </a:t>
            </a:r>
            <a:r>
              <a:rPr dirty="0" err="1"/>
              <a:t>colour</a:t>
            </a:r>
            <a:r>
              <a:rPr dirty="0"/>
              <a:t> channels, pools to an 8 by 8 grid, and thresholds each image around its own mean. Equal 64-bit patterns flag coarse visual similarity.</a:t>
            </a:r>
          </a:p>
          <a:p>
            <a:endParaRPr dirty="0"/>
          </a:p>
          <a:p>
            <a:r>
              <a:rPr dirty="0"/>
              <a:t>I recalculated this exact screen for the deck and found 25 repeated hash occurrences beyond the first occurrence. An additional exact pixel comparison found zero repeated byte-identical images within the same 5,000-image subset. These are different tests. A coarse hash collision does not establish an exact duplicate, and neither test audits the entire dataset or cross-split similarity.</a:t>
            </a:r>
          </a:p>
          <a:p>
            <a:endParaRPr dirty="0"/>
          </a:p>
          <a:p>
            <a:r>
              <a:rPr dirty="0"/>
              <a:t>The notebook does not remove candidates, impute pixels, or run a separate corruption and label-quality audit. We should describe the pipeline as light preprocessing with limited screening, rather than claim extensive data cleaning.</a:t>
            </a:r>
          </a:p>
          <a:p>
            <a:endParaRPr dirty="0"/>
          </a:p>
          <a:p>
            <a:r>
              <a:rPr dirty="0"/>
              <a:t>The next slide checks whether the random training split remains balanced across classes</a:t>
            </a:r>
            <a:r>
              <a:rPr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chart reconstructs the class-balance analysis in the notebook using the actual local labels and the seed-42 training indices. All ten classes have similar counts. The smallest class is frog with 4,735 images, and the largest is truck with 4,765. The difference is 30 images across a 47,500-image training set.</a:t>
            </a:r>
          </a:p>
          <a:p>
            <a:endParaRPr dirty="0"/>
          </a:p>
          <a:p>
            <a:r>
              <a:rPr dirty="0"/>
              <a:t>The vertical axis starts at zero so that the chart does not exaggerate this small variation. The reference split is random, which explains why the counts are close to, but not exactly, 4,750 per class.</a:t>
            </a:r>
          </a:p>
          <a:p>
            <a:endParaRPr dirty="0"/>
          </a:p>
          <a:p>
            <a:r>
              <a:rPr dirty="0"/>
              <a:t>For the main unconditional generator, the labels do not enter the loss function. The class chart describes the mixture of objects represented by the training data. If one class dominated, an unconditional generator could focus more strongly on that part of the distribution. Here, the class counts do not suggest a need for resampling by class.</a:t>
            </a:r>
          </a:p>
          <a:p>
            <a:endParaRPr dirty="0"/>
          </a:p>
          <a:p>
            <a:r>
              <a:rPr dirty="0"/>
              <a:t>This finding does not show that generated images cover all ten classes. Input balance and output diversity are separate questions. Generated sample inspection and distribution metrics are still necessary.</a:t>
            </a:r>
          </a:p>
          <a:p>
            <a:endParaRPr dirty="0"/>
          </a:p>
          <a:p>
            <a:r>
              <a:rPr dirty="0"/>
              <a:t>These values are fresh calculations for this presentation, because the notebook does not retain its original EDA outputs. Next I will explain how pixel scaling changes the numerical representation without removing image information</a:t>
            </a:r>
            <a:r>
              <a:rPr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notebook converts raw pixels into floating-point values between zero and one, then applies the same linear transformation to each channel: normalized value equals two times the scaled pixel value minus one. This places clean image pixels in the range minus one to one and </a:t>
            </a:r>
            <a:r>
              <a:rPr dirty="0" err="1"/>
              <a:t>centres</a:t>
            </a:r>
            <a:r>
              <a:rPr dirty="0"/>
              <a:t> them closer to zero, which fits the scale of the Gaussian noising process.</a:t>
            </a:r>
          </a:p>
          <a:p>
            <a:endParaRPr dirty="0"/>
          </a:p>
          <a:p>
            <a:r>
              <a:rPr dirty="0"/>
              <a:t>This is range scaling rather than standardization to unit variance. We do not subtract each channel's measured mean or divide by its measured standard deviation. The channel means therefore remain slightly different from zero, and the standard deviations remain below one.</a:t>
            </a:r>
          </a:p>
          <a:p>
            <a:endParaRPr dirty="0"/>
          </a:p>
          <a:p>
            <a:r>
              <a:rPr dirty="0"/>
              <a:t>The table shows values recalculated from the same first 5,000 training images used for EDA. For example, the blue-channel mean moves from approximately 0.449 to minus 0.101. The standard deviations double under the transformation. Those changes follow directly from linear scaling.</a:t>
            </a:r>
          </a:p>
          <a:p>
            <a:endParaRPr dirty="0"/>
          </a:p>
          <a:p>
            <a:r>
              <a:rPr dirty="0"/>
              <a:t>No image records disappear during this step, and the transform does not select or discard pixels. For saving and displaying generated samples, the helper function converts from minus one to one back to zero to one after clipping.</a:t>
            </a:r>
          </a:p>
          <a:p>
            <a:endParaRPr dirty="0"/>
          </a:p>
          <a:p>
            <a:r>
              <a:rPr dirty="0"/>
              <a:t>The next slide places scaling alongside augmentation and batching to show the complete preparation pipeline</a:t>
            </a:r>
            <a:r>
              <a:rPr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preparation sequence begins with the fixed split indices. The training dataset applies a random horizontal flip before tensor conversion and range scaling. Horizontal flipping creates a mirrored view of an image, which is a limited augmentation intended to preserve plausible object appearances in this dataset.</a:t>
            </a:r>
          </a:p>
          <a:p>
            <a:endParaRPr dirty="0"/>
          </a:p>
          <a:p>
            <a:r>
              <a:rPr dirty="0"/>
              <a:t>The plain dataset view skips the random flip and supplies EDA images and evaluation references. Keeping the reference deterministic is useful because metric differences should reflect model changes rather than random changes to the real images.</a:t>
            </a:r>
          </a:p>
          <a:p>
            <a:endParaRPr dirty="0"/>
          </a:p>
          <a:p>
            <a:r>
              <a:rPr dirty="0" err="1"/>
              <a:t>ToTensor</a:t>
            </a:r>
            <a:r>
              <a:rPr dirty="0"/>
              <a:t> converts the image layout into channels-first tensors and maps byte pixels to floating-point values between zero and one. Normalize then maps that range to minus one to one. The </a:t>
            </a:r>
            <a:r>
              <a:rPr dirty="0" err="1"/>
              <a:t>DataLoader</a:t>
            </a:r>
            <a:r>
              <a:rPr dirty="0"/>
              <a:t> shuffles the training examples, assembles batches of 128, and drops the incomplete final batch.</a:t>
            </a:r>
          </a:p>
          <a:p>
            <a:endParaRPr dirty="0"/>
          </a:p>
          <a:p>
            <a:r>
              <a:rPr dirty="0"/>
              <a:t>The notebook uses zero worker </a:t>
            </a:r>
            <a:r>
              <a:rPr dirty="0" err="1"/>
              <a:t>subprocesses</a:t>
            </a:r>
            <a:r>
              <a:rPr dirty="0"/>
              <a:t> and disables pinned memory, choices suitable for the local workflow. It does not implement tabular feature encoding, missing-value imputation, or manual feature selection. Convolutional layers learn image features directly.</a:t>
            </a:r>
          </a:p>
          <a:p>
            <a:endParaRPr dirty="0"/>
          </a:p>
          <a:p>
            <a:r>
              <a:rPr dirty="0"/>
              <a:t>Each batch now contains clean image tensors. The next stage constructs a different noisy learning example from each image by sampling a </a:t>
            </a:r>
            <a:r>
              <a:rPr dirty="0" err="1"/>
              <a:t>timestep</a:t>
            </a:r>
            <a:r>
              <a:rPr dirty="0"/>
              <a:t> and Gaussian noise. I will explain the schedule that controls the balance between image signal and noise.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Forward diffusion creates a noisy image by combining a scaled clean image with scaled Gaussian noise. The notebook calculates that combination directly for any selected </a:t>
            </a:r>
            <a:r>
              <a:rPr dirty="0" err="1"/>
              <a:t>timestep</a:t>
            </a:r>
            <a:r>
              <a:rPr dirty="0"/>
              <a:t>, so training does not need to simulate all earlier noising steps.</a:t>
            </a:r>
          </a:p>
          <a:p>
            <a:endParaRPr dirty="0"/>
          </a:p>
          <a:p>
            <a:r>
              <a:rPr dirty="0"/>
              <a:t>The schedule defines beta, the amount of noise introduced per step. Alpha is one minus beta. Alpha-bar is the cumulative product of the alphas and controls the retained signal coefficient through its square root. The plot shows alpha-bar, rather than a measured image-quality score.</a:t>
            </a:r>
          </a:p>
          <a:p>
            <a:endParaRPr dirty="0"/>
          </a:p>
          <a:p>
            <a:r>
              <a:rPr dirty="0"/>
              <a:t>I recalculated both curves from the exact formulas in the notebook. The linear schedule uses betas from 0.0001 to 0.02 across 1,000 steps. The cosine schedule derives betas from a squared-cosine curve with offset 0.008 and clips the maximum beta to 0.999. Both eventually reduce the retained signal coefficient to nearly zero.</a:t>
            </a:r>
          </a:p>
          <a:p>
            <a:endParaRPr dirty="0"/>
          </a:p>
          <a:p>
            <a:r>
              <a:rPr dirty="0"/>
              <a:t>The cosine curve preserves a larger signal coefficient through much of the trajectory. That explains its mathematical </a:t>
            </a:r>
            <a:r>
              <a:rPr dirty="0" err="1"/>
              <a:t>behaviour</a:t>
            </a:r>
            <a:r>
              <a:rPr dirty="0"/>
              <a:t>, but does not establish that it improves this project's final image quality. A trained linear-schedule comparison is absent.</a:t>
            </a:r>
          </a:p>
          <a:p>
            <a:endParaRPr dirty="0"/>
          </a:p>
          <a:p>
            <a:r>
              <a:rPr dirty="0"/>
              <a:t>The saved main run uses the cosine schedule. Next I will show how the noise and </a:t>
            </a:r>
            <a:r>
              <a:rPr dirty="0" err="1"/>
              <a:t>timestep</a:t>
            </a:r>
            <a:r>
              <a:rPr dirty="0"/>
              <a:t> become training inputs and targets</a:t>
            </a:r>
            <a:r>
              <a:rPr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project uses learned image representations rather than manually engineered columns. For every clean image x-zero, the training loop samples a </a:t>
            </a:r>
            <a:r>
              <a:rPr dirty="0" err="1"/>
              <a:t>timestep</a:t>
            </a:r>
            <a:r>
              <a:rPr dirty="0"/>
              <a:t> uniformly from zero to 999 and draws a fresh Gaussian noise tensor epsilon with the same shape as the image.</a:t>
            </a:r>
          </a:p>
          <a:p>
            <a:endParaRPr dirty="0"/>
          </a:p>
          <a:p>
            <a:r>
              <a:rPr dirty="0"/>
              <a:t>The forward formula combines the image and noise using the schedule. The resulting x-t is the network input. The network also receives t through a sinusoidal embedding and a small multilayer perceptron. The time information tells the model how much corruption it should expect. Predicting noise without that context would ask one network to solve many different tasks without telling it which task is active.</a:t>
            </a:r>
          </a:p>
          <a:p>
            <a:endParaRPr dirty="0"/>
          </a:p>
          <a:p>
            <a:r>
              <a:rPr dirty="0"/>
              <a:t>The regression target is the exact noise tensor we added. Mean squared error compares the estimated noise with that known target. Labels such as cat or truck are not the target for the saved unconditional model.</a:t>
            </a:r>
          </a:p>
          <a:p>
            <a:endParaRPr dirty="0"/>
          </a:p>
          <a:p>
            <a:r>
              <a:rPr dirty="0"/>
              <a:t>A useful analogy is a photograph with a known layer of static. The learning task is to estimate the static, not directly to classify the photograph. Repeating this task at many noise levels teaches a reusable </a:t>
            </a:r>
            <a:r>
              <a:rPr dirty="0" err="1"/>
              <a:t>denoising</a:t>
            </a:r>
            <a:r>
              <a:rPr dirty="0"/>
              <a:t> function.</a:t>
            </a:r>
          </a:p>
          <a:p>
            <a:endParaRPr dirty="0"/>
          </a:p>
          <a:p>
            <a:r>
              <a:rPr dirty="0"/>
              <a:t>The input and output image-shaped tensors both have three channels. Next I will describe the U-Net that connects these inputs to the estimated noise.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U-Net first maps the three image channels into a wider feature representation. Its encoder processes successively smaller spatial resolutions: 32, 16, 8, and 4 pixels. Smaller feature maps let the model combine information across larger parts of the image.</a:t>
            </a:r>
          </a:p>
          <a:p>
            <a:endParaRPr dirty="0"/>
          </a:p>
          <a:p>
            <a:r>
              <a:rPr dirty="0"/>
              <a:t>The bottleneck processes the smallest map, and the decoder reverses the resolution sequence. Skip connections concatenate matching encoder features into the decoder. This gives the decoder access to spatial detail that could otherwise be lost during </a:t>
            </a:r>
            <a:r>
              <a:rPr dirty="0" err="1"/>
              <a:t>downsampling</a:t>
            </a:r>
            <a:r>
              <a:rPr dirty="0"/>
              <a:t>.</a:t>
            </a:r>
          </a:p>
          <a:p>
            <a:endParaRPr dirty="0"/>
          </a:p>
          <a:p>
            <a:r>
              <a:rPr dirty="0"/>
              <a:t>Residual blocks use </a:t>
            </a:r>
            <a:r>
              <a:rPr dirty="0" err="1"/>
              <a:t>GroupNorm</a:t>
            </a:r>
            <a:r>
              <a:rPr dirty="0"/>
              <a:t>, </a:t>
            </a:r>
            <a:r>
              <a:rPr dirty="0" err="1"/>
              <a:t>SiLU</a:t>
            </a:r>
            <a:r>
              <a:rPr dirty="0"/>
              <a:t> activations and convolutions. A projected time embedding is added inside each residual block. Attention appears at 16 by 16 and 8 by 8 resolutions, plus the bottleneck. Attention lets spatial positions interact more directly than a local convolution alone.</a:t>
            </a:r>
          </a:p>
          <a:p>
            <a:endParaRPr dirty="0"/>
          </a:p>
          <a:p>
            <a:r>
              <a:rPr dirty="0"/>
              <a:t>The output convolution returns three channels representing the estimated noise. The saved main checkpoint has 32 base channels and 2,329,603 parameters. The 300-epoch sanity checkpoint has 64 base channels and 9,283,587 parameters. These values come from the actual saved tensors.</a:t>
            </a:r>
          </a:p>
          <a:p>
            <a:endParaRPr dirty="0"/>
          </a:p>
          <a:p>
            <a:r>
              <a:rPr dirty="0"/>
              <a:t>The diagram summarizes spatial flow and shows one representative skip connection. The implementation contains multiple skips, not only the one shown. Next I will explain the configuration differences that matter when reproducing or loading the run</a:t>
            </a:r>
            <a:r>
              <a:rPr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table separates the notebook's current settings from the evidence stored in checkpoints. The notebook currently sets BASE_CH to 64, but the main checkpoint's initial convolution has 32 output channels. The parameter count confirms a smaller saved main architecture. The sanity checkpoint uses the larger 64-channel version.</a:t>
            </a:r>
          </a:p>
          <a:p>
            <a:endParaRPr dirty="0"/>
          </a:p>
          <a:p>
            <a:r>
              <a:rPr dirty="0"/>
              <a:t>This is operationally important because </a:t>
            </a:r>
            <a:r>
              <a:rPr dirty="0" err="1"/>
              <a:t>load_run</a:t>
            </a:r>
            <a:r>
              <a:rPr dirty="0"/>
              <a:t> rebuilds its model using the global BASE_CH value. Loading the 32-channel main checkpoint under the current 64-channel setting would fail because the tensor shapes differ. Restoring the correct width is necessary before sampling or evaluation. The code should eventually save architecture settings with each run and reconstruct the model from those settings.</a:t>
            </a:r>
          </a:p>
          <a:p>
            <a:endParaRPr dirty="0"/>
          </a:p>
          <a:p>
            <a:r>
              <a:rPr dirty="0"/>
              <a:t>The main checkpoint contains 18 history entries, and the resume checkpoint records 6,678 training steps. The notebook's 1,000 epochs is an upper limit, while its current 75-minute budget applies to a training invocation. The saved checkpoint does not establish the actual total wall-clock training time or the device used.</a:t>
            </a:r>
          </a:p>
          <a:p>
            <a:endParaRPr dirty="0"/>
          </a:p>
          <a:p>
            <a:r>
              <a:rPr dirty="0"/>
              <a:t>Adam with learning rate 0.0002, batch size 128, and EMA decay 0.999 are current code settings. We should not imply that every historical setting is independently recorded. Next I will explain what happens inside the training loop and how the code manages numerical stability</a:t>
            </a:r>
            <a:r>
              <a:rPr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For each batch, the code samples random </a:t>
            </a:r>
            <a:r>
              <a:rPr dirty="0" err="1"/>
              <a:t>timesteps</a:t>
            </a:r>
            <a:r>
              <a:rPr dirty="0"/>
              <a:t> and fresh Gaussian noise, constructs noisy images, and asks the U-Net to estimate the noise. The mean squared error is averaged over tensor elements. Backpropagation computes gradients, and Adam updates the model parameters.</a:t>
            </a:r>
          </a:p>
          <a:p>
            <a:endParaRPr dirty="0"/>
          </a:p>
          <a:p>
            <a:r>
              <a:rPr dirty="0"/>
              <a:t>The learning rate warms up over 200 optimizer steps rather than beginning immediately at its maximum. Gradient clipping limits the norm to 1.0 before the update. The recorded gradient norm is measured before clipping, so it is a diagnostic of the incoming gradients rather than the clipped value.</a:t>
            </a:r>
          </a:p>
          <a:p>
            <a:endParaRPr dirty="0"/>
          </a:p>
          <a:p>
            <a:r>
              <a:rPr dirty="0"/>
              <a:t>A separate exponential moving average, or EMA, model tracks smoothed parameter values. Its decay warms up and is capped at 0.999. The main raw model learns directly from each batch, while the EMA version changes more smoothly. Saved training grids use EMA weights with a 50-step </a:t>
            </a:r>
            <a:r>
              <a:rPr dirty="0" err="1"/>
              <a:t>Denoising</a:t>
            </a:r>
            <a:r>
              <a:rPr dirty="0"/>
              <a:t> Diffusion Implicit Model, or DDIM, sampler.</a:t>
            </a:r>
          </a:p>
          <a:p>
            <a:endParaRPr dirty="0"/>
          </a:p>
          <a:p>
            <a:r>
              <a:rPr dirty="0"/>
              <a:t>The code checks for non-finite loss values and saves </a:t>
            </a:r>
            <a:r>
              <a:rPr dirty="0" err="1"/>
              <a:t>resumable</a:t>
            </a:r>
            <a:r>
              <a:rPr dirty="0"/>
              <a:t> checkpoints. Mixed precision and gradient scaling activate only for CUDA. MPS uses float32 under the current configuration.</a:t>
            </a:r>
          </a:p>
          <a:p>
            <a:endParaRPr dirty="0"/>
          </a:p>
          <a:p>
            <a:r>
              <a:rPr dirty="0"/>
              <a:t>These safeguards support training, but they do not prove good image quality. Also, fixed random seeds help comparisons without guaranteeing perfect cross-device reproducibility. Next I will inspect the small sanity experiment before considering the full-data run</a:t>
            </a:r>
            <a:r>
              <a:rPr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Before training on the larger split, the notebook defines a sanity test using 64 training images. It runs for 300 epochs, with one batch per epoch. Each epoch still samples fresh noise and </a:t>
            </a:r>
            <a:r>
              <a:rPr dirty="0" err="1"/>
              <a:t>timesteps</a:t>
            </a:r>
            <a:r>
              <a:rPr dirty="0"/>
              <a:t>, so the model sees changing regression targets even though the clean image subset is small.</a:t>
            </a:r>
          </a:p>
          <a:p>
            <a:endParaRPr dirty="0"/>
          </a:p>
          <a:p>
            <a:r>
              <a:rPr dirty="0"/>
              <a:t>The saved history begins at a noise-prediction mean squared error of approximately 1.0895 and ends at 0.0969. The curve drops strongly across the run. This is evidence that the model, noising formula, gradient flow and optimizer can work together on the small subset.</a:t>
            </a:r>
          </a:p>
          <a:p>
            <a:endParaRPr dirty="0"/>
          </a:p>
          <a:p>
            <a:r>
              <a:rPr dirty="0"/>
              <a:t>The last value is not necessarily the minimum, and short-term fluctuations are expected because the </a:t>
            </a:r>
            <a:r>
              <a:rPr dirty="0" err="1"/>
              <a:t>timestep</a:t>
            </a:r>
            <a:r>
              <a:rPr dirty="0"/>
              <a:t> and noise draws vary. A successful sanity test is a useful debugging signal, but it does not demonstrate generalization, perceptual fidelity or absence of memorization. It also does not guarantee that a smaller model trained on many more images will reach the same </a:t>
            </a:r>
            <a:r>
              <a:rPr dirty="0" err="1"/>
              <a:t>behaviour</a:t>
            </a:r>
            <a:r>
              <a:rPr dirty="0"/>
              <a:t> under the same compute budget.</a:t>
            </a:r>
          </a:p>
          <a:p>
            <a:endParaRPr dirty="0"/>
          </a:p>
          <a:p>
            <a:r>
              <a:rPr dirty="0"/>
              <a:t>This test uses the 64-channel checkpoint with approximately 9.28 million parameters. The main run uses 32 channels, so the two loss curves should not be treated as a controlled architecture comparison.</a:t>
            </a:r>
          </a:p>
          <a:p>
            <a:endParaRPr dirty="0"/>
          </a:p>
          <a:p>
            <a:r>
              <a:rPr dirty="0"/>
              <a:t>Next I will examine the main run, where the model trains across the 47,500-image split</a:t>
            </a:r>
            <a:r>
              <a:rPr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saved main checkpoint contains 18 epochs of training history. The first epoch's average noise-prediction MSE is approximately 0.3554, and the eighteenth is approximately 0.0636. That is a reduction of about 82.1 percent relative to the first epoch. These are averages over training batches, not held-out perceptual scores.</a:t>
            </a:r>
          </a:p>
          <a:p>
            <a:endParaRPr dirty="0"/>
          </a:p>
          <a:p>
            <a:r>
              <a:rPr dirty="0"/>
              <a:t>The curve falls rapidly at first and then changes more gradually. Small increases late in the run are plausible because training samples different noise levels and image batches. All recorded epoch losses are finite. We should avoid interpreting the flattening as proof that the model has fully converged.</a:t>
            </a:r>
          </a:p>
          <a:p>
            <a:endParaRPr dirty="0"/>
          </a:p>
          <a:p>
            <a:r>
              <a:rPr dirty="0"/>
              <a:t>The main checkpoint's approximately 2.33 million parameters reflect its 32-channel width. Its resume checkpoint records 6,678 optimizer steps, consistent with 18 epochs of 371 full batches. That relationship supports the recorded training extent, but it does not recover missing timing or device logs.</a:t>
            </a:r>
          </a:p>
          <a:p>
            <a:endParaRPr dirty="0"/>
          </a:p>
          <a:p>
            <a:r>
              <a:rPr dirty="0"/>
              <a:t>A low MSE can coexist with poor generated images because the training objective averages errors across many noise levels. The final product requires a long sequence of </a:t>
            </a:r>
            <a:r>
              <a:rPr dirty="0" err="1"/>
              <a:t>denoising</a:t>
            </a:r>
            <a:r>
              <a:rPr dirty="0"/>
              <a:t> predictions, where weaknesses can accumulate.</a:t>
            </a:r>
          </a:p>
          <a:p>
            <a:endParaRPr dirty="0"/>
          </a:p>
          <a:p>
            <a:r>
              <a:rPr dirty="0"/>
              <a:t>The next slide therefore examines actual saved grids. This is the essential link between a successful optimization curve and the images the model produces.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are the original saved sample grids from epochs five and eighteen. The notebook's logging function produces 64 images using EMA parameters, a fixed starting-noise generator, and 50 DDIM </a:t>
            </a:r>
            <a:r>
              <a:rPr dirty="0" err="1"/>
              <a:t>denoising</a:t>
            </a:r>
            <a:r>
              <a:rPr dirty="0"/>
              <a:t> steps. The labels describe that code path. No new sampling run was performed for this presentation.</a:t>
            </a:r>
          </a:p>
          <a:p>
            <a:endParaRPr dirty="0"/>
          </a:p>
          <a:p>
            <a:r>
              <a:rPr dirty="0"/>
              <a:t>Both grids contain strong </a:t>
            </a:r>
            <a:r>
              <a:rPr dirty="0" err="1"/>
              <a:t>colour</a:t>
            </a:r>
            <a:r>
              <a:rPr dirty="0"/>
              <a:t> variation and texture, but many tiles show saturated patterns and weak or unclear object structure. The appropriate conclusion is that the saved examples do not demonstrate consistently recognizable CIFAR-10 objects. We cannot replace that observation with a claim of high-fidelity generation simply because training MSE decreased.</a:t>
            </a:r>
          </a:p>
          <a:p>
            <a:endParaRPr dirty="0"/>
          </a:p>
          <a:p>
            <a:r>
              <a:rPr dirty="0"/>
              <a:t>Fixed starting noise helps compare logged samples across epochs, but the image files alone do not contain full metadata proving every historical run setting. The checkpoint width mismatch is another reason to retain a careful distinction between code defaults and stored evidence.</a:t>
            </a:r>
          </a:p>
          <a:p>
            <a:endParaRPr dirty="0"/>
          </a:p>
          <a:p>
            <a:r>
              <a:rPr dirty="0"/>
              <a:t>Visual inspection is useful for finding obvious failure modes, but it cannot produce a numerical FID score or establish diversity across the whole generated distribution. A larger, consistently generated evaluation set is needed for that.</a:t>
            </a:r>
          </a:p>
          <a:p>
            <a:endParaRPr dirty="0"/>
          </a:p>
          <a:p>
            <a:r>
              <a:rPr dirty="0"/>
              <a:t>Next I will describe the two implemented samplers and why the number of </a:t>
            </a:r>
            <a:r>
              <a:rPr dirty="0" err="1"/>
              <a:t>denoising</a:t>
            </a:r>
            <a:r>
              <a:rPr dirty="0"/>
              <a:t> steps affects the cost of producing that evaluation set</a:t>
            </a:r>
            <a:r>
              <a:rPr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Both implemented samplers use the same trained noise estimator. They begin with Gaussian noise and repeatedly convert a predicted noise tensor into a cleaner image estimate. The difference lies in how they move between noise levels.</a:t>
            </a:r>
          </a:p>
          <a:p>
            <a:endParaRPr dirty="0"/>
          </a:p>
          <a:p>
            <a:r>
              <a:rPr dirty="0"/>
              <a:t>The DDPM ancestral sampler visits all 1,000 </a:t>
            </a:r>
            <a:r>
              <a:rPr dirty="0" err="1"/>
              <a:t>timesteps</a:t>
            </a:r>
            <a:r>
              <a:rPr dirty="0"/>
              <a:t> and adds posterior noise at intermediate steps. The DDIM sampler uses a selected subset of </a:t>
            </a:r>
            <a:r>
              <a:rPr dirty="0" err="1"/>
              <a:t>timesteps</a:t>
            </a:r>
            <a:r>
              <a:rPr dirty="0"/>
              <a:t>. With eta equal to zero, its trajectory is deterministic for the same starting noise and model, subject to numerical reproducibility limits.</a:t>
            </a:r>
          </a:p>
          <a:p>
            <a:endParaRPr dirty="0"/>
          </a:p>
          <a:p>
            <a:r>
              <a:rPr dirty="0"/>
              <a:t>The notebook includes a visual DDIM sweep with 10, 20, 50, 100 and 250 steps. Its metric evaluation sweep uses 10, 20, 50 and 100 steps, with a separate raw-weight comparison at 50. The full 1,000-step DDPM metric evaluation is disabled by default.</a:t>
            </a:r>
          </a:p>
          <a:p>
            <a:endParaRPr dirty="0"/>
          </a:p>
          <a:p>
            <a:r>
              <a:rPr dirty="0"/>
              <a:t>A 50-step unconditional DDIM pass uses 20 times fewer network evaluations than a 1,000-step DDPM pass. That arithmetic describes call count. It is not a measured 20-times wall-clock speedup, and it says nothing by itself about equal image quality.</a:t>
            </a:r>
          </a:p>
          <a:p>
            <a:endParaRPr dirty="0"/>
          </a:p>
          <a:p>
            <a:r>
              <a:rPr dirty="0"/>
              <a:t>The saved grids use DDIM-50. No retained timing or sampler-quality table establishes the best sampler setting. Next I will explain the metrics required to make that selection responsibly</a:t>
            </a:r>
            <a:r>
              <a:rPr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evaluation code creates 2,500 generated images and compares them with the 2,500 saved reference images. It uses torch-fidelity to calculate FID, Inception Score, and generative precision and recall. The current metric path runs on CPU when the model device is MPS, because its </a:t>
            </a:r>
            <a:r>
              <a:rPr dirty="0" err="1"/>
              <a:t>cuda</a:t>
            </a:r>
            <a:r>
              <a:rPr dirty="0"/>
              <a:t> flag follows the CUDA mixed-precision setting.</a:t>
            </a:r>
          </a:p>
          <a:p>
            <a:endParaRPr dirty="0"/>
          </a:p>
          <a:p>
            <a:r>
              <a:rPr dirty="0" err="1"/>
              <a:t>Fréchet</a:t>
            </a:r>
            <a:r>
              <a:rPr dirty="0"/>
              <a:t> Inception Distance, or FID, compares the means and </a:t>
            </a:r>
            <a:r>
              <a:rPr dirty="0" err="1"/>
              <a:t>covariances</a:t>
            </a:r>
            <a:r>
              <a:rPr dirty="0"/>
              <a:t> of real and generated image features. Lower values indicate closer distributions under that feature representation. Inception Score summarizes confidence and diversity of predicted classes within generated images. It does not compare directly with the reference folder.</a:t>
            </a:r>
          </a:p>
          <a:p>
            <a:endParaRPr dirty="0"/>
          </a:p>
          <a:p>
            <a:r>
              <a:rPr dirty="0"/>
              <a:t>Generative precision asks how much generated content lies near the real distribution, while generative recall asks how much of the real distribution the generator covers. These are distribution metrics and are different from classification precision and recall.</a:t>
            </a:r>
          </a:p>
          <a:p>
            <a:endParaRPr dirty="0"/>
          </a:p>
          <a:p>
            <a:r>
              <a:rPr dirty="0"/>
              <a:t>The supplied files contain no saved results.csv, metric table, or generated evaluation-image folder. I therefore report every image-quality metric as unmeasured. The observed training MSE belongs to a different objective and cannot substitute for them.</a:t>
            </a:r>
          </a:p>
          <a:p>
            <a:endParaRPr dirty="0"/>
          </a:p>
          <a:p>
            <a:r>
              <a:rPr dirty="0"/>
              <a:t>With only 2,500 samples, finite-sample effects and single-seed uncertainty matter. The optional real-versus-real comparison is a useful calibration, not a strict universal lower bound. Next I will show how those missing measurements affect model comparison.</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notebook includes several comparisons, but code availability and completed experimental evidence are different. The saved files establish only the primary cosine schedule with attention and the small sanity test.</a:t>
            </a:r>
          </a:p>
          <a:p>
            <a:endParaRPr dirty="0"/>
          </a:p>
          <a:p>
            <a:r>
              <a:rPr dirty="0"/>
              <a:t>The ablation block proposes three additional diffusion variants: linear with attention, cosine without attention, and linear without attention. Comparing cosine against linear while holding attention fixed would isolate the schedule choice. Comparing attention against no attention with the schedule fixed would isolate that architectural choice. RUN_ABLATIONS is currently false and no matching saved checkpoints are present.</a:t>
            </a:r>
          </a:p>
          <a:p>
            <a:endParaRPr dirty="0"/>
          </a:p>
          <a:p>
            <a:r>
              <a:rPr dirty="0"/>
              <a:t>The notebook also defines an </a:t>
            </a:r>
            <a:r>
              <a:rPr dirty="0" err="1"/>
              <a:t>autoencoder</a:t>
            </a:r>
            <a:r>
              <a:rPr dirty="0"/>
              <a:t>, </a:t>
            </a:r>
            <a:r>
              <a:rPr dirty="0" err="1"/>
              <a:t>variational</a:t>
            </a:r>
            <a:r>
              <a:rPr dirty="0"/>
              <a:t> </a:t>
            </a:r>
            <a:r>
              <a:rPr dirty="0" err="1"/>
              <a:t>autoencoder</a:t>
            </a:r>
            <a:r>
              <a:rPr dirty="0"/>
              <a:t> and DCGAN. Their baseline training code targets ten epochs, but saved trained models, losses and evaluation results are absent. Equal epoch counts across architectures would not imply equal compute, so a fair report should record both elapsed time and training exposure.</a:t>
            </a:r>
          </a:p>
          <a:p>
            <a:endParaRPr dirty="0"/>
          </a:p>
          <a:p>
            <a:r>
              <a:rPr dirty="0"/>
              <a:t>Classifier-free guidance is optional and disabled. It would require a separate class-conditioned training run rather than changing a parameter on the existing unconditional checkpoint.</a:t>
            </a:r>
          </a:p>
          <a:p>
            <a:endParaRPr dirty="0"/>
          </a:p>
          <a:p>
            <a:r>
              <a:rPr dirty="0"/>
              <a:t>We therefore cannot name a best model, claim that attention improved FID, or assert superiority over baselines. The primary model is the implemented focus, with comparative selection pending. Next I will explain the current delivery method and the concrete reproducibility gap before evaluation can proceed</a:t>
            </a:r>
            <a:r>
              <a:rPr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current user-facing delivery method is the </a:t>
            </a:r>
            <a:r>
              <a:rPr dirty="0" err="1"/>
              <a:t>Jupyter</a:t>
            </a:r>
            <a:r>
              <a:rPr dirty="0"/>
              <a:t> notebook and its local output folders. A user can inspect code, train or resume a run, load checkpoints, generate image grids, and execute evaluation cells once the model configuration is consistent. No </a:t>
            </a:r>
            <a:r>
              <a:rPr dirty="0" err="1"/>
              <a:t>Streamlit</a:t>
            </a:r>
            <a:r>
              <a:rPr dirty="0"/>
              <a:t> application, web endpoint, or production deployment is present in the supplied project.</a:t>
            </a:r>
          </a:p>
          <a:p>
            <a:endParaRPr dirty="0"/>
          </a:p>
          <a:p>
            <a:r>
              <a:rPr dirty="0"/>
              <a:t>The artifacts provide two kinds of checkpoint. The final main file stores raw weights, EMA weights, history and partial configuration. The last checkpoint also stores optimizer, learning-rate scheduler, scaler, epoch and step information for resumption. The sample folder holds the logged PNG grids. The reference folder contains the 2,500 real images used by the proposed evaluation.</a:t>
            </a:r>
          </a:p>
          <a:p>
            <a:endParaRPr dirty="0"/>
          </a:p>
          <a:p>
            <a:r>
              <a:rPr dirty="0"/>
              <a:t>Before using the saved main model, the loader needs to reconstruct a 32-channel network. A single global BASE_CH is insufficient for switching between the 32-channel main run and the 64-channel sanity run. A future fix should store all architecture settings per checkpoint and use them when rebuilding each model.</a:t>
            </a:r>
          </a:p>
          <a:p>
            <a:endParaRPr dirty="0"/>
          </a:p>
          <a:p>
            <a:r>
              <a:rPr dirty="0"/>
              <a:t>A fresh load test and reproducible sampling run should precede expensive metric computation. An application would be a later delivery layer, after quality and reproducibility improve.</a:t>
            </a:r>
          </a:p>
          <a:p>
            <a:endParaRPr dirty="0"/>
          </a:p>
          <a:p>
            <a:r>
              <a:rPr dirty="0"/>
              <a:t>The next slide connects the data, training and generation paths into one complete architecture, while marking evaluation as pending</a:t>
            </a:r>
            <a:r>
              <a:rPr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diagram brings together the entire system. The top row begins with the CIFAR-10 training partition, separates the internal training and reference sets, and prepares the training tensors. Random noise and a </a:t>
            </a:r>
            <a:r>
              <a:rPr dirty="0" err="1"/>
              <a:t>timestep</a:t>
            </a:r>
            <a:r>
              <a:rPr dirty="0"/>
              <a:t> turn each clean tensor into a noisy regression example.</a:t>
            </a:r>
          </a:p>
          <a:p>
            <a:endParaRPr dirty="0"/>
          </a:p>
          <a:p>
            <a:r>
              <a:rPr dirty="0"/>
              <a:t>The U-Net learns to estimate that noise. Training updates raw parameters and an EMA copy, then writes checkpoints and periodic sample grids. At inference, Gaussian noise enters a trained model through the DDPM or DDIM update rule. Repeating that rule produces a three-channel image tensor, which the display helper maps to a standard image range for PNG export.</a:t>
            </a:r>
          </a:p>
          <a:p>
            <a:endParaRPr dirty="0"/>
          </a:p>
          <a:p>
            <a:r>
              <a:rPr dirty="0"/>
              <a:t>The evaluation branch compares generated PNGs with the saved real reference PNGs. I have drawn that link with a dashed connector because the evaluation code exists but numerical outputs are not retained in the supplied materials.</a:t>
            </a:r>
          </a:p>
          <a:p>
            <a:endParaRPr dirty="0"/>
          </a:p>
          <a:p>
            <a:r>
              <a:rPr dirty="0"/>
              <a:t>Notice that the reference set bypasses augmentation and optimizer updates. The inference path begins with noise rather than a new CIFAR image, which is why this is image synthesis rather than image classification. It also differs from restoration, where a corrupted user image would form part of the inference input.</a:t>
            </a:r>
          </a:p>
          <a:p>
            <a:endParaRPr dirty="0"/>
          </a:p>
          <a:p>
            <a:r>
              <a:rPr dirty="0"/>
              <a:t>The current endpoint is a local artifact pipeline. Next I will discuss its demonstrated value and the evidence required before potential business applications become credible</a:t>
            </a:r>
            <a:r>
              <a:rPr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strongest demonstrated value is educational and engineering-related. The project exposes how schedules, a time-conditioned </a:t>
            </a:r>
            <a:r>
              <a:rPr dirty="0" err="1"/>
              <a:t>denoiser</a:t>
            </a:r>
            <a:r>
              <a:rPr dirty="0"/>
              <a:t>, a noise-prediction objective and iterative samplers fit together. The saved histories also support debugging and experimentation on a local compute budget.</a:t>
            </a:r>
          </a:p>
          <a:p>
            <a:endParaRPr dirty="0"/>
          </a:p>
          <a:p>
            <a:r>
              <a:rPr dirty="0"/>
              <a:t>The supplied notebook mentions synthetic data, design tooling, restoration and privacy-preserving sharing as possible directions. Those are potential applications, not outcomes established by this run. The current model generates low-resolution unconditional images with substantial artifacts, so no downstream performance improvement or business return has been measured.</a:t>
            </a:r>
          </a:p>
          <a:p>
            <a:endParaRPr dirty="0"/>
          </a:p>
          <a:p>
            <a:r>
              <a:rPr dirty="0"/>
              <a:t>For synthetic augmentation, the relevant business test would be whether adding generated images improves a separate task on an untouched real test set. For a design tool, human review would need to establish usability and acceptable latency. Neither validation is present here.</a:t>
            </a:r>
          </a:p>
          <a:p>
            <a:endParaRPr dirty="0"/>
          </a:p>
          <a:p>
            <a:r>
              <a:rPr dirty="0"/>
              <a:t>We should be especially precise about two boundaries. Synthetic outputs do not automatically guarantee privacy, because models can memorize training examples. Also, rare-class control and restoration need additional conditioning or task design. The existing unconditional inference path does not provide those capabilities.</a:t>
            </a:r>
          </a:p>
          <a:p>
            <a:endParaRPr dirty="0"/>
          </a:p>
          <a:p>
            <a:r>
              <a:rPr dirty="0"/>
              <a:t>This slide connects the technical work to useful possibilities while keeping claims proportional to the evidence. Next I will prioritize the limitations that most directly prevent a reliable evaluation and a usable final solution</a:t>
            </a:r>
            <a:r>
              <a:rPr dirty="0" smtClean="0"/>
              <a:t>.</a:t>
            </a:r>
          </a:p>
          <a:p>
            <a:endParaRPr dirty="0" smtClean="0"/>
          </a:p>
          <a:p>
            <a:r>
              <a:rPr lang="en-SG" dirty="0" smtClean="0"/>
              <a:t>#######</a:t>
            </a:r>
            <a:r>
              <a:rPr dirty="0" smtClean="0"/>
              <a:t>Application statements are proposed validation paths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first priority is reproducibility. The main architecture width differs from the notebook default, and the checkpoint stores only part of the configuration. A durable run record should include architecture settings, split indices, dataset identity, package versions, device and elapsed time. The immediate action is to load the 32-channel main checkpoint successfully and regenerate a small sample batch.</a:t>
            </a:r>
          </a:p>
          <a:p>
            <a:endParaRPr dirty="0"/>
          </a:p>
          <a:p>
            <a:r>
              <a:rPr dirty="0"/>
              <a:t>The second priority is image-quality evaluation. The current grids show significant artifacts. The project needs a consistent generated set, numerical FID, Inception Score, generative precision and recall, and measured generation time. Results should retain the exact checkpoint, sampler, step count, seed and reference definition. Metric caching should identify the actual reference content rather than only its size.</a:t>
            </a:r>
          </a:p>
          <a:p>
            <a:endParaRPr dirty="0"/>
          </a:p>
          <a:p>
            <a:r>
              <a:rPr dirty="0"/>
              <a:t>The third priority is controlled comparison. Ablations and baselines need declared compute budgets and repeated runs where feasible. Small differences from one seed and a small reference set should not be presented as conclusive. A real-versus-real measurement can help calibrate sampling variability, but should not be described as an absolute lower bound.</a:t>
            </a:r>
          </a:p>
          <a:p>
            <a:endParaRPr dirty="0"/>
          </a:p>
          <a:p>
            <a:r>
              <a:rPr dirty="0"/>
              <a:t>Only after those checks should longer training, class conditioning, higher resolution or application packaging become priorities. These are proposed next steps. They were not performed as part of preparing this presentation.</a:t>
            </a:r>
          </a:p>
          <a:p>
            <a:endParaRPr dirty="0"/>
          </a:p>
          <a:p>
            <a:r>
              <a:rPr dirty="0"/>
              <a:t>I will close with the supported project outcome and the open question that remains.</a:t>
            </a:r>
          </a:p>
          <a:p>
            <a:endParaRPr dirty="0"/>
          </a:p>
          <a:p>
            <a:r>
              <a:rPr lang="en-SG" dirty="0" smtClean="0"/>
              <a:t>#######</a:t>
            </a:r>
            <a:r>
              <a:rPr dirty="0" smtClean="0"/>
              <a:t>configuration </a:t>
            </a:r>
            <a:r>
              <a:rPr dirty="0"/>
              <a:t>and evaluation code. Prioritized improvements inferred from artifact gaps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project implements the main mechanics of a DDPM in </a:t>
            </a:r>
            <a:r>
              <a:rPr dirty="0" err="1"/>
              <a:t>PyTorch</a:t>
            </a:r>
            <a:r>
              <a:rPr dirty="0"/>
              <a:t>: image preparation, noise schedules, forward noising, a time-conditioned U-Net, noise-prediction training, EMA parameters, and DDPM and DDIM samplers. The saved evidence includes a 300-epoch small-data sanity run and an 18-epoch primary run.</a:t>
            </a:r>
          </a:p>
          <a:p>
            <a:endParaRPr dirty="0"/>
          </a:p>
          <a:p>
            <a:r>
              <a:rPr dirty="0"/>
              <a:t>The main run's training MSE falls from about 0.3554 to 0.0636. That supports progress on the learned noise-prediction task. The saved sample grids still show substantial artifacts, so I would describe the outcome as a working research prototype with unresolved generation-quality limitations.</a:t>
            </a:r>
          </a:p>
          <a:p>
            <a:endParaRPr dirty="0"/>
          </a:p>
          <a:p>
            <a:r>
              <a:rPr dirty="0"/>
              <a:t>The original comparative question remains open because no saved image-quality metrics, trained baseline comparisons or ablation results are available. The next defensible milestone is a reproducible load and sampling run followed by a retained evaluation table. The 32-channel checkpoint mismatch is a concrete issue to resolve first.</a:t>
            </a:r>
          </a:p>
          <a:p>
            <a:endParaRPr dirty="0"/>
          </a:p>
          <a:p>
            <a:r>
              <a:rPr dirty="0"/>
              <a:t>For discussion, I can explain why the model predicts noise, why time conditioning is necessary, how DDIM reduces network calls, why training MSE differs from image fidelity, and what constitutes a fair baseline comparison. If asked about business impact, I will frame applications as hypotheses requiring validation.</a:t>
            </a:r>
          </a:p>
          <a:p>
            <a:endParaRPr dirty="0"/>
          </a:p>
          <a:p>
            <a:r>
              <a:rPr dirty="0"/>
              <a:t>Thank you. I welcome questions about the implementation decisions, the observed evidence, and the next experiment that would most reduce uncertainty.</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5F128C7-6B57-4335-881F-C35458A1E696}"/>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9E00E4E-9503-491D-B312-A1F5E99B3B6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89CAA1D1-0814-4C9B-95D8-EA22EA162BC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E877615-7335-4DE9-9143-F7DD0E06336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4D4281C8-BF60-4971-A2B5-64C30B7FCF7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CB12844F-2E4B-42FC-88DE-72EC4FD6CD8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375FD221-A766-4B2D-B404-499C8DF42E8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1BD80AC2-C087-4C9C-9E18-E0B38734FC25}"/>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5562A1F-D0BE-4FF4-9C3D-A411F2E963C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8D9CD199-C1C5-44D1-9C29-61C835374AD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D4E"/>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116AC4-2DED-4BA0-8079-906052CFC432}"/>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C5D4E3"/>
                </a:solidFill>
                <a:latin typeface="Helvetica Neue"/>
                <a:ea typeface="Helvetica Neue"/>
                <a:cs typeface="Helvetica Neue"/>
              </a:defRPr>
            </a:defPPr>
            <a:lvl1pPr algn="r">
              <a:defRPr sz="1200" b="0">
                <a:solidFill>
                  <a:srgbClr val="C5D4E3"/>
                </a:solidFill>
                <a:latin typeface="Helvetica Neue"/>
                <a:ea typeface="Helvetica Neue"/>
                <a:cs typeface="Helvetica Neue"/>
              </a:defRPr>
            </a:lvl1pPr>
            <a:lvl2pPr algn="r">
              <a:defRPr sz="1200" b="0">
                <a:solidFill>
                  <a:srgbClr val="C5D4E3"/>
                </a:solidFill>
                <a:latin typeface="Helvetica Neue"/>
                <a:ea typeface="Helvetica Neue"/>
                <a:cs typeface="Helvetica Neue"/>
              </a:defRPr>
            </a:lvl2pPr>
            <a:lvl3pPr algn="r">
              <a:defRPr sz="1200" b="0">
                <a:solidFill>
                  <a:srgbClr val="C5D4E3"/>
                </a:solidFill>
                <a:latin typeface="Helvetica Neue"/>
                <a:ea typeface="Helvetica Neue"/>
                <a:cs typeface="Helvetica Neue"/>
              </a:defRPr>
            </a:lvl3pPr>
            <a:lvl4pPr algn="r">
              <a:defRPr sz="1200" b="0">
                <a:solidFill>
                  <a:srgbClr val="C5D4E3"/>
                </a:solidFill>
                <a:latin typeface="Helvetica Neue"/>
                <a:ea typeface="Helvetica Neue"/>
                <a:cs typeface="Helvetica Neue"/>
              </a:defRPr>
            </a:lvl4pPr>
            <a:lvl5pPr algn="r">
              <a:defRPr sz="1200" b="0">
                <a:solidFill>
                  <a:srgbClr val="C5D4E3"/>
                </a:solidFill>
                <a:latin typeface="Helvetica Neue"/>
                <a:ea typeface="Helvetica Neue"/>
                <a:cs typeface="Helvetica Neue"/>
              </a:defRPr>
            </a:lvl5pPr>
            <a:lvl6pPr algn="r">
              <a:defRPr sz="1200" b="0">
                <a:solidFill>
                  <a:srgbClr val="C5D4E3"/>
                </a:solidFill>
                <a:latin typeface="Helvetica Neue"/>
                <a:ea typeface="Helvetica Neue"/>
                <a:cs typeface="Helvetica Neue"/>
              </a:defRPr>
            </a:lvl6pPr>
            <a:lvl7pPr algn="r">
              <a:defRPr sz="1200" b="0">
                <a:solidFill>
                  <a:srgbClr val="C5D4E3"/>
                </a:solidFill>
                <a:latin typeface="Helvetica Neue"/>
                <a:ea typeface="Helvetica Neue"/>
                <a:cs typeface="Helvetica Neue"/>
              </a:defRPr>
            </a:lvl7pPr>
            <a:lvl8pPr algn="r">
              <a:defRPr sz="1200" b="0">
                <a:solidFill>
                  <a:srgbClr val="C5D4E3"/>
                </a:solidFill>
                <a:latin typeface="Helvetica Neue"/>
                <a:ea typeface="Helvetica Neue"/>
                <a:cs typeface="Helvetica Neue"/>
              </a:defRPr>
            </a:lvl8pPr>
            <a:lvl9pPr algn="r">
              <a:defRPr sz="1200" b="0">
                <a:solidFill>
                  <a:srgbClr val="C5D4E3"/>
                </a:solidFill>
                <a:latin typeface="Helvetica Neue"/>
                <a:ea typeface="Helvetica Neue"/>
                <a:cs typeface="Helvetica Neue"/>
              </a:defRPr>
            </a:lvl9pPr>
          </a:lstStyle>
          <a:p>
            <a:pPr algn="r">
              <a:defRPr sz="1200" b="0">
                <a:solidFill>
                  <a:srgbClr val="C5D4E3"/>
                </a:solidFill>
                <a:latin typeface="Helvetica Neue"/>
                <a:ea typeface="Helvetica Neue"/>
                <a:cs typeface="Helvetica Neue"/>
              </a:defRPr>
            </a:pPr>
            <a:r>
              <a:rPr sz="1200" b="0">
                <a:solidFill>
                  <a:srgbClr val="C5D4E3"/>
                </a:solidFill>
                <a:latin typeface="Helvetica Neue"/>
                <a:ea typeface="Helvetica Neue"/>
                <a:cs typeface="Helvetica Neue"/>
              </a:rPr>
              <a:t>01</a:t>
            </a:r>
          </a:p>
        </p:txBody>
      </p:sp>
      <p:sp>
        <p:nvSpPr>
          <p:cNvPr id="3" name="Rectangle 2">
            <a:extLst>
              <a:ext uri="{FF2B5EF4-FFF2-40B4-BE49-F238E27FC236}">
                <a16:creationId xmlns:a16="http://schemas.microsoft.com/office/drawing/2014/main" id="{CC33C459-3795-4FDB-BD51-3F9C556DE945}"/>
              </a:ext>
            </a:extLst>
          </p:cNvPr>
          <p:cNvSpPr>
            <a:spLocks noGrp="1"/>
          </p:cNvSpPr>
          <p:nvPr/>
        </p:nvSpPr>
        <p:spPr>
          <a:xfrm>
            <a:off x="666750" y="1524000"/>
            <a:ext cx="10382250" cy="1809750"/>
          </a:xfrm>
          <a:prstGeom prst="rect">
            <a:avLst/>
          </a:prstGeom>
          <a:noFill/>
          <a:ln w="0">
            <a:noFill/>
          </a:ln>
        </p:spPr>
        <p:txBody>
          <a:bodyPr lIns="0" tIns="0" rIns="0" bIns="0" anchor="t">
            <a:noAutofit/>
          </a:bodyPr>
          <a:lstStyle>
            <a:defPPr algn="l">
              <a:defRPr sz="4650" b="1">
                <a:solidFill>
                  <a:srgbClr val="FFFFFF"/>
                </a:solidFill>
                <a:latin typeface="Helvetica Neue"/>
                <a:ea typeface="Helvetica Neue"/>
                <a:cs typeface="Helvetica Neue"/>
              </a:defRPr>
            </a:defPPr>
            <a:lvl1pPr algn="l">
              <a:defRPr sz="4650" b="1">
                <a:solidFill>
                  <a:srgbClr val="FFFFFF"/>
                </a:solidFill>
                <a:latin typeface="Helvetica Neue"/>
                <a:ea typeface="Helvetica Neue"/>
                <a:cs typeface="Helvetica Neue"/>
              </a:defRPr>
            </a:lvl1pPr>
            <a:lvl2pPr algn="l">
              <a:defRPr sz="4650" b="1">
                <a:solidFill>
                  <a:srgbClr val="FFFFFF"/>
                </a:solidFill>
                <a:latin typeface="Helvetica Neue"/>
                <a:ea typeface="Helvetica Neue"/>
                <a:cs typeface="Helvetica Neue"/>
              </a:defRPr>
            </a:lvl2pPr>
            <a:lvl3pPr algn="l">
              <a:defRPr sz="4650" b="1">
                <a:solidFill>
                  <a:srgbClr val="FFFFFF"/>
                </a:solidFill>
                <a:latin typeface="Helvetica Neue"/>
                <a:ea typeface="Helvetica Neue"/>
                <a:cs typeface="Helvetica Neue"/>
              </a:defRPr>
            </a:lvl3pPr>
            <a:lvl4pPr algn="l">
              <a:defRPr sz="4650" b="1">
                <a:solidFill>
                  <a:srgbClr val="FFFFFF"/>
                </a:solidFill>
                <a:latin typeface="Helvetica Neue"/>
                <a:ea typeface="Helvetica Neue"/>
                <a:cs typeface="Helvetica Neue"/>
              </a:defRPr>
            </a:lvl4pPr>
            <a:lvl5pPr algn="l">
              <a:defRPr sz="4650" b="1">
                <a:solidFill>
                  <a:srgbClr val="FFFFFF"/>
                </a:solidFill>
                <a:latin typeface="Helvetica Neue"/>
                <a:ea typeface="Helvetica Neue"/>
                <a:cs typeface="Helvetica Neue"/>
              </a:defRPr>
            </a:lvl5pPr>
            <a:lvl6pPr algn="l">
              <a:defRPr sz="4650" b="1">
                <a:solidFill>
                  <a:srgbClr val="FFFFFF"/>
                </a:solidFill>
                <a:latin typeface="Helvetica Neue"/>
                <a:ea typeface="Helvetica Neue"/>
                <a:cs typeface="Helvetica Neue"/>
              </a:defRPr>
            </a:lvl6pPr>
            <a:lvl7pPr algn="l">
              <a:defRPr sz="4650" b="1">
                <a:solidFill>
                  <a:srgbClr val="FFFFFF"/>
                </a:solidFill>
                <a:latin typeface="Helvetica Neue"/>
                <a:ea typeface="Helvetica Neue"/>
                <a:cs typeface="Helvetica Neue"/>
              </a:defRPr>
            </a:lvl7pPr>
            <a:lvl8pPr algn="l">
              <a:defRPr sz="4650" b="1">
                <a:solidFill>
                  <a:srgbClr val="FFFFFF"/>
                </a:solidFill>
                <a:latin typeface="Helvetica Neue"/>
                <a:ea typeface="Helvetica Neue"/>
                <a:cs typeface="Helvetica Neue"/>
              </a:defRPr>
            </a:lvl8pPr>
            <a:lvl9pPr algn="l">
              <a:defRPr sz="4650" b="1">
                <a:solidFill>
                  <a:srgbClr val="FFFFFF"/>
                </a:solidFill>
                <a:latin typeface="Helvetica Neue"/>
                <a:ea typeface="Helvetica Neue"/>
                <a:cs typeface="Helvetica Neue"/>
              </a:defRPr>
            </a:lvl9pPr>
          </a:lstStyle>
          <a:p>
            <a:pPr algn="l">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Denoising Diffusion</a:t>
            </a:r>
          </a:p>
          <a:p>
            <a:pPr algn="l">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on CIFAR-10</a:t>
            </a:r>
          </a:p>
        </p:txBody>
      </p:sp>
      <p:sp>
        <p:nvSpPr>
          <p:cNvPr id="4" name="Rectangle 3">
            <a:extLst>
              <a:ext uri="{FF2B5EF4-FFF2-40B4-BE49-F238E27FC236}">
                <a16:creationId xmlns:a16="http://schemas.microsoft.com/office/drawing/2014/main" id="{6D0C2529-5B5C-4DE9-BA82-7AD9AD941693}"/>
              </a:ext>
            </a:extLst>
          </p:cNvPr>
          <p:cNvSpPr>
            <a:spLocks noGrp="1"/>
          </p:cNvSpPr>
          <p:nvPr/>
        </p:nvSpPr>
        <p:spPr>
          <a:xfrm>
            <a:off x="695325" y="3714750"/>
            <a:ext cx="10001250" cy="514350"/>
          </a:xfrm>
          <a:prstGeom prst="rect">
            <a:avLst/>
          </a:prstGeom>
          <a:noFill/>
          <a:ln w="0">
            <a:noFill/>
          </a:ln>
        </p:spPr>
        <p:txBody>
          <a:bodyPr lIns="0" tIns="0" rIns="0" bIns="0" anchor="t">
            <a:noAutofit/>
          </a:bodyPr>
          <a:lstStyle>
            <a:defPPr algn="l">
              <a:defRPr sz="2400" b="0">
                <a:solidFill>
                  <a:srgbClr val="D5E5EF"/>
                </a:solidFill>
                <a:latin typeface="Helvetica Neue"/>
                <a:ea typeface="Helvetica Neue"/>
                <a:cs typeface="Helvetica Neue"/>
              </a:defRPr>
            </a:defPPr>
            <a:lvl1pPr algn="l">
              <a:defRPr sz="2400" b="0">
                <a:solidFill>
                  <a:srgbClr val="D5E5EF"/>
                </a:solidFill>
                <a:latin typeface="Helvetica Neue"/>
                <a:ea typeface="Helvetica Neue"/>
                <a:cs typeface="Helvetica Neue"/>
              </a:defRPr>
            </a:lvl1pPr>
            <a:lvl2pPr algn="l">
              <a:defRPr sz="2400" b="0">
                <a:solidFill>
                  <a:srgbClr val="D5E5EF"/>
                </a:solidFill>
                <a:latin typeface="Helvetica Neue"/>
                <a:ea typeface="Helvetica Neue"/>
                <a:cs typeface="Helvetica Neue"/>
              </a:defRPr>
            </a:lvl2pPr>
            <a:lvl3pPr algn="l">
              <a:defRPr sz="2400" b="0">
                <a:solidFill>
                  <a:srgbClr val="D5E5EF"/>
                </a:solidFill>
                <a:latin typeface="Helvetica Neue"/>
                <a:ea typeface="Helvetica Neue"/>
                <a:cs typeface="Helvetica Neue"/>
              </a:defRPr>
            </a:lvl3pPr>
            <a:lvl4pPr algn="l">
              <a:defRPr sz="2400" b="0">
                <a:solidFill>
                  <a:srgbClr val="D5E5EF"/>
                </a:solidFill>
                <a:latin typeface="Helvetica Neue"/>
                <a:ea typeface="Helvetica Neue"/>
                <a:cs typeface="Helvetica Neue"/>
              </a:defRPr>
            </a:lvl4pPr>
            <a:lvl5pPr algn="l">
              <a:defRPr sz="2400" b="0">
                <a:solidFill>
                  <a:srgbClr val="D5E5EF"/>
                </a:solidFill>
                <a:latin typeface="Helvetica Neue"/>
                <a:ea typeface="Helvetica Neue"/>
                <a:cs typeface="Helvetica Neue"/>
              </a:defRPr>
            </a:lvl5pPr>
            <a:lvl6pPr algn="l">
              <a:defRPr sz="2400" b="0">
                <a:solidFill>
                  <a:srgbClr val="D5E5EF"/>
                </a:solidFill>
                <a:latin typeface="Helvetica Neue"/>
                <a:ea typeface="Helvetica Neue"/>
                <a:cs typeface="Helvetica Neue"/>
              </a:defRPr>
            </a:lvl6pPr>
            <a:lvl7pPr algn="l">
              <a:defRPr sz="2400" b="0">
                <a:solidFill>
                  <a:srgbClr val="D5E5EF"/>
                </a:solidFill>
                <a:latin typeface="Helvetica Neue"/>
                <a:ea typeface="Helvetica Neue"/>
                <a:cs typeface="Helvetica Neue"/>
              </a:defRPr>
            </a:lvl7pPr>
            <a:lvl8pPr algn="l">
              <a:defRPr sz="2400" b="0">
                <a:solidFill>
                  <a:srgbClr val="D5E5EF"/>
                </a:solidFill>
                <a:latin typeface="Helvetica Neue"/>
                <a:ea typeface="Helvetica Neue"/>
                <a:cs typeface="Helvetica Neue"/>
              </a:defRPr>
            </a:lvl8pPr>
            <a:lvl9pPr algn="l">
              <a:defRPr sz="2400" b="0">
                <a:solidFill>
                  <a:srgbClr val="D5E5EF"/>
                </a:solidFill>
                <a:latin typeface="Helvetica Neue"/>
                <a:ea typeface="Helvetica Neue"/>
                <a:cs typeface="Helvetica Neue"/>
              </a:defRPr>
            </a:lvl9pPr>
          </a:lstStyle>
          <a:p>
            <a:pPr algn="l">
              <a:defRPr sz="2400" b="0">
                <a:solidFill>
                  <a:srgbClr val="D5E5EF"/>
                </a:solidFill>
                <a:latin typeface="Helvetica Neue"/>
                <a:ea typeface="Helvetica Neue"/>
                <a:cs typeface="Helvetica Neue"/>
              </a:defRPr>
            </a:pPr>
            <a:r>
              <a:rPr sz="2400" b="0" dirty="0">
                <a:solidFill>
                  <a:srgbClr val="D5E5EF"/>
                </a:solidFill>
                <a:latin typeface="Helvetica Neue"/>
                <a:ea typeface="Helvetica Neue"/>
                <a:cs typeface="Helvetica Neue"/>
              </a:rPr>
              <a:t>A complete project walkthrough</a:t>
            </a:r>
          </a:p>
        </p:txBody>
      </p:sp>
      <p:sp>
        <p:nvSpPr>
          <p:cNvPr id="5" name="Rectangle 4">
            <a:extLst>
              <a:ext uri="{FF2B5EF4-FFF2-40B4-BE49-F238E27FC236}">
                <a16:creationId xmlns:a16="http://schemas.microsoft.com/office/drawing/2014/main" id="{030B04D7-1943-4E21-9CA7-3BB66CAEFD73}"/>
              </a:ext>
            </a:extLst>
          </p:cNvPr>
          <p:cNvSpPr>
            <a:spLocks noGrp="1"/>
          </p:cNvSpPr>
          <p:nvPr/>
        </p:nvSpPr>
        <p:spPr>
          <a:xfrm>
            <a:off x="695325" y="4438650"/>
            <a:ext cx="10001250" cy="457200"/>
          </a:xfrm>
          <a:prstGeom prst="rect">
            <a:avLst/>
          </a:prstGeom>
          <a:noFill/>
          <a:ln w="0">
            <a:noFill/>
          </a:ln>
        </p:spPr>
        <p:txBody>
          <a:bodyPr lIns="0" tIns="0" rIns="0" bIns="0" anchor="t">
            <a:noAutofit/>
          </a:bodyPr>
          <a:lstStyle>
            <a:defPPr algn="l">
              <a:defRPr sz="1950" b="0">
                <a:solidFill>
                  <a:srgbClr val="AFC9DC"/>
                </a:solidFill>
                <a:latin typeface="Helvetica Neue"/>
                <a:ea typeface="Helvetica Neue"/>
                <a:cs typeface="Helvetica Neue"/>
              </a:defRPr>
            </a:defPPr>
            <a:lvl1pPr algn="l">
              <a:defRPr sz="1950" b="0">
                <a:solidFill>
                  <a:srgbClr val="AFC9DC"/>
                </a:solidFill>
                <a:latin typeface="Helvetica Neue"/>
                <a:ea typeface="Helvetica Neue"/>
                <a:cs typeface="Helvetica Neue"/>
              </a:defRPr>
            </a:lvl1pPr>
            <a:lvl2pPr algn="l">
              <a:defRPr sz="1950" b="0">
                <a:solidFill>
                  <a:srgbClr val="AFC9DC"/>
                </a:solidFill>
                <a:latin typeface="Helvetica Neue"/>
                <a:ea typeface="Helvetica Neue"/>
                <a:cs typeface="Helvetica Neue"/>
              </a:defRPr>
            </a:lvl2pPr>
            <a:lvl3pPr algn="l">
              <a:defRPr sz="1950" b="0">
                <a:solidFill>
                  <a:srgbClr val="AFC9DC"/>
                </a:solidFill>
                <a:latin typeface="Helvetica Neue"/>
                <a:ea typeface="Helvetica Neue"/>
                <a:cs typeface="Helvetica Neue"/>
              </a:defRPr>
            </a:lvl3pPr>
            <a:lvl4pPr algn="l">
              <a:defRPr sz="1950" b="0">
                <a:solidFill>
                  <a:srgbClr val="AFC9DC"/>
                </a:solidFill>
                <a:latin typeface="Helvetica Neue"/>
                <a:ea typeface="Helvetica Neue"/>
                <a:cs typeface="Helvetica Neue"/>
              </a:defRPr>
            </a:lvl4pPr>
            <a:lvl5pPr algn="l">
              <a:defRPr sz="1950" b="0">
                <a:solidFill>
                  <a:srgbClr val="AFC9DC"/>
                </a:solidFill>
                <a:latin typeface="Helvetica Neue"/>
                <a:ea typeface="Helvetica Neue"/>
                <a:cs typeface="Helvetica Neue"/>
              </a:defRPr>
            </a:lvl5pPr>
            <a:lvl6pPr algn="l">
              <a:defRPr sz="1950" b="0">
                <a:solidFill>
                  <a:srgbClr val="AFC9DC"/>
                </a:solidFill>
                <a:latin typeface="Helvetica Neue"/>
                <a:ea typeface="Helvetica Neue"/>
                <a:cs typeface="Helvetica Neue"/>
              </a:defRPr>
            </a:lvl6pPr>
            <a:lvl7pPr algn="l">
              <a:defRPr sz="1950" b="0">
                <a:solidFill>
                  <a:srgbClr val="AFC9DC"/>
                </a:solidFill>
                <a:latin typeface="Helvetica Neue"/>
                <a:ea typeface="Helvetica Neue"/>
                <a:cs typeface="Helvetica Neue"/>
              </a:defRPr>
            </a:lvl7pPr>
            <a:lvl8pPr algn="l">
              <a:defRPr sz="1950" b="0">
                <a:solidFill>
                  <a:srgbClr val="AFC9DC"/>
                </a:solidFill>
                <a:latin typeface="Helvetica Neue"/>
                <a:ea typeface="Helvetica Neue"/>
                <a:cs typeface="Helvetica Neue"/>
              </a:defRPr>
            </a:lvl8pPr>
            <a:lvl9pPr algn="l">
              <a:defRPr sz="1950" b="0">
                <a:solidFill>
                  <a:srgbClr val="AFC9DC"/>
                </a:solidFill>
                <a:latin typeface="Helvetica Neue"/>
                <a:ea typeface="Helvetica Neue"/>
                <a:cs typeface="Helvetica Neue"/>
              </a:defRPr>
            </a:lvl9pPr>
          </a:lstStyle>
          <a:p>
            <a:pPr algn="l">
              <a:defRPr sz="1950" b="0">
                <a:solidFill>
                  <a:srgbClr val="AFC9DC"/>
                </a:solidFill>
                <a:latin typeface="Helvetica Neue"/>
                <a:ea typeface="Helvetica Neue"/>
                <a:cs typeface="Helvetica Neue"/>
              </a:defRPr>
            </a:pPr>
            <a:r>
              <a:rPr sz="1950" b="0" dirty="0" err="1">
                <a:solidFill>
                  <a:srgbClr val="AFC9DC"/>
                </a:solidFill>
                <a:latin typeface="Helvetica Neue"/>
                <a:ea typeface="Helvetica Neue"/>
                <a:cs typeface="Helvetica Neue"/>
              </a:rPr>
              <a:t>PyTorch</a:t>
            </a:r>
            <a:r>
              <a:rPr sz="1950" b="0" dirty="0">
                <a:solidFill>
                  <a:srgbClr val="AFC9DC"/>
                </a:solidFill>
                <a:latin typeface="Helvetica Neue"/>
                <a:ea typeface="Helvetica Neue"/>
                <a:cs typeface="Helvetica Neue"/>
              </a:rPr>
              <a:t> implementation </a:t>
            </a:r>
          </a:p>
        </p:txBody>
      </p:sp>
      <p:sp>
        <p:nvSpPr>
          <p:cNvPr id="6" name="Rectangle 5">
            <a:extLst>
              <a:ext uri="{FF2B5EF4-FFF2-40B4-BE49-F238E27FC236}">
                <a16:creationId xmlns:a16="http://schemas.microsoft.com/office/drawing/2014/main" id="{07E78D69-B97E-4718-A17D-6F5E16C1D86F}"/>
              </a:ext>
            </a:extLst>
          </p:cNvPr>
          <p:cNvSpPr>
            <a:spLocks noGrp="1"/>
          </p:cNvSpPr>
          <p:nvPr/>
        </p:nvSpPr>
        <p:spPr>
          <a:xfrm>
            <a:off x="695325" y="5191125"/>
            <a:ext cx="10477500" cy="533400"/>
          </a:xfrm>
          <a:prstGeom prst="rect">
            <a:avLst/>
          </a:prstGeom>
          <a:noFill/>
          <a:ln w="0">
            <a:noFill/>
          </a:ln>
        </p:spPr>
        <p:txBody>
          <a:bodyPr lIns="0" tIns="0" rIns="0" bIns="0" anchor="t">
            <a:noAutofit/>
          </a:bodyPr>
          <a:lstStyle>
            <a:defPPr algn="l">
              <a:defRPr sz="1875" b="0">
                <a:solidFill>
                  <a:srgbClr val="AFC9DC"/>
                </a:solidFill>
                <a:latin typeface="Helvetica Neue"/>
                <a:ea typeface="Helvetica Neue"/>
                <a:cs typeface="Helvetica Neue"/>
              </a:defRPr>
            </a:defPPr>
            <a:lvl1pPr algn="l">
              <a:defRPr sz="1875" b="0">
                <a:solidFill>
                  <a:srgbClr val="AFC9DC"/>
                </a:solidFill>
                <a:latin typeface="Helvetica Neue"/>
                <a:ea typeface="Helvetica Neue"/>
                <a:cs typeface="Helvetica Neue"/>
              </a:defRPr>
            </a:lvl1pPr>
            <a:lvl2pPr algn="l">
              <a:defRPr sz="1875" b="0">
                <a:solidFill>
                  <a:srgbClr val="AFC9DC"/>
                </a:solidFill>
                <a:latin typeface="Helvetica Neue"/>
                <a:ea typeface="Helvetica Neue"/>
                <a:cs typeface="Helvetica Neue"/>
              </a:defRPr>
            </a:lvl2pPr>
            <a:lvl3pPr algn="l">
              <a:defRPr sz="1875" b="0">
                <a:solidFill>
                  <a:srgbClr val="AFC9DC"/>
                </a:solidFill>
                <a:latin typeface="Helvetica Neue"/>
                <a:ea typeface="Helvetica Neue"/>
                <a:cs typeface="Helvetica Neue"/>
              </a:defRPr>
            </a:lvl3pPr>
            <a:lvl4pPr algn="l">
              <a:defRPr sz="1875" b="0">
                <a:solidFill>
                  <a:srgbClr val="AFC9DC"/>
                </a:solidFill>
                <a:latin typeface="Helvetica Neue"/>
                <a:ea typeface="Helvetica Neue"/>
                <a:cs typeface="Helvetica Neue"/>
              </a:defRPr>
            </a:lvl4pPr>
            <a:lvl5pPr algn="l">
              <a:defRPr sz="1875" b="0">
                <a:solidFill>
                  <a:srgbClr val="AFC9DC"/>
                </a:solidFill>
                <a:latin typeface="Helvetica Neue"/>
                <a:ea typeface="Helvetica Neue"/>
                <a:cs typeface="Helvetica Neue"/>
              </a:defRPr>
            </a:lvl5pPr>
            <a:lvl6pPr algn="l">
              <a:defRPr sz="1875" b="0">
                <a:solidFill>
                  <a:srgbClr val="AFC9DC"/>
                </a:solidFill>
                <a:latin typeface="Helvetica Neue"/>
                <a:ea typeface="Helvetica Neue"/>
                <a:cs typeface="Helvetica Neue"/>
              </a:defRPr>
            </a:lvl6pPr>
            <a:lvl7pPr algn="l">
              <a:defRPr sz="1875" b="0">
                <a:solidFill>
                  <a:srgbClr val="AFC9DC"/>
                </a:solidFill>
                <a:latin typeface="Helvetica Neue"/>
                <a:ea typeface="Helvetica Neue"/>
                <a:cs typeface="Helvetica Neue"/>
              </a:defRPr>
            </a:lvl7pPr>
            <a:lvl8pPr algn="l">
              <a:defRPr sz="1875" b="0">
                <a:solidFill>
                  <a:srgbClr val="AFC9DC"/>
                </a:solidFill>
                <a:latin typeface="Helvetica Neue"/>
                <a:ea typeface="Helvetica Neue"/>
                <a:cs typeface="Helvetica Neue"/>
              </a:defRPr>
            </a:lvl8pPr>
            <a:lvl9pPr algn="l">
              <a:defRPr sz="1875" b="0">
                <a:solidFill>
                  <a:srgbClr val="AFC9DC"/>
                </a:solidFill>
                <a:latin typeface="Helvetica Neue"/>
                <a:ea typeface="Helvetica Neue"/>
                <a:cs typeface="Helvetica Neue"/>
              </a:defRPr>
            </a:lvl9pPr>
          </a:lstStyle>
          <a:p>
            <a:pPr algn="l">
              <a:defRPr sz="1875" b="0">
                <a:solidFill>
                  <a:srgbClr val="AFC9DC"/>
                </a:solidFill>
                <a:latin typeface="Helvetica Neue"/>
                <a:ea typeface="Helvetica Neue"/>
                <a:cs typeface="Helvetica Neue"/>
              </a:defRPr>
            </a:pPr>
            <a:r>
              <a:rPr sz="1875" b="0">
                <a:solidFill>
                  <a:srgbClr val="AFC9DC"/>
                </a:solidFill>
                <a:latin typeface="Helvetica Neue"/>
                <a:ea typeface="Helvetica Neue"/>
                <a:cs typeface="Helvetica Neue"/>
              </a:rPr>
              <a:t>Training evidence, generation quality and evaluation gaps</a:t>
            </a:r>
          </a:p>
        </p:txBody>
      </p:sp>
    </p:spTree>
    <p:extLst>
      <p:ext uri="{BB962C8B-B14F-4D97-AF65-F5344CB8AC3E}">
        <p14:creationId xmlns:p14="http://schemas.microsoft.com/office/powerpoint/2010/main" val="159224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E0A98A2-B4A8-4D0A-BB4D-B7C618D2A479}"/>
              </a:ext>
            </a:extLst>
          </p:cNvPr>
          <p:cNvCxnSpPr>
            <a:stCxn id="10" idx="3"/>
            <a:endCxn id="11" idx="1"/>
          </p:cNvCxnSpPr>
          <p:nvPr/>
        </p:nvCxnSpPr>
        <p:spPr>
          <a:xfrm>
            <a:off x="7032048" y="4295776"/>
            <a:ext cx="781916" cy="0"/>
          </a:xfrm>
          <a:prstGeom prst="straightConnector1">
            <a:avLst/>
          </a:prstGeom>
          <a:ln w="19050">
            <a:solidFill>
              <a:srgbClr val="007F82"/>
            </a:solidFill>
            <a:prstDash val="solid"/>
            <a:tailEnd type="triangle" w="med" len="med"/>
          </a:ln>
        </p:spPr>
      </p:cxnSp>
      <p:cxnSp>
        <p:nvCxnSpPr>
          <p:cNvPr id="12" name="Straight Arrow Connector 11">
            <a:extLst>
              <a:ext uri="{FF2B5EF4-FFF2-40B4-BE49-F238E27FC236}">
                <a16:creationId xmlns:a16="http://schemas.microsoft.com/office/drawing/2014/main" id="{1C5BD0A4-1635-494D-B729-FAFD6D44C601}"/>
              </a:ext>
            </a:extLst>
          </p:cNvPr>
          <p:cNvCxnSpPr>
            <a:stCxn id="9" idx="3"/>
            <a:endCxn id="10" idx="1"/>
          </p:cNvCxnSpPr>
          <p:nvPr/>
        </p:nvCxnSpPr>
        <p:spPr>
          <a:xfrm>
            <a:off x="3936423" y="4295776"/>
            <a:ext cx="781916" cy="0"/>
          </a:xfrm>
          <a:prstGeom prst="straightConnector1">
            <a:avLst/>
          </a:prstGeom>
          <a:ln w="19050">
            <a:solidFill>
              <a:srgbClr val="007F82"/>
            </a:solidFill>
            <a:prstDash val="solid"/>
            <a:tailEnd type="triangle" w="med" len="med"/>
          </a:ln>
        </p:spPr>
      </p:cxnSp>
      <p:cxnSp>
        <p:nvCxnSpPr>
          <p:cNvPr id="8" name="Straight Arrow Connector 7">
            <a:extLst>
              <a:ext uri="{FF2B5EF4-FFF2-40B4-BE49-F238E27FC236}">
                <a16:creationId xmlns:a16="http://schemas.microsoft.com/office/drawing/2014/main" id="{EE201160-957B-45A4-AAA1-9E8112F7F28D}"/>
              </a:ext>
            </a:extLst>
          </p:cNvPr>
          <p:cNvCxnSpPr>
            <a:stCxn id="5" idx="3"/>
            <a:endCxn id="6" idx="1"/>
          </p:cNvCxnSpPr>
          <p:nvPr/>
        </p:nvCxnSpPr>
        <p:spPr>
          <a:xfrm>
            <a:off x="7032048" y="2200276"/>
            <a:ext cx="781916" cy="0"/>
          </a:xfrm>
          <a:prstGeom prst="straightConnector1">
            <a:avLst/>
          </a:prstGeom>
          <a:ln w="19050">
            <a:solidFill>
              <a:srgbClr val="007F82"/>
            </a:solidFill>
            <a:prstDash val="solid"/>
            <a:tailEnd type="triangle" w="med" len="med"/>
          </a:ln>
        </p:spPr>
      </p:cxnSp>
      <p:cxnSp>
        <p:nvCxnSpPr>
          <p:cNvPr id="7" name="Straight Arrow Connector 6">
            <a:extLst>
              <a:ext uri="{FF2B5EF4-FFF2-40B4-BE49-F238E27FC236}">
                <a16:creationId xmlns:a16="http://schemas.microsoft.com/office/drawing/2014/main" id="{3D0D45DF-27A7-4912-8021-9BD457DEA850}"/>
              </a:ext>
            </a:extLst>
          </p:cNvPr>
          <p:cNvCxnSpPr>
            <a:stCxn id="4" idx="3"/>
            <a:endCxn id="5" idx="1"/>
          </p:cNvCxnSpPr>
          <p:nvPr/>
        </p:nvCxnSpPr>
        <p:spPr>
          <a:xfrm>
            <a:off x="3936423" y="2200276"/>
            <a:ext cx="781916" cy="0"/>
          </a:xfrm>
          <a:prstGeom prst="straightConnector1">
            <a:avLst/>
          </a:prstGeom>
          <a:ln w="19050">
            <a:solidFill>
              <a:srgbClr val="007F82"/>
            </a:solidFill>
            <a:prstDash val="solid"/>
            <a:tailEnd type="triangle" w="med" len="med"/>
          </a:ln>
        </p:spPr>
      </p:cxnSp>
      <p:sp>
        <p:nvSpPr>
          <p:cNvPr id="15" name="Rectangle 14">
            <a:extLst>
              <a:ext uri="{FF2B5EF4-FFF2-40B4-BE49-F238E27FC236}">
                <a16:creationId xmlns:a16="http://schemas.microsoft.com/office/drawing/2014/main" id="{0CC9E91E-82AC-4D19-9BC4-55E396FAA563}"/>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Project workflow</a:t>
            </a:r>
          </a:p>
        </p:txBody>
      </p:sp>
      <p:sp>
        <p:nvSpPr>
          <p:cNvPr id="2" name="Rectangle 1">
            <a:extLst>
              <a:ext uri="{FF2B5EF4-FFF2-40B4-BE49-F238E27FC236}">
                <a16:creationId xmlns:a16="http://schemas.microsoft.com/office/drawing/2014/main" id="{B3313B5B-97F1-4608-B8E3-A3653A2396FA}"/>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02</a:t>
            </a:r>
          </a:p>
        </p:txBody>
      </p:sp>
      <p:sp>
        <p:nvSpPr>
          <p:cNvPr id="4" name="Rectangle 3">
            <a:extLst>
              <a:ext uri="{FF2B5EF4-FFF2-40B4-BE49-F238E27FC236}">
                <a16:creationId xmlns:a16="http://schemas.microsoft.com/office/drawing/2014/main" id="{A88E5398-8A5B-435E-909E-BD53D107F4AB}"/>
              </a:ext>
            </a:extLst>
          </p:cNvPr>
          <p:cNvSpPr>
            <a:spLocks noGrp="1"/>
          </p:cNvSpPr>
          <p:nvPr/>
        </p:nvSpPr>
        <p:spPr>
          <a:xfrm>
            <a:off x="1622714" y="1700213"/>
            <a:ext cx="2313709" cy="100012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dirty="0">
                <a:solidFill>
                  <a:srgbClr val="142D4E"/>
                </a:solidFill>
                <a:latin typeface="Helvetica Neue"/>
                <a:ea typeface="Helvetica Neue"/>
                <a:cs typeface="Helvetica Neue"/>
              </a:rPr>
              <a:t>Problem and</a:t>
            </a:r>
          </a:p>
          <a:p>
            <a:pPr algn="ctr">
              <a:defRPr sz="1800">
                <a:solidFill>
                  <a:srgbClr val="142D4E"/>
                </a:solidFill>
                <a:latin typeface="Helvetica Neue"/>
                <a:ea typeface="Helvetica Neue"/>
                <a:cs typeface="Helvetica Neue"/>
              </a:defRPr>
            </a:pPr>
            <a:r>
              <a:rPr sz="1800" dirty="0">
                <a:solidFill>
                  <a:srgbClr val="142D4E"/>
                </a:solidFill>
                <a:latin typeface="Helvetica Neue"/>
                <a:ea typeface="Helvetica Neue"/>
                <a:cs typeface="Helvetica Neue"/>
              </a:rPr>
              <a:t>success criteria</a:t>
            </a:r>
          </a:p>
        </p:txBody>
      </p:sp>
      <p:sp>
        <p:nvSpPr>
          <p:cNvPr id="5" name="Rectangle 4">
            <a:extLst>
              <a:ext uri="{FF2B5EF4-FFF2-40B4-BE49-F238E27FC236}">
                <a16:creationId xmlns:a16="http://schemas.microsoft.com/office/drawing/2014/main" id="{A6920930-4572-446A-BB16-9FDEE53A3961}"/>
              </a:ext>
            </a:extLst>
          </p:cNvPr>
          <p:cNvSpPr>
            <a:spLocks noGrp="1"/>
          </p:cNvSpPr>
          <p:nvPr/>
        </p:nvSpPr>
        <p:spPr>
          <a:xfrm>
            <a:off x="4718339" y="1700213"/>
            <a:ext cx="2313709" cy="100012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dirty="0">
                <a:solidFill>
                  <a:srgbClr val="142D4E"/>
                </a:solidFill>
                <a:latin typeface="Helvetica Neue"/>
                <a:ea typeface="Helvetica Neue"/>
                <a:cs typeface="Helvetica Neue"/>
              </a:rPr>
              <a:t>Data understanding</a:t>
            </a:r>
          </a:p>
          <a:p>
            <a:pPr algn="ctr">
              <a:defRPr sz="1800">
                <a:solidFill>
                  <a:srgbClr val="142D4E"/>
                </a:solidFill>
                <a:latin typeface="Helvetica Neue"/>
                <a:ea typeface="Helvetica Neue"/>
                <a:cs typeface="Helvetica Neue"/>
              </a:defRPr>
            </a:pPr>
            <a:r>
              <a:rPr sz="1800" dirty="0">
                <a:solidFill>
                  <a:srgbClr val="142D4E"/>
                </a:solidFill>
                <a:latin typeface="Helvetica Neue"/>
                <a:ea typeface="Helvetica Neue"/>
                <a:cs typeface="Helvetica Neue"/>
              </a:rPr>
              <a:t>and preparation</a:t>
            </a:r>
          </a:p>
        </p:txBody>
      </p:sp>
      <p:sp>
        <p:nvSpPr>
          <p:cNvPr id="6" name="Rectangle 5">
            <a:extLst>
              <a:ext uri="{FF2B5EF4-FFF2-40B4-BE49-F238E27FC236}">
                <a16:creationId xmlns:a16="http://schemas.microsoft.com/office/drawing/2014/main" id="{5687057C-335A-4028-8FB5-4CDA84244481}"/>
              </a:ext>
            </a:extLst>
          </p:cNvPr>
          <p:cNvSpPr>
            <a:spLocks noGrp="1"/>
          </p:cNvSpPr>
          <p:nvPr/>
        </p:nvSpPr>
        <p:spPr>
          <a:xfrm>
            <a:off x="7813964" y="1700213"/>
            <a:ext cx="2313709" cy="100012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Diffusion model</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and training</a:t>
            </a:r>
          </a:p>
        </p:txBody>
      </p:sp>
      <p:sp>
        <p:nvSpPr>
          <p:cNvPr id="9" name="Rectangle 8">
            <a:extLst>
              <a:ext uri="{FF2B5EF4-FFF2-40B4-BE49-F238E27FC236}">
                <a16:creationId xmlns:a16="http://schemas.microsoft.com/office/drawing/2014/main" id="{A55054AD-05BE-4A59-AE19-365B33967569}"/>
              </a:ext>
            </a:extLst>
          </p:cNvPr>
          <p:cNvSpPr>
            <a:spLocks noGrp="1"/>
          </p:cNvSpPr>
          <p:nvPr/>
        </p:nvSpPr>
        <p:spPr>
          <a:xfrm>
            <a:off x="1622714" y="3795713"/>
            <a:ext cx="2313709" cy="100012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Saved training</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and sample evidence</a:t>
            </a:r>
          </a:p>
        </p:txBody>
      </p:sp>
      <p:sp>
        <p:nvSpPr>
          <p:cNvPr id="10" name="Rectangle 9">
            <a:extLst>
              <a:ext uri="{FF2B5EF4-FFF2-40B4-BE49-F238E27FC236}">
                <a16:creationId xmlns:a16="http://schemas.microsoft.com/office/drawing/2014/main" id="{1F73FA28-4091-45B6-859A-C9A81DA0E654}"/>
              </a:ext>
            </a:extLst>
          </p:cNvPr>
          <p:cNvSpPr>
            <a:spLocks noGrp="1"/>
          </p:cNvSpPr>
          <p:nvPr/>
        </p:nvSpPr>
        <p:spPr>
          <a:xfrm>
            <a:off x="4718339" y="3795713"/>
            <a:ext cx="2313709" cy="100012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Evaluation and</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comparison protocol</a:t>
            </a:r>
          </a:p>
        </p:txBody>
      </p:sp>
      <p:sp>
        <p:nvSpPr>
          <p:cNvPr id="11" name="Rectangle 10">
            <a:extLst>
              <a:ext uri="{FF2B5EF4-FFF2-40B4-BE49-F238E27FC236}">
                <a16:creationId xmlns:a16="http://schemas.microsoft.com/office/drawing/2014/main" id="{D686FE5C-CE4C-49D4-AF00-44703FE430F6}"/>
              </a:ext>
            </a:extLst>
          </p:cNvPr>
          <p:cNvSpPr>
            <a:spLocks noGrp="1"/>
          </p:cNvSpPr>
          <p:nvPr/>
        </p:nvSpPr>
        <p:spPr>
          <a:xfrm>
            <a:off x="7813964" y="3795713"/>
            <a:ext cx="2313709" cy="100012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Delivery, limitations</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and next steps</a:t>
            </a:r>
          </a:p>
        </p:txBody>
      </p:sp>
    </p:spTree>
    <p:extLst>
      <p:ext uri="{BB962C8B-B14F-4D97-AF65-F5344CB8AC3E}">
        <p14:creationId xmlns:p14="http://schemas.microsoft.com/office/powerpoint/2010/main" val="1385417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8B04C84-0F57-4E0F-94E1-F78F6C89EE05}"/>
              </a:ext>
            </a:extLst>
          </p:cNvPr>
          <p:cNvSpPr>
            <a:spLocks noGrp="1"/>
          </p:cNvSpPr>
          <p:nvPr/>
        </p:nvSpPr>
        <p:spPr>
          <a:xfrm>
            <a:off x="666750" y="64770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dirty="0">
                <a:solidFill>
                  <a:srgbClr val="142D4E"/>
                </a:solidFill>
                <a:latin typeface="Helvetica Neue"/>
                <a:ea typeface="Helvetica Neue"/>
                <a:cs typeface="Helvetica Neue"/>
              </a:rPr>
              <a:t>Problem and success criteria</a:t>
            </a:r>
          </a:p>
        </p:txBody>
      </p:sp>
      <p:sp>
        <p:nvSpPr>
          <p:cNvPr id="2" name="Rectangle 1">
            <a:extLst>
              <a:ext uri="{FF2B5EF4-FFF2-40B4-BE49-F238E27FC236}">
                <a16:creationId xmlns:a16="http://schemas.microsoft.com/office/drawing/2014/main" id="{240C8104-3D07-40F1-9900-06AD871E6860}"/>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03</a:t>
            </a:r>
          </a:p>
        </p:txBody>
      </p:sp>
      <p:sp>
        <p:nvSpPr>
          <p:cNvPr id="4" name="Rectangle 3">
            <a:extLst>
              <a:ext uri="{FF2B5EF4-FFF2-40B4-BE49-F238E27FC236}">
                <a16:creationId xmlns:a16="http://schemas.microsoft.com/office/drawing/2014/main" id="{B50761CF-F815-4A06-B6A5-3CB3477618AA}"/>
              </a:ext>
            </a:extLst>
          </p:cNvPr>
          <p:cNvSpPr>
            <a:spLocks noGrp="1"/>
          </p:cNvSpPr>
          <p:nvPr/>
        </p:nvSpPr>
        <p:spPr>
          <a:xfrm>
            <a:off x="666750" y="1943100"/>
            <a:ext cx="228600" cy="457200"/>
          </a:xfrm>
          <a:prstGeom prst="rect">
            <a:avLst/>
          </a:prstGeom>
          <a:noFill/>
          <a:ln w="0">
            <a:noFill/>
          </a:ln>
        </p:spPr>
        <p:txBody>
          <a:bodyPr lIns="0" tIns="0" rIns="0" bIns="0" anchor="t">
            <a:noAutofit/>
          </a:bodyPr>
          <a:lstStyle>
            <a:defPPr algn="l">
              <a:defRPr sz="2100" b="1">
                <a:solidFill>
                  <a:srgbClr val="007F82"/>
                </a:solidFill>
                <a:latin typeface="Helvetica Neue"/>
                <a:ea typeface="Helvetica Neue"/>
                <a:cs typeface="Helvetica Neue"/>
              </a:defRPr>
            </a:defPPr>
            <a:lvl1pPr algn="l">
              <a:defRPr sz="2100" b="1">
                <a:solidFill>
                  <a:srgbClr val="007F82"/>
                </a:solidFill>
                <a:latin typeface="Helvetica Neue"/>
                <a:ea typeface="Helvetica Neue"/>
                <a:cs typeface="Helvetica Neue"/>
              </a:defRPr>
            </a:lvl1pPr>
            <a:lvl2pPr algn="l">
              <a:defRPr sz="2100" b="1">
                <a:solidFill>
                  <a:srgbClr val="007F82"/>
                </a:solidFill>
                <a:latin typeface="Helvetica Neue"/>
                <a:ea typeface="Helvetica Neue"/>
                <a:cs typeface="Helvetica Neue"/>
              </a:defRPr>
            </a:lvl2pPr>
            <a:lvl3pPr algn="l">
              <a:defRPr sz="2100" b="1">
                <a:solidFill>
                  <a:srgbClr val="007F82"/>
                </a:solidFill>
                <a:latin typeface="Helvetica Neue"/>
                <a:ea typeface="Helvetica Neue"/>
                <a:cs typeface="Helvetica Neue"/>
              </a:defRPr>
            </a:lvl3pPr>
            <a:lvl4pPr algn="l">
              <a:defRPr sz="2100" b="1">
                <a:solidFill>
                  <a:srgbClr val="007F82"/>
                </a:solidFill>
                <a:latin typeface="Helvetica Neue"/>
                <a:ea typeface="Helvetica Neue"/>
                <a:cs typeface="Helvetica Neue"/>
              </a:defRPr>
            </a:lvl4pPr>
            <a:lvl5pPr algn="l">
              <a:defRPr sz="2100" b="1">
                <a:solidFill>
                  <a:srgbClr val="007F82"/>
                </a:solidFill>
                <a:latin typeface="Helvetica Neue"/>
                <a:ea typeface="Helvetica Neue"/>
                <a:cs typeface="Helvetica Neue"/>
              </a:defRPr>
            </a:lvl5pPr>
            <a:lvl6pPr algn="l">
              <a:defRPr sz="2100" b="1">
                <a:solidFill>
                  <a:srgbClr val="007F82"/>
                </a:solidFill>
                <a:latin typeface="Helvetica Neue"/>
                <a:ea typeface="Helvetica Neue"/>
                <a:cs typeface="Helvetica Neue"/>
              </a:defRPr>
            </a:lvl6pPr>
            <a:lvl7pPr algn="l">
              <a:defRPr sz="2100" b="1">
                <a:solidFill>
                  <a:srgbClr val="007F82"/>
                </a:solidFill>
                <a:latin typeface="Helvetica Neue"/>
                <a:ea typeface="Helvetica Neue"/>
                <a:cs typeface="Helvetica Neue"/>
              </a:defRPr>
            </a:lvl7pPr>
            <a:lvl8pPr algn="l">
              <a:defRPr sz="2100" b="1">
                <a:solidFill>
                  <a:srgbClr val="007F82"/>
                </a:solidFill>
                <a:latin typeface="Helvetica Neue"/>
                <a:ea typeface="Helvetica Neue"/>
                <a:cs typeface="Helvetica Neue"/>
              </a:defRPr>
            </a:lvl8pPr>
            <a:lvl9pPr algn="l">
              <a:defRPr sz="2100" b="1">
                <a:solidFill>
                  <a:srgbClr val="007F82"/>
                </a:solidFill>
                <a:latin typeface="Helvetica Neue"/>
                <a:ea typeface="Helvetica Neue"/>
                <a:cs typeface="Helvetica Neue"/>
              </a:defRPr>
            </a:lvl9pPr>
          </a:lstStyle>
          <a:p>
            <a:pPr algn="l">
              <a:defRPr sz="2100" b="1">
                <a:solidFill>
                  <a:srgbClr val="007F82"/>
                </a:solidFill>
                <a:latin typeface="Helvetica Neue"/>
                <a:ea typeface="Helvetica Neue"/>
                <a:cs typeface="Helvetica Neue"/>
              </a:defRPr>
            </a:pPr>
            <a:r>
              <a:rPr sz="2100" b="1">
                <a:solidFill>
                  <a:srgbClr val="007F82"/>
                </a:solidFill>
                <a:latin typeface="Helvetica Neue"/>
                <a:ea typeface="Helvetica Neue"/>
                <a:cs typeface="Helvetica Neue"/>
              </a:rPr>
              <a:t>•</a:t>
            </a:r>
          </a:p>
        </p:txBody>
      </p:sp>
      <p:sp>
        <p:nvSpPr>
          <p:cNvPr id="5" name="Rectangle 4">
            <a:extLst>
              <a:ext uri="{FF2B5EF4-FFF2-40B4-BE49-F238E27FC236}">
                <a16:creationId xmlns:a16="http://schemas.microsoft.com/office/drawing/2014/main" id="{9F123AA5-65CD-44B3-A13A-97A2DC986DAB}"/>
              </a:ext>
            </a:extLst>
          </p:cNvPr>
          <p:cNvSpPr>
            <a:spLocks noGrp="1"/>
          </p:cNvSpPr>
          <p:nvPr/>
        </p:nvSpPr>
        <p:spPr>
          <a:xfrm>
            <a:off x="1000125" y="1943100"/>
            <a:ext cx="10334625" cy="723900"/>
          </a:xfrm>
          <a:prstGeom prst="rect">
            <a:avLst/>
          </a:prstGeom>
          <a:noFill/>
          <a:ln w="0">
            <a:noFill/>
          </a:ln>
        </p:spPr>
        <p:txBody>
          <a:bodyPr lIns="0" tIns="0" rIns="0" bIns="0" anchor="t">
            <a:noAutofit/>
          </a:bodyPr>
          <a:lstStyle>
            <a:defPPr algn="l">
              <a:defRPr sz="2100" b="0">
                <a:solidFill>
                  <a:srgbClr val="142D4E"/>
                </a:solidFill>
                <a:latin typeface="Helvetica Neue"/>
                <a:ea typeface="Helvetica Neue"/>
                <a:cs typeface="Helvetica Neue"/>
              </a:defRPr>
            </a:defPPr>
            <a:lvl1pPr algn="l">
              <a:defRPr sz="2100" b="0">
                <a:solidFill>
                  <a:srgbClr val="142D4E"/>
                </a:solidFill>
                <a:latin typeface="Helvetica Neue"/>
                <a:ea typeface="Helvetica Neue"/>
                <a:cs typeface="Helvetica Neue"/>
              </a:defRPr>
            </a:lvl1pPr>
            <a:lvl2pPr algn="l">
              <a:defRPr sz="2100" b="0">
                <a:solidFill>
                  <a:srgbClr val="142D4E"/>
                </a:solidFill>
                <a:latin typeface="Helvetica Neue"/>
                <a:ea typeface="Helvetica Neue"/>
                <a:cs typeface="Helvetica Neue"/>
              </a:defRPr>
            </a:lvl2pPr>
            <a:lvl3pPr algn="l">
              <a:defRPr sz="2100" b="0">
                <a:solidFill>
                  <a:srgbClr val="142D4E"/>
                </a:solidFill>
                <a:latin typeface="Helvetica Neue"/>
                <a:ea typeface="Helvetica Neue"/>
                <a:cs typeface="Helvetica Neue"/>
              </a:defRPr>
            </a:lvl3pPr>
            <a:lvl4pPr algn="l">
              <a:defRPr sz="2100" b="0">
                <a:solidFill>
                  <a:srgbClr val="142D4E"/>
                </a:solidFill>
                <a:latin typeface="Helvetica Neue"/>
                <a:ea typeface="Helvetica Neue"/>
                <a:cs typeface="Helvetica Neue"/>
              </a:defRPr>
            </a:lvl4pPr>
            <a:lvl5pPr algn="l">
              <a:defRPr sz="2100" b="0">
                <a:solidFill>
                  <a:srgbClr val="142D4E"/>
                </a:solidFill>
                <a:latin typeface="Helvetica Neue"/>
                <a:ea typeface="Helvetica Neue"/>
                <a:cs typeface="Helvetica Neue"/>
              </a:defRPr>
            </a:lvl5pPr>
            <a:lvl6pPr algn="l">
              <a:defRPr sz="2100" b="0">
                <a:solidFill>
                  <a:srgbClr val="142D4E"/>
                </a:solidFill>
                <a:latin typeface="Helvetica Neue"/>
                <a:ea typeface="Helvetica Neue"/>
                <a:cs typeface="Helvetica Neue"/>
              </a:defRPr>
            </a:lvl6pPr>
            <a:lvl7pPr algn="l">
              <a:defRPr sz="2100" b="0">
                <a:solidFill>
                  <a:srgbClr val="142D4E"/>
                </a:solidFill>
                <a:latin typeface="Helvetica Neue"/>
                <a:ea typeface="Helvetica Neue"/>
                <a:cs typeface="Helvetica Neue"/>
              </a:defRPr>
            </a:lvl7pPr>
            <a:lvl8pPr algn="l">
              <a:defRPr sz="2100" b="0">
                <a:solidFill>
                  <a:srgbClr val="142D4E"/>
                </a:solidFill>
                <a:latin typeface="Helvetica Neue"/>
                <a:ea typeface="Helvetica Neue"/>
                <a:cs typeface="Helvetica Neue"/>
              </a:defRPr>
            </a:lvl8pPr>
            <a:lvl9pPr algn="l">
              <a:defRPr sz="2100" b="0">
                <a:solidFill>
                  <a:srgbClr val="142D4E"/>
                </a:solidFill>
                <a:latin typeface="Helvetica Neue"/>
                <a:ea typeface="Helvetica Neue"/>
                <a:cs typeface="Helvetica Neue"/>
              </a:defRPr>
            </a:lvl9pPr>
          </a:lstStyle>
          <a:p>
            <a:pPr algn="l">
              <a:defRPr sz="2100" b="0">
                <a:solidFill>
                  <a:srgbClr val="142D4E"/>
                </a:solidFill>
                <a:latin typeface="Helvetica Neue"/>
                <a:ea typeface="Helvetica Neue"/>
                <a:cs typeface="Helvetica Neue"/>
              </a:defRPr>
            </a:pPr>
            <a:r>
              <a:rPr sz="2100" b="0">
                <a:solidFill>
                  <a:srgbClr val="142D4E"/>
                </a:solidFill>
                <a:latin typeface="Helvetica Neue"/>
                <a:ea typeface="Helvetica Neue"/>
                <a:cs typeface="Helvetica Neue"/>
              </a:rPr>
              <a:t>Research question: can a core-component DDPM improve image fidelity and training stability over AE, VAE and DCGAN?</a:t>
            </a:r>
          </a:p>
        </p:txBody>
      </p:sp>
      <p:sp>
        <p:nvSpPr>
          <p:cNvPr id="6" name="Rectangle 5">
            <a:extLst>
              <a:ext uri="{FF2B5EF4-FFF2-40B4-BE49-F238E27FC236}">
                <a16:creationId xmlns:a16="http://schemas.microsoft.com/office/drawing/2014/main" id="{97C0C935-B57F-483A-BE43-6E55AF6F4155}"/>
              </a:ext>
            </a:extLst>
          </p:cNvPr>
          <p:cNvSpPr>
            <a:spLocks noGrp="1"/>
          </p:cNvSpPr>
          <p:nvPr/>
        </p:nvSpPr>
        <p:spPr>
          <a:xfrm>
            <a:off x="666750" y="3200400"/>
            <a:ext cx="228600" cy="457200"/>
          </a:xfrm>
          <a:prstGeom prst="rect">
            <a:avLst/>
          </a:prstGeom>
          <a:noFill/>
          <a:ln w="0">
            <a:noFill/>
          </a:ln>
        </p:spPr>
        <p:txBody>
          <a:bodyPr lIns="0" tIns="0" rIns="0" bIns="0" anchor="t">
            <a:noAutofit/>
          </a:bodyPr>
          <a:lstStyle>
            <a:defPPr algn="l">
              <a:defRPr sz="2100" b="1">
                <a:solidFill>
                  <a:srgbClr val="007F82"/>
                </a:solidFill>
                <a:latin typeface="Helvetica Neue"/>
                <a:ea typeface="Helvetica Neue"/>
                <a:cs typeface="Helvetica Neue"/>
              </a:defRPr>
            </a:defPPr>
            <a:lvl1pPr algn="l">
              <a:defRPr sz="2100" b="1">
                <a:solidFill>
                  <a:srgbClr val="007F82"/>
                </a:solidFill>
                <a:latin typeface="Helvetica Neue"/>
                <a:ea typeface="Helvetica Neue"/>
                <a:cs typeface="Helvetica Neue"/>
              </a:defRPr>
            </a:lvl1pPr>
            <a:lvl2pPr algn="l">
              <a:defRPr sz="2100" b="1">
                <a:solidFill>
                  <a:srgbClr val="007F82"/>
                </a:solidFill>
                <a:latin typeface="Helvetica Neue"/>
                <a:ea typeface="Helvetica Neue"/>
                <a:cs typeface="Helvetica Neue"/>
              </a:defRPr>
            </a:lvl2pPr>
            <a:lvl3pPr algn="l">
              <a:defRPr sz="2100" b="1">
                <a:solidFill>
                  <a:srgbClr val="007F82"/>
                </a:solidFill>
                <a:latin typeface="Helvetica Neue"/>
                <a:ea typeface="Helvetica Neue"/>
                <a:cs typeface="Helvetica Neue"/>
              </a:defRPr>
            </a:lvl3pPr>
            <a:lvl4pPr algn="l">
              <a:defRPr sz="2100" b="1">
                <a:solidFill>
                  <a:srgbClr val="007F82"/>
                </a:solidFill>
                <a:latin typeface="Helvetica Neue"/>
                <a:ea typeface="Helvetica Neue"/>
                <a:cs typeface="Helvetica Neue"/>
              </a:defRPr>
            </a:lvl4pPr>
            <a:lvl5pPr algn="l">
              <a:defRPr sz="2100" b="1">
                <a:solidFill>
                  <a:srgbClr val="007F82"/>
                </a:solidFill>
                <a:latin typeface="Helvetica Neue"/>
                <a:ea typeface="Helvetica Neue"/>
                <a:cs typeface="Helvetica Neue"/>
              </a:defRPr>
            </a:lvl5pPr>
            <a:lvl6pPr algn="l">
              <a:defRPr sz="2100" b="1">
                <a:solidFill>
                  <a:srgbClr val="007F82"/>
                </a:solidFill>
                <a:latin typeface="Helvetica Neue"/>
                <a:ea typeface="Helvetica Neue"/>
                <a:cs typeface="Helvetica Neue"/>
              </a:defRPr>
            </a:lvl6pPr>
            <a:lvl7pPr algn="l">
              <a:defRPr sz="2100" b="1">
                <a:solidFill>
                  <a:srgbClr val="007F82"/>
                </a:solidFill>
                <a:latin typeface="Helvetica Neue"/>
                <a:ea typeface="Helvetica Neue"/>
                <a:cs typeface="Helvetica Neue"/>
              </a:defRPr>
            </a:lvl7pPr>
            <a:lvl8pPr algn="l">
              <a:defRPr sz="2100" b="1">
                <a:solidFill>
                  <a:srgbClr val="007F82"/>
                </a:solidFill>
                <a:latin typeface="Helvetica Neue"/>
                <a:ea typeface="Helvetica Neue"/>
                <a:cs typeface="Helvetica Neue"/>
              </a:defRPr>
            </a:lvl8pPr>
            <a:lvl9pPr algn="l">
              <a:defRPr sz="2100" b="1">
                <a:solidFill>
                  <a:srgbClr val="007F82"/>
                </a:solidFill>
                <a:latin typeface="Helvetica Neue"/>
                <a:ea typeface="Helvetica Neue"/>
                <a:cs typeface="Helvetica Neue"/>
              </a:defRPr>
            </a:lvl9pPr>
          </a:lstStyle>
          <a:p>
            <a:pPr algn="l">
              <a:defRPr sz="2100" b="1">
                <a:solidFill>
                  <a:srgbClr val="007F82"/>
                </a:solidFill>
                <a:latin typeface="Helvetica Neue"/>
                <a:ea typeface="Helvetica Neue"/>
                <a:cs typeface="Helvetica Neue"/>
              </a:defRPr>
            </a:pPr>
            <a:r>
              <a:rPr sz="2100" b="1">
                <a:solidFill>
                  <a:srgbClr val="007F82"/>
                </a:solidFill>
                <a:latin typeface="Helvetica Neue"/>
                <a:ea typeface="Helvetica Neue"/>
                <a:cs typeface="Helvetica Neue"/>
              </a:rPr>
              <a:t>•</a:t>
            </a:r>
          </a:p>
        </p:txBody>
      </p:sp>
      <p:sp>
        <p:nvSpPr>
          <p:cNvPr id="7" name="Rectangle 6">
            <a:extLst>
              <a:ext uri="{FF2B5EF4-FFF2-40B4-BE49-F238E27FC236}">
                <a16:creationId xmlns:a16="http://schemas.microsoft.com/office/drawing/2014/main" id="{5A2D1578-4B44-4E5B-BBC2-EC936FC4B016}"/>
              </a:ext>
            </a:extLst>
          </p:cNvPr>
          <p:cNvSpPr>
            <a:spLocks noGrp="1"/>
          </p:cNvSpPr>
          <p:nvPr/>
        </p:nvSpPr>
        <p:spPr>
          <a:xfrm>
            <a:off x="1000125" y="3200400"/>
            <a:ext cx="10334625" cy="723900"/>
          </a:xfrm>
          <a:prstGeom prst="rect">
            <a:avLst/>
          </a:prstGeom>
          <a:noFill/>
          <a:ln w="0">
            <a:noFill/>
          </a:ln>
        </p:spPr>
        <p:txBody>
          <a:bodyPr lIns="0" tIns="0" rIns="0" bIns="0" anchor="t">
            <a:noAutofit/>
          </a:bodyPr>
          <a:lstStyle>
            <a:defPPr algn="l">
              <a:defRPr sz="2100" b="0">
                <a:solidFill>
                  <a:srgbClr val="142D4E"/>
                </a:solidFill>
                <a:latin typeface="Helvetica Neue"/>
                <a:ea typeface="Helvetica Neue"/>
                <a:cs typeface="Helvetica Neue"/>
              </a:defRPr>
            </a:defPPr>
            <a:lvl1pPr algn="l">
              <a:defRPr sz="2100" b="0">
                <a:solidFill>
                  <a:srgbClr val="142D4E"/>
                </a:solidFill>
                <a:latin typeface="Helvetica Neue"/>
                <a:ea typeface="Helvetica Neue"/>
                <a:cs typeface="Helvetica Neue"/>
              </a:defRPr>
            </a:lvl1pPr>
            <a:lvl2pPr algn="l">
              <a:defRPr sz="2100" b="0">
                <a:solidFill>
                  <a:srgbClr val="142D4E"/>
                </a:solidFill>
                <a:latin typeface="Helvetica Neue"/>
                <a:ea typeface="Helvetica Neue"/>
                <a:cs typeface="Helvetica Neue"/>
              </a:defRPr>
            </a:lvl2pPr>
            <a:lvl3pPr algn="l">
              <a:defRPr sz="2100" b="0">
                <a:solidFill>
                  <a:srgbClr val="142D4E"/>
                </a:solidFill>
                <a:latin typeface="Helvetica Neue"/>
                <a:ea typeface="Helvetica Neue"/>
                <a:cs typeface="Helvetica Neue"/>
              </a:defRPr>
            </a:lvl3pPr>
            <a:lvl4pPr algn="l">
              <a:defRPr sz="2100" b="0">
                <a:solidFill>
                  <a:srgbClr val="142D4E"/>
                </a:solidFill>
                <a:latin typeface="Helvetica Neue"/>
                <a:ea typeface="Helvetica Neue"/>
                <a:cs typeface="Helvetica Neue"/>
              </a:defRPr>
            </a:lvl4pPr>
            <a:lvl5pPr algn="l">
              <a:defRPr sz="2100" b="0">
                <a:solidFill>
                  <a:srgbClr val="142D4E"/>
                </a:solidFill>
                <a:latin typeface="Helvetica Neue"/>
                <a:ea typeface="Helvetica Neue"/>
                <a:cs typeface="Helvetica Neue"/>
              </a:defRPr>
            </a:lvl5pPr>
            <a:lvl6pPr algn="l">
              <a:defRPr sz="2100" b="0">
                <a:solidFill>
                  <a:srgbClr val="142D4E"/>
                </a:solidFill>
                <a:latin typeface="Helvetica Neue"/>
                <a:ea typeface="Helvetica Neue"/>
                <a:cs typeface="Helvetica Neue"/>
              </a:defRPr>
            </a:lvl6pPr>
            <a:lvl7pPr algn="l">
              <a:defRPr sz="2100" b="0">
                <a:solidFill>
                  <a:srgbClr val="142D4E"/>
                </a:solidFill>
                <a:latin typeface="Helvetica Neue"/>
                <a:ea typeface="Helvetica Neue"/>
                <a:cs typeface="Helvetica Neue"/>
              </a:defRPr>
            </a:lvl7pPr>
            <a:lvl8pPr algn="l">
              <a:defRPr sz="2100" b="0">
                <a:solidFill>
                  <a:srgbClr val="142D4E"/>
                </a:solidFill>
                <a:latin typeface="Helvetica Neue"/>
                <a:ea typeface="Helvetica Neue"/>
                <a:cs typeface="Helvetica Neue"/>
              </a:defRPr>
            </a:lvl8pPr>
            <a:lvl9pPr algn="l">
              <a:defRPr sz="2100" b="0">
                <a:solidFill>
                  <a:srgbClr val="142D4E"/>
                </a:solidFill>
                <a:latin typeface="Helvetica Neue"/>
                <a:ea typeface="Helvetica Neue"/>
                <a:cs typeface="Helvetica Neue"/>
              </a:defRPr>
            </a:lvl9pPr>
          </a:lstStyle>
          <a:p>
            <a:pPr algn="l">
              <a:defRPr sz="2100" b="0">
                <a:solidFill>
                  <a:srgbClr val="142D4E"/>
                </a:solidFill>
                <a:latin typeface="Helvetica Neue"/>
                <a:ea typeface="Helvetica Neue"/>
                <a:cs typeface="Helvetica Neue"/>
              </a:defRPr>
            </a:pPr>
            <a:r>
              <a:rPr sz="2100" b="0">
                <a:solidFill>
                  <a:srgbClr val="142D4E"/>
                </a:solidFill>
                <a:latin typeface="Helvetica Neue"/>
                <a:ea typeface="Helvetica Neue"/>
                <a:cs typeface="Helvetica Neue"/>
              </a:rPr>
              <a:t>Technical success needs image-quality metrics, sample inspection and fair compute reporting</a:t>
            </a:r>
          </a:p>
        </p:txBody>
      </p:sp>
      <p:sp>
        <p:nvSpPr>
          <p:cNvPr id="8" name="Rectangle 7">
            <a:extLst>
              <a:ext uri="{FF2B5EF4-FFF2-40B4-BE49-F238E27FC236}">
                <a16:creationId xmlns:a16="http://schemas.microsoft.com/office/drawing/2014/main" id="{1277D65A-1296-421B-9717-9ADD07E606EC}"/>
              </a:ext>
            </a:extLst>
          </p:cNvPr>
          <p:cNvSpPr>
            <a:spLocks noGrp="1"/>
          </p:cNvSpPr>
          <p:nvPr/>
        </p:nvSpPr>
        <p:spPr>
          <a:xfrm>
            <a:off x="666750" y="4457700"/>
            <a:ext cx="228600" cy="457200"/>
          </a:xfrm>
          <a:prstGeom prst="rect">
            <a:avLst/>
          </a:prstGeom>
          <a:noFill/>
          <a:ln w="0">
            <a:noFill/>
          </a:ln>
        </p:spPr>
        <p:txBody>
          <a:bodyPr lIns="0" tIns="0" rIns="0" bIns="0" anchor="t">
            <a:noAutofit/>
          </a:bodyPr>
          <a:lstStyle>
            <a:defPPr algn="l">
              <a:defRPr sz="2100" b="1">
                <a:solidFill>
                  <a:srgbClr val="007F82"/>
                </a:solidFill>
                <a:latin typeface="Helvetica Neue"/>
                <a:ea typeface="Helvetica Neue"/>
                <a:cs typeface="Helvetica Neue"/>
              </a:defRPr>
            </a:defPPr>
            <a:lvl1pPr algn="l">
              <a:defRPr sz="2100" b="1">
                <a:solidFill>
                  <a:srgbClr val="007F82"/>
                </a:solidFill>
                <a:latin typeface="Helvetica Neue"/>
                <a:ea typeface="Helvetica Neue"/>
                <a:cs typeface="Helvetica Neue"/>
              </a:defRPr>
            </a:lvl1pPr>
            <a:lvl2pPr algn="l">
              <a:defRPr sz="2100" b="1">
                <a:solidFill>
                  <a:srgbClr val="007F82"/>
                </a:solidFill>
                <a:latin typeface="Helvetica Neue"/>
                <a:ea typeface="Helvetica Neue"/>
                <a:cs typeface="Helvetica Neue"/>
              </a:defRPr>
            </a:lvl2pPr>
            <a:lvl3pPr algn="l">
              <a:defRPr sz="2100" b="1">
                <a:solidFill>
                  <a:srgbClr val="007F82"/>
                </a:solidFill>
                <a:latin typeface="Helvetica Neue"/>
                <a:ea typeface="Helvetica Neue"/>
                <a:cs typeface="Helvetica Neue"/>
              </a:defRPr>
            </a:lvl3pPr>
            <a:lvl4pPr algn="l">
              <a:defRPr sz="2100" b="1">
                <a:solidFill>
                  <a:srgbClr val="007F82"/>
                </a:solidFill>
                <a:latin typeface="Helvetica Neue"/>
                <a:ea typeface="Helvetica Neue"/>
                <a:cs typeface="Helvetica Neue"/>
              </a:defRPr>
            </a:lvl4pPr>
            <a:lvl5pPr algn="l">
              <a:defRPr sz="2100" b="1">
                <a:solidFill>
                  <a:srgbClr val="007F82"/>
                </a:solidFill>
                <a:latin typeface="Helvetica Neue"/>
                <a:ea typeface="Helvetica Neue"/>
                <a:cs typeface="Helvetica Neue"/>
              </a:defRPr>
            </a:lvl5pPr>
            <a:lvl6pPr algn="l">
              <a:defRPr sz="2100" b="1">
                <a:solidFill>
                  <a:srgbClr val="007F82"/>
                </a:solidFill>
                <a:latin typeface="Helvetica Neue"/>
                <a:ea typeface="Helvetica Neue"/>
                <a:cs typeface="Helvetica Neue"/>
              </a:defRPr>
            </a:lvl6pPr>
            <a:lvl7pPr algn="l">
              <a:defRPr sz="2100" b="1">
                <a:solidFill>
                  <a:srgbClr val="007F82"/>
                </a:solidFill>
                <a:latin typeface="Helvetica Neue"/>
                <a:ea typeface="Helvetica Neue"/>
                <a:cs typeface="Helvetica Neue"/>
              </a:defRPr>
            </a:lvl7pPr>
            <a:lvl8pPr algn="l">
              <a:defRPr sz="2100" b="1">
                <a:solidFill>
                  <a:srgbClr val="007F82"/>
                </a:solidFill>
                <a:latin typeface="Helvetica Neue"/>
                <a:ea typeface="Helvetica Neue"/>
                <a:cs typeface="Helvetica Neue"/>
              </a:defRPr>
            </a:lvl8pPr>
            <a:lvl9pPr algn="l">
              <a:defRPr sz="2100" b="1">
                <a:solidFill>
                  <a:srgbClr val="007F82"/>
                </a:solidFill>
                <a:latin typeface="Helvetica Neue"/>
                <a:ea typeface="Helvetica Neue"/>
                <a:cs typeface="Helvetica Neue"/>
              </a:defRPr>
            </a:lvl9pPr>
          </a:lstStyle>
          <a:p>
            <a:pPr algn="l">
              <a:defRPr sz="2100" b="1">
                <a:solidFill>
                  <a:srgbClr val="007F82"/>
                </a:solidFill>
                <a:latin typeface="Helvetica Neue"/>
                <a:ea typeface="Helvetica Neue"/>
                <a:cs typeface="Helvetica Neue"/>
              </a:defRPr>
            </a:pPr>
            <a:r>
              <a:rPr sz="2100" b="1">
                <a:solidFill>
                  <a:srgbClr val="007F82"/>
                </a:solidFill>
                <a:latin typeface="Helvetica Neue"/>
                <a:ea typeface="Helvetica Neue"/>
                <a:cs typeface="Helvetica Neue"/>
              </a:rPr>
              <a:t>•</a:t>
            </a:r>
          </a:p>
        </p:txBody>
      </p:sp>
      <p:sp>
        <p:nvSpPr>
          <p:cNvPr id="9" name="Rectangle 8">
            <a:extLst>
              <a:ext uri="{FF2B5EF4-FFF2-40B4-BE49-F238E27FC236}">
                <a16:creationId xmlns:a16="http://schemas.microsoft.com/office/drawing/2014/main" id="{F8021974-EE6C-47C6-8257-35AE29273C00}"/>
              </a:ext>
            </a:extLst>
          </p:cNvPr>
          <p:cNvSpPr>
            <a:spLocks noGrp="1"/>
          </p:cNvSpPr>
          <p:nvPr/>
        </p:nvSpPr>
        <p:spPr>
          <a:xfrm>
            <a:off x="1000125" y="4457700"/>
            <a:ext cx="10334625" cy="723900"/>
          </a:xfrm>
          <a:prstGeom prst="rect">
            <a:avLst/>
          </a:prstGeom>
          <a:noFill/>
          <a:ln w="0">
            <a:noFill/>
          </a:ln>
        </p:spPr>
        <p:txBody>
          <a:bodyPr lIns="0" tIns="0" rIns="0" bIns="0" anchor="t">
            <a:noAutofit/>
          </a:bodyPr>
          <a:lstStyle>
            <a:defPPr algn="l">
              <a:defRPr sz="2100" b="0">
                <a:solidFill>
                  <a:srgbClr val="142D4E"/>
                </a:solidFill>
                <a:latin typeface="Helvetica Neue"/>
                <a:ea typeface="Helvetica Neue"/>
                <a:cs typeface="Helvetica Neue"/>
              </a:defRPr>
            </a:defPPr>
            <a:lvl1pPr algn="l">
              <a:defRPr sz="2100" b="0">
                <a:solidFill>
                  <a:srgbClr val="142D4E"/>
                </a:solidFill>
                <a:latin typeface="Helvetica Neue"/>
                <a:ea typeface="Helvetica Neue"/>
                <a:cs typeface="Helvetica Neue"/>
              </a:defRPr>
            </a:lvl1pPr>
            <a:lvl2pPr algn="l">
              <a:defRPr sz="2100" b="0">
                <a:solidFill>
                  <a:srgbClr val="142D4E"/>
                </a:solidFill>
                <a:latin typeface="Helvetica Neue"/>
                <a:ea typeface="Helvetica Neue"/>
                <a:cs typeface="Helvetica Neue"/>
              </a:defRPr>
            </a:lvl2pPr>
            <a:lvl3pPr algn="l">
              <a:defRPr sz="2100" b="0">
                <a:solidFill>
                  <a:srgbClr val="142D4E"/>
                </a:solidFill>
                <a:latin typeface="Helvetica Neue"/>
                <a:ea typeface="Helvetica Neue"/>
                <a:cs typeface="Helvetica Neue"/>
              </a:defRPr>
            </a:lvl3pPr>
            <a:lvl4pPr algn="l">
              <a:defRPr sz="2100" b="0">
                <a:solidFill>
                  <a:srgbClr val="142D4E"/>
                </a:solidFill>
                <a:latin typeface="Helvetica Neue"/>
                <a:ea typeface="Helvetica Neue"/>
                <a:cs typeface="Helvetica Neue"/>
              </a:defRPr>
            </a:lvl4pPr>
            <a:lvl5pPr algn="l">
              <a:defRPr sz="2100" b="0">
                <a:solidFill>
                  <a:srgbClr val="142D4E"/>
                </a:solidFill>
                <a:latin typeface="Helvetica Neue"/>
                <a:ea typeface="Helvetica Neue"/>
                <a:cs typeface="Helvetica Neue"/>
              </a:defRPr>
            </a:lvl5pPr>
            <a:lvl6pPr algn="l">
              <a:defRPr sz="2100" b="0">
                <a:solidFill>
                  <a:srgbClr val="142D4E"/>
                </a:solidFill>
                <a:latin typeface="Helvetica Neue"/>
                <a:ea typeface="Helvetica Neue"/>
                <a:cs typeface="Helvetica Neue"/>
              </a:defRPr>
            </a:lvl6pPr>
            <a:lvl7pPr algn="l">
              <a:defRPr sz="2100" b="0">
                <a:solidFill>
                  <a:srgbClr val="142D4E"/>
                </a:solidFill>
                <a:latin typeface="Helvetica Neue"/>
                <a:ea typeface="Helvetica Neue"/>
                <a:cs typeface="Helvetica Neue"/>
              </a:defRPr>
            </a:lvl7pPr>
            <a:lvl8pPr algn="l">
              <a:defRPr sz="2100" b="0">
                <a:solidFill>
                  <a:srgbClr val="142D4E"/>
                </a:solidFill>
                <a:latin typeface="Helvetica Neue"/>
                <a:ea typeface="Helvetica Neue"/>
                <a:cs typeface="Helvetica Neue"/>
              </a:defRPr>
            </a:lvl8pPr>
            <a:lvl9pPr algn="l">
              <a:defRPr sz="2100" b="0">
                <a:solidFill>
                  <a:srgbClr val="142D4E"/>
                </a:solidFill>
                <a:latin typeface="Helvetica Neue"/>
                <a:ea typeface="Helvetica Neue"/>
                <a:cs typeface="Helvetica Neue"/>
              </a:defRPr>
            </a:lvl9pPr>
          </a:lstStyle>
          <a:p>
            <a:pPr algn="l">
              <a:defRPr sz="2100" b="0">
                <a:solidFill>
                  <a:srgbClr val="142D4E"/>
                </a:solidFill>
                <a:latin typeface="Helvetica Neue"/>
                <a:ea typeface="Helvetica Neue"/>
                <a:cs typeface="Helvetica Neue"/>
              </a:defRPr>
            </a:pPr>
            <a:r>
              <a:rPr sz="2100" b="0" dirty="0">
                <a:solidFill>
                  <a:srgbClr val="142D4E"/>
                </a:solidFill>
                <a:latin typeface="Helvetica Neue"/>
                <a:ea typeface="Helvetica Neue"/>
                <a:cs typeface="Helvetica Neue"/>
              </a:rPr>
              <a:t>No business KPI, numerical acceptance threshold or baseline victory is documented</a:t>
            </a:r>
          </a:p>
        </p:txBody>
      </p:sp>
      <p:sp>
        <p:nvSpPr>
          <p:cNvPr id="10" name="Rectangle 9">
            <a:extLst>
              <a:ext uri="{FF2B5EF4-FFF2-40B4-BE49-F238E27FC236}">
                <a16:creationId xmlns:a16="http://schemas.microsoft.com/office/drawing/2014/main" id="{C8B7345E-ACB0-4B8F-939A-6B30B17C77DC}"/>
              </a:ext>
            </a:extLst>
          </p:cNvPr>
          <p:cNvSpPr>
            <a:spLocks noGrp="1"/>
          </p:cNvSpPr>
          <p:nvPr/>
        </p:nvSpPr>
        <p:spPr>
          <a:xfrm>
            <a:off x="666750" y="5791200"/>
            <a:ext cx="10668000" cy="476250"/>
          </a:xfrm>
          <a:prstGeom prst="rect">
            <a:avLst/>
          </a:prstGeom>
          <a:noFill/>
          <a:ln w="0">
            <a:noFill/>
          </a:ln>
        </p:spPr>
        <p:txBody>
          <a:bodyPr lIns="0" tIns="0" rIns="0" bIns="0" anchor="t">
            <a:noAutofit/>
          </a:bodyPr>
          <a:lstStyle>
            <a:defPPr algn="l">
              <a:defRPr sz="1875" b="1">
                <a:solidFill>
                  <a:srgbClr val="007F82"/>
                </a:solidFill>
                <a:latin typeface="Helvetica Neue"/>
                <a:ea typeface="Helvetica Neue"/>
                <a:cs typeface="Helvetica Neue"/>
              </a:defRPr>
            </a:defPPr>
            <a:lvl1pPr algn="l">
              <a:defRPr sz="1875" b="1">
                <a:solidFill>
                  <a:srgbClr val="007F82"/>
                </a:solidFill>
                <a:latin typeface="Helvetica Neue"/>
                <a:ea typeface="Helvetica Neue"/>
                <a:cs typeface="Helvetica Neue"/>
              </a:defRPr>
            </a:lvl1pPr>
            <a:lvl2pPr algn="l">
              <a:defRPr sz="1875" b="1">
                <a:solidFill>
                  <a:srgbClr val="007F82"/>
                </a:solidFill>
                <a:latin typeface="Helvetica Neue"/>
                <a:ea typeface="Helvetica Neue"/>
                <a:cs typeface="Helvetica Neue"/>
              </a:defRPr>
            </a:lvl2pPr>
            <a:lvl3pPr algn="l">
              <a:defRPr sz="1875" b="1">
                <a:solidFill>
                  <a:srgbClr val="007F82"/>
                </a:solidFill>
                <a:latin typeface="Helvetica Neue"/>
                <a:ea typeface="Helvetica Neue"/>
                <a:cs typeface="Helvetica Neue"/>
              </a:defRPr>
            </a:lvl3pPr>
            <a:lvl4pPr algn="l">
              <a:defRPr sz="1875" b="1">
                <a:solidFill>
                  <a:srgbClr val="007F82"/>
                </a:solidFill>
                <a:latin typeface="Helvetica Neue"/>
                <a:ea typeface="Helvetica Neue"/>
                <a:cs typeface="Helvetica Neue"/>
              </a:defRPr>
            </a:lvl4pPr>
            <a:lvl5pPr algn="l">
              <a:defRPr sz="1875" b="1">
                <a:solidFill>
                  <a:srgbClr val="007F82"/>
                </a:solidFill>
                <a:latin typeface="Helvetica Neue"/>
                <a:ea typeface="Helvetica Neue"/>
                <a:cs typeface="Helvetica Neue"/>
              </a:defRPr>
            </a:lvl5pPr>
            <a:lvl6pPr algn="l">
              <a:defRPr sz="1875" b="1">
                <a:solidFill>
                  <a:srgbClr val="007F82"/>
                </a:solidFill>
                <a:latin typeface="Helvetica Neue"/>
                <a:ea typeface="Helvetica Neue"/>
                <a:cs typeface="Helvetica Neue"/>
              </a:defRPr>
            </a:lvl6pPr>
            <a:lvl7pPr algn="l">
              <a:defRPr sz="1875" b="1">
                <a:solidFill>
                  <a:srgbClr val="007F82"/>
                </a:solidFill>
                <a:latin typeface="Helvetica Neue"/>
                <a:ea typeface="Helvetica Neue"/>
                <a:cs typeface="Helvetica Neue"/>
              </a:defRPr>
            </a:lvl7pPr>
            <a:lvl8pPr algn="l">
              <a:defRPr sz="1875" b="1">
                <a:solidFill>
                  <a:srgbClr val="007F82"/>
                </a:solidFill>
                <a:latin typeface="Helvetica Neue"/>
                <a:ea typeface="Helvetica Neue"/>
                <a:cs typeface="Helvetica Neue"/>
              </a:defRPr>
            </a:lvl8pPr>
            <a:lvl9pPr algn="l">
              <a:defRPr sz="1875" b="1">
                <a:solidFill>
                  <a:srgbClr val="007F82"/>
                </a:solidFill>
                <a:latin typeface="Helvetica Neue"/>
                <a:ea typeface="Helvetica Neue"/>
                <a:cs typeface="Helvetica Neue"/>
              </a:defRPr>
            </a:lvl9pPr>
          </a:lstStyle>
          <a:p>
            <a:pPr algn="l">
              <a:defRPr sz="1875" b="1">
                <a:solidFill>
                  <a:srgbClr val="007F82"/>
                </a:solidFill>
                <a:latin typeface="Helvetica Neue"/>
                <a:ea typeface="Helvetica Neue"/>
                <a:cs typeface="Helvetica Neue"/>
              </a:defRPr>
            </a:pPr>
            <a:r>
              <a:rPr sz="1875" b="1">
                <a:solidFill>
                  <a:srgbClr val="007F82"/>
                </a:solidFill>
                <a:latin typeface="Helvetica Neue"/>
                <a:ea typeface="Helvetica Neue"/>
                <a:cs typeface="Helvetica Neue"/>
              </a:rPr>
              <a:t>Current outcome: a trained prototype with incomplete comparative evaluation</a:t>
            </a:r>
          </a:p>
        </p:txBody>
      </p:sp>
    </p:spTree>
    <p:extLst>
      <p:ext uri="{BB962C8B-B14F-4D97-AF65-F5344CB8AC3E}">
        <p14:creationId xmlns:p14="http://schemas.microsoft.com/office/powerpoint/2010/main" val="127097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F790B13-A564-4D18-883D-72708E8D7758}"/>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CIFAR-10 image data</a:t>
            </a:r>
          </a:p>
        </p:txBody>
      </p:sp>
      <p:sp>
        <p:nvSpPr>
          <p:cNvPr id="2" name="Rectangle 1">
            <a:extLst>
              <a:ext uri="{FF2B5EF4-FFF2-40B4-BE49-F238E27FC236}">
                <a16:creationId xmlns:a16="http://schemas.microsoft.com/office/drawing/2014/main" id="{D73E1010-95D5-4FE4-96DE-47E96CBD48D4}"/>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04</a:t>
            </a:r>
          </a:p>
        </p:txBody>
      </p:sp>
      <p:sp>
        <p:nvSpPr>
          <p:cNvPr id="4" name="Rectangle 3">
            <a:extLst>
              <a:ext uri="{FF2B5EF4-FFF2-40B4-BE49-F238E27FC236}">
                <a16:creationId xmlns:a16="http://schemas.microsoft.com/office/drawing/2014/main" id="{7121436C-3CE2-4378-9855-8DB780C02174}"/>
              </a:ext>
            </a:extLst>
          </p:cNvPr>
          <p:cNvSpPr>
            <a:spLocks noGrp="1"/>
          </p:cNvSpPr>
          <p:nvPr/>
        </p:nvSpPr>
        <p:spPr>
          <a:xfrm>
            <a:off x="666750" y="1666875"/>
            <a:ext cx="4000500" cy="762000"/>
          </a:xfrm>
          <a:prstGeom prst="rect">
            <a:avLst/>
          </a:prstGeom>
          <a:noFill/>
          <a:ln w="0">
            <a:noFill/>
          </a:ln>
        </p:spPr>
        <p:txBody>
          <a:bodyPr lIns="0" tIns="0" rIns="0" bIns="0" anchor="t">
            <a:noAutofit/>
          </a:bodyPr>
          <a:lstStyle>
            <a:defPPr algn="l">
              <a:defRPr sz="4500" b="1">
                <a:solidFill>
                  <a:srgbClr val="007F82"/>
                </a:solidFill>
                <a:latin typeface="Helvetica Neue"/>
                <a:ea typeface="Helvetica Neue"/>
                <a:cs typeface="Helvetica Neue"/>
              </a:defRPr>
            </a:defPPr>
            <a:lvl1pPr algn="l">
              <a:defRPr sz="4500" b="1">
                <a:solidFill>
                  <a:srgbClr val="007F82"/>
                </a:solidFill>
                <a:latin typeface="Helvetica Neue"/>
                <a:ea typeface="Helvetica Neue"/>
                <a:cs typeface="Helvetica Neue"/>
              </a:defRPr>
            </a:lvl1pPr>
            <a:lvl2pPr algn="l">
              <a:defRPr sz="4500" b="1">
                <a:solidFill>
                  <a:srgbClr val="007F82"/>
                </a:solidFill>
                <a:latin typeface="Helvetica Neue"/>
                <a:ea typeface="Helvetica Neue"/>
                <a:cs typeface="Helvetica Neue"/>
              </a:defRPr>
            </a:lvl2pPr>
            <a:lvl3pPr algn="l">
              <a:defRPr sz="4500" b="1">
                <a:solidFill>
                  <a:srgbClr val="007F82"/>
                </a:solidFill>
                <a:latin typeface="Helvetica Neue"/>
                <a:ea typeface="Helvetica Neue"/>
                <a:cs typeface="Helvetica Neue"/>
              </a:defRPr>
            </a:lvl3pPr>
            <a:lvl4pPr algn="l">
              <a:defRPr sz="4500" b="1">
                <a:solidFill>
                  <a:srgbClr val="007F82"/>
                </a:solidFill>
                <a:latin typeface="Helvetica Neue"/>
                <a:ea typeface="Helvetica Neue"/>
                <a:cs typeface="Helvetica Neue"/>
              </a:defRPr>
            </a:lvl4pPr>
            <a:lvl5pPr algn="l">
              <a:defRPr sz="4500" b="1">
                <a:solidFill>
                  <a:srgbClr val="007F82"/>
                </a:solidFill>
                <a:latin typeface="Helvetica Neue"/>
                <a:ea typeface="Helvetica Neue"/>
                <a:cs typeface="Helvetica Neue"/>
              </a:defRPr>
            </a:lvl5pPr>
            <a:lvl6pPr algn="l">
              <a:defRPr sz="4500" b="1">
                <a:solidFill>
                  <a:srgbClr val="007F82"/>
                </a:solidFill>
                <a:latin typeface="Helvetica Neue"/>
                <a:ea typeface="Helvetica Neue"/>
                <a:cs typeface="Helvetica Neue"/>
              </a:defRPr>
            </a:lvl6pPr>
            <a:lvl7pPr algn="l">
              <a:defRPr sz="4500" b="1">
                <a:solidFill>
                  <a:srgbClr val="007F82"/>
                </a:solidFill>
                <a:latin typeface="Helvetica Neue"/>
                <a:ea typeface="Helvetica Neue"/>
                <a:cs typeface="Helvetica Neue"/>
              </a:defRPr>
            </a:lvl7pPr>
            <a:lvl8pPr algn="l">
              <a:defRPr sz="4500" b="1">
                <a:solidFill>
                  <a:srgbClr val="007F82"/>
                </a:solidFill>
                <a:latin typeface="Helvetica Neue"/>
                <a:ea typeface="Helvetica Neue"/>
                <a:cs typeface="Helvetica Neue"/>
              </a:defRPr>
            </a:lvl8pPr>
            <a:lvl9pPr algn="l">
              <a:defRPr sz="4500" b="1">
                <a:solidFill>
                  <a:srgbClr val="007F82"/>
                </a:solidFill>
                <a:latin typeface="Helvetica Neue"/>
                <a:ea typeface="Helvetica Neue"/>
                <a:cs typeface="Helvetica Neue"/>
              </a:defRPr>
            </a:lvl9pPr>
          </a:lstStyle>
          <a:p>
            <a:pPr algn="l">
              <a:defRPr sz="4500" b="1">
                <a:solidFill>
                  <a:srgbClr val="007F82"/>
                </a:solidFill>
                <a:latin typeface="Helvetica Neue"/>
                <a:ea typeface="Helvetica Neue"/>
                <a:cs typeface="Helvetica Neue"/>
              </a:defRPr>
            </a:pPr>
            <a:r>
              <a:rPr sz="4500" b="1">
                <a:solidFill>
                  <a:srgbClr val="007F82"/>
                </a:solidFill>
                <a:latin typeface="Helvetica Neue"/>
                <a:ea typeface="Helvetica Neue"/>
                <a:cs typeface="Helvetica Neue"/>
              </a:rPr>
              <a:t>50,000</a:t>
            </a:r>
          </a:p>
        </p:txBody>
      </p:sp>
      <p:sp>
        <p:nvSpPr>
          <p:cNvPr id="5" name="Rectangle 4">
            <a:extLst>
              <a:ext uri="{FF2B5EF4-FFF2-40B4-BE49-F238E27FC236}">
                <a16:creationId xmlns:a16="http://schemas.microsoft.com/office/drawing/2014/main" id="{D19D9367-8901-441F-8850-E8A284A4149A}"/>
              </a:ext>
            </a:extLst>
          </p:cNvPr>
          <p:cNvSpPr>
            <a:spLocks noGrp="1"/>
          </p:cNvSpPr>
          <p:nvPr/>
        </p:nvSpPr>
        <p:spPr>
          <a:xfrm>
            <a:off x="666750" y="2476500"/>
            <a:ext cx="4572000" cy="457200"/>
          </a:xfrm>
          <a:prstGeom prst="rect">
            <a:avLst/>
          </a:prstGeom>
          <a:noFill/>
          <a:ln w="0">
            <a:noFill/>
          </a:ln>
        </p:spPr>
        <p:txBody>
          <a:bodyPr lIns="0" tIns="0" rIns="0" bIns="0" anchor="t">
            <a:noAutofit/>
          </a:bodyPr>
          <a:lstStyle>
            <a:defPPr algn="l">
              <a:defRPr sz="1950" b="0">
                <a:solidFill>
                  <a:srgbClr val="142D4E"/>
                </a:solidFill>
                <a:latin typeface="Helvetica Neue"/>
                <a:ea typeface="Helvetica Neue"/>
                <a:cs typeface="Helvetica Neue"/>
              </a:defRPr>
            </a:defPPr>
            <a:lvl1pPr algn="l">
              <a:defRPr sz="1950" b="0">
                <a:solidFill>
                  <a:srgbClr val="142D4E"/>
                </a:solidFill>
                <a:latin typeface="Helvetica Neue"/>
                <a:ea typeface="Helvetica Neue"/>
                <a:cs typeface="Helvetica Neue"/>
              </a:defRPr>
            </a:lvl1pPr>
            <a:lvl2pPr algn="l">
              <a:defRPr sz="1950" b="0">
                <a:solidFill>
                  <a:srgbClr val="142D4E"/>
                </a:solidFill>
                <a:latin typeface="Helvetica Neue"/>
                <a:ea typeface="Helvetica Neue"/>
                <a:cs typeface="Helvetica Neue"/>
              </a:defRPr>
            </a:lvl2pPr>
            <a:lvl3pPr algn="l">
              <a:defRPr sz="1950" b="0">
                <a:solidFill>
                  <a:srgbClr val="142D4E"/>
                </a:solidFill>
                <a:latin typeface="Helvetica Neue"/>
                <a:ea typeface="Helvetica Neue"/>
                <a:cs typeface="Helvetica Neue"/>
              </a:defRPr>
            </a:lvl3pPr>
            <a:lvl4pPr algn="l">
              <a:defRPr sz="1950" b="0">
                <a:solidFill>
                  <a:srgbClr val="142D4E"/>
                </a:solidFill>
                <a:latin typeface="Helvetica Neue"/>
                <a:ea typeface="Helvetica Neue"/>
                <a:cs typeface="Helvetica Neue"/>
              </a:defRPr>
            </a:lvl4pPr>
            <a:lvl5pPr algn="l">
              <a:defRPr sz="1950" b="0">
                <a:solidFill>
                  <a:srgbClr val="142D4E"/>
                </a:solidFill>
                <a:latin typeface="Helvetica Neue"/>
                <a:ea typeface="Helvetica Neue"/>
                <a:cs typeface="Helvetica Neue"/>
              </a:defRPr>
            </a:lvl5pPr>
            <a:lvl6pPr algn="l">
              <a:defRPr sz="1950" b="0">
                <a:solidFill>
                  <a:srgbClr val="142D4E"/>
                </a:solidFill>
                <a:latin typeface="Helvetica Neue"/>
                <a:ea typeface="Helvetica Neue"/>
                <a:cs typeface="Helvetica Neue"/>
              </a:defRPr>
            </a:lvl6pPr>
            <a:lvl7pPr algn="l">
              <a:defRPr sz="1950" b="0">
                <a:solidFill>
                  <a:srgbClr val="142D4E"/>
                </a:solidFill>
                <a:latin typeface="Helvetica Neue"/>
                <a:ea typeface="Helvetica Neue"/>
                <a:cs typeface="Helvetica Neue"/>
              </a:defRPr>
            </a:lvl7pPr>
            <a:lvl8pPr algn="l">
              <a:defRPr sz="1950" b="0">
                <a:solidFill>
                  <a:srgbClr val="142D4E"/>
                </a:solidFill>
                <a:latin typeface="Helvetica Neue"/>
                <a:ea typeface="Helvetica Neue"/>
                <a:cs typeface="Helvetica Neue"/>
              </a:defRPr>
            </a:lvl8pPr>
            <a:lvl9pPr algn="l">
              <a:defRPr sz="1950" b="0">
                <a:solidFill>
                  <a:srgbClr val="142D4E"/>
                </a:solidFill>
                <a:latin typeface="Helvetica Neue"/>
                <a:ea typeface="Helvetica Neue"/>
                <a:cs typeface="Helvetica Neue"/>
              </a:defRPr>
            </a:lvl9pPr>
          </a:lstStyle>
          <a:p>
            <a:pPr algn="l">
              <a:defRPr sz="1950" b="0">
                <a:solidFill>
                  <a:srgbClr val="142D4E"/>
                </a:solidFill>
                <a:latin typeface="Helvetica Neue"/>
                <a:ea typeface="Helvetica Neue"/>
                <a:cs typeface="Helvetica Neue"/>
              </a:defRPr>
            </a:pPr>
            <a:r>
              <a:rPr sz="1950" b="0">
                <a:solidFill>
                  <a:srgbClr val="142D4E"/>
                </a:solidFill>
                <a:latin typeface="Helvetica Neue"/>
                <a:ea typeface="Helvetica Neue"/>
                <a:cs typeface="Helvetica Neue"/>
              </a:rPr>
              <a:t>images in the loaded partition</a:t>
            </a:r>
          </a:p>
        </p:txBody>
      </p:sp>
      <p:sp>
        <p:nvSpPr>
          <p:cNvPr id="6" name="Rectangle 5">
            <a:extLst>
              <a:ext uri="{FF2B5EF4-FFF2-40B4-BE49-F238E27FC236}">
                <a16:creationId xmlns:a16="http://schemas.microsoft.com/office/drawing/2014/main" id="{87EFAD25-A503-4730-A87E-5DD2BF67DF25}"/>
              </a:ext>
            </a:extLst>
          </p:cNvPr>
          <p:cNvSpPr>
            <a:spLocks noGrp="1"/>
          </p:cNvSpPr>
          <p:nvPr/>
        </p:nvSpPr>
        <p:spPr>
          <a:xfrm>
            <a:off x="666750" y="3333750"/>
            <a:ext cx="4572000" cy="571500"/>
          </a:xfrm>
          <a:prstGeom prst="rect">
            <a:avLst/>
          </a:prstGeom>
          <a:noFill/>
          <a:ln w="0">
            <a:noFill/>
          </a:ln>
        </p:spPr>
        <p:txBody>
          <a:bodyPr lIns="0" tIns="0" rIns="0" bIns="0" anchor="t">
            <a:noAutofit/>
          </a:bodyPr>
          <a:lstStyle>
            <a:defPPr algn="l">
              <a:defRPr sz="3150" b="1">
                <a:solidFill>
                  <a:srgbClr val="142D4E"/>
                </a:solidFill>
                <a:latin typeface="Helvetica Neue"/>
                <a:ea typeface="Helvetica Neue"/>
                <a:cs typeface="Helvetica Neue"/>
              </a:defRPr>
            </a:defPPr>
            <a:lvl1pPr algn="l">
              <a:defRPr sz="3150" b="1">
                <a:solidFill>
                  <a:srgbClr val="142D4E"/>
                </a:solidFill>
                <a:latin typeface="Helvetica Neue"/>
                <a:ea typeface="Helvetica Neue"/>
                <a:cs typeface="Helvetica Neue"/>
              </a:defRPr>
            </a:lvl1pPr>
            <a:lvl2pPr algn="l">
              <a:defRPr sz="3150" b="1">
                <a:solidFill>
                  <a:srgbClr val="142D4E"/>
                </a:solidFill>
                <a:latin typeface="Helvetica Neue"/>
                <a:ea typeface="Helvetica Neue"/>
                <a:cs typeface="Helvetica Neue"/>
              </a:defRPr>
            </a:lvl2pPr>
            <a:lvl3pPr algn="l">
              <a:defRPr sz="3150" b="1">
                <a:solidFill>
                  <a:srgbClr val="142D4E"/>
                </a:solidFill>
                <a:latin typeface="Helvetica Neue"/>
                <a:ea typeface="Helvetica Neue"/>
                <a:cs typeface="Helvetica Neue"/>
              </a:defRPr>
            </a:lvl3pPr>
            <a:lvl4pPr algn="l">
              <a:defRPr sz="3150" b="1">
                <a:solidFill>
                  <a:srgbClr val="142D4E"/>
                </a:solidFill>
                <a:latin typeface="Helvetica Neue"/>
                <a:ea typeface="Helvetica Neue"/>
                <a:cs typeface="Helvetica Neue"/>
              </a:defRPr>
            </a:lvl4pPr>
            <a:lvl5pPr algn="l">
              <a:defRPr sz="3150" b="1">
                <a:solidFill>
                  <a:srgbClr val="142D4E"/>
                </a:solidFill>
                <a:latin typeface="Helvetica Neue"/>
                <a:ea typeface="Helvetica Neue"/>
                <a:cs typeface="Helvetica Neue"/>
              </a:defRPr>
            </a:lvl5pPr>
            <a:lvl6pPr algn="l">
              <a:defRPr sz="3150" b="1">
                <a:solidFill>
                  <a:srgbClr val="142D4E"/>
                </a:solidFill>
                <a:latin typeface="Helvetica Neue"/>
                <a:ea typeface="Helvetica Neue"/>
                <a:cs typeface="Helvetica Neue"/>
              </a:defRPr>
            </a:lvl6pPr>
            <a:lvl7pPr algn="l">
              <a:defRPr sz="3150" b="1">
                <a:solidFill>
                  <a:srgbClr val="142D4E"/>
                </a:solidFill>
                <a:latin typeface="Helvetica Neue"/>
                <a:ea typeface="Helvetica Neue"/>
                <a:cs typeface="Helvetica Neue"/>
              </a:defRPr>
            </a:lvl7pPr>
            <a:lvl8pPr algn="l">
              <a:defRPr sz="3150" b="1">
                <a:solidFill>
                  <a:srgbClr val="142D4E"/>
                </a:solidFill>
                <a:latin typeface="Helvetica Neue"/>
                <a:ea typeface="Helvetica Neue"/>
                <a:cs typeface="Helvetica Neue"/>
              </a:defRPr>
            </a:lvl8pPr>
            <a:lvl9pPr algn="l">
              <a:defRPr sz="3150" b="1">
                <a:solidFill>
                  <a:srgbClr val="142D4E"/>
                </a:solidFill>
                <a:latin typeface="Helvetica Neue"/>
                <a:ea typeface="Helvetica Neue"/>
                <a:cs typeface="Helvetica Neue"/>
              </a:defRPr>
            </a:lvl9pPr>
          </a:lstStyle>
          <a:p>
            <a:pPr algn="l">
              <a:defRPr sz="3150" b="1">
                <a:solidFill>
                  <a:srgbClr val="142D4E"/>
                </a:solidFill>
                <a:latin typeface="Helvetica Neue"/>
                <a:ea typeface="Helvetica Neue"/>
                <a:cs typeface="Helvetica Neue"/>
              </a:defRPr>
            </a:pPr>
            <a:r>
              <a:rPr sz="3150" b="1">
                <a:solidFill>
                  <a:srgbClr val="142D4E"/>
                </a:solidFill>
                <a:latin typeface="Helvetica Neue"/>
                <a:ea typeface="Helvetica Neue"/>
                <a:cs typeface="Helvetica Neue"/>
              </a:rPr>
              <a:t>32 × 32 × 3</a:t>
            </a:r>
          </a:p>
        </p:txBody>
      </p:sp>
      <p:sp>
        <p:nvSpPr>
          <p:cNvPr id="7" name="Rectangle 6">
            <a:extLst>
              <a:ext uri="{FF2B5EF4-FFF2-40B4-BE49-F238E27FC236}">
                <a16:creationId xmlns:a16="http://schemas.microsoft.com/office/drawing/2014/main" id="{AFBE27D0-796A-4F03-8D17-1CF2EA3F5237}"/>
              </a:ext>
            </a:extLst>
          </p:cNvPr>
          <p:cNvSpPr>
            <a:spLocks noGrp="1"/>
          </p:cNvSpPr>
          <p:nvPr/>
        </p:nvSpPr>
        <p:spPr>
          <a:xfrm>
            <a:off x="666750" y="4000500"/>
            <a:ext cx="4572000" cy="457200"/>
          </a:xfrm>
          <a:prstGeom prst="rect">
            <a:avLst/>
          </a:prstGeom>
          <a:noFill/>
          <a:ln w="0">
            <a:noFill/>
          </a:ln>
        </p:spPr>
        <p:txBody>
          <a:bodyPr lIns="0" tIns="0" rIns="0" bIns="0" anchor="t">
            <a:noAutofit/>
          </a:bodyPr>
          <a:lstStyle>
            <a:defPPr algn="l">
              <a:defRPr sz="1875" b="0">
                <a:solidFill>
                  <a:srgbClr val="142D4E"/>
                </a:solidFill>
                <a:latin typeface="Helvetica Neue"/>
                <a:ea typeface="Helvetica Neue"/>
                <a:cs typeface="Helvetica Neue"/>
              </a:defRPr>
            </a:defPPr>
            <a:lvl1pPr algn="l">
              <a:defRPr sz="1875" b="0">
                <a:solidFill>
                  <a:srgbClr val="142D4E"/>
                </a:solidFill>
                <a:latin typeface="Helvetica Neue"/>
                <a:ea typeface="Helvetica Neue"/>
                <a:cs typeface="Helvetica Neue"/>
              </a:defRPr>
            </a:lvl1pPr>
            <a:lvl2pPr algn="l">
              <a:defRPr sz="1875" b="0">
                <a:solidFill>
                  <a:srgbClr val="142D4E"/>
                </a:solidFill>
                <a:latin typeface="Helvetica Neue"/>
                <a:ea typeface="Helvetica Neue"/>
                <a:cs typeface="Helvetica Neue"/>
              </a:defRPr>
            </a:lvl2pPr>
            <a:lvl3pPr algn="l">
              <a:defRPr sz="1875" b="0">
                <a:solidFill>
                  <a:srgbClr val="142D4E"/>
                </a:solidFill>
                <a:latin typeface="Helvetica Neue"/>
                <a:ea typeface="Helvetica Neue"/>
                <a:cs typeface="Helvetica Neue"/>
              </a:defRPr>
            </a:lvl3pPr>
            <a:lvl4pPr algn="l">
              <a:defRPr sz="1875" b="0">
                <a:solidFill>
                  <a:srgbClr val="142D4E"/>
                </a:solidFill>
                <a:latin typeface="Helvetica Neue"/>
                <a:ea typeface="Helvetica Neue"/>
                <a:cs typeface="Helvetica Neue"/>
              </a:defRPr>
            </a:lvl4pPr>
            <a:lvl5pPr algn="l">
              <a:defRPr sz="1875" b="0">
                <a:solidFill>
                  <a:srgbClr val="142D4E"/>
                </a:solidFill>
                <a:latin typeface="Helvetica Neue"/>
                <a:ea typeface="Helvetica Neue"/>
                <a:cs typeface="Helvetica Neue"/>
              </a:defRPr>
            </a:lvl5pPr>
            <a:lvl6pPr algn="l">
              <a:defRPr sz="1875" b="0">
                <a:solidFill>
                  <a:srgbClr val="142D4E"/>
                </a:solidFill>
                <a:latin typeface="Helvetica Neue"/>
                <a:ea typeface="Helvetica Neue"/>
                <a:cs typeface="Helvetica Neue"/>
              </a:defRPr>
            </a:lvl6pPr>
            <a:lvl7pPr algn="l">
              <a:defRPr sz="1875" b="0">
                <a:solidFill>
                  <a:srgbClr val="142D4E"/>
                </a:solidFill>
                <a:latin typeface="Helvetica Neue"/>
                <a:ea typeface="Helvetica Neue"/>
                <a:cs typeface="Helvetica Neue"/>
              </a:defRPr>
            </a:lvl7pPr>
            <a:lvl8pPr algn="l">
              <a:defRPr sz="1875" b="0">
                <a:solidFill>
                  <a:srgbClr val="142D4E"/>
                </a:solidFill>
                <a:latin typeface="Helvetica Neue"/>
                <a:ea typeface="Helvetica Neue"/>
                <a:cs typeface="Helvetica Neue"/>
              </a:defRPr>
            </a:lvl8pPr>
            <a:lvl9pPr algn="l">
              <a:defRPr sz="1875" b="0">
                <a:solidFill>
                  <a:srgbClr val="142D4E"/>
                </a:solidFill>
                <a:latin typeface="Helvetica Neue"/>
                <a:ea typeface="Helvetica Neue"/>
                <a:cs typeface="Helvetica Neue"/>
              </a:defRPr>
            </a:lvl9pPr>
          </a:lstStyle>
          <a:p>
            <a:pPr algn="l">
              <a:defRPr sz="1875" b="0">
                <a:solidFill>
                  <a:srgbClr val="142D4E"/>
                </a:solidFill>
                <a:latin typeface="Helvetica Neue"/>
                <a:ea typeface="Helvetica Neue"/>
                <a:cs typeface="Helvetica Neue"/>
              </a:defRPr>
            </a:pPr>
            <a:r>
              <a:rPr sz="1875" b="0">
                <a:solidFill>
                  <a:srgbClr val="142D4E"/>
                </a:solidFill>
                <a:latin typeface="Helvetica Neue"/>
                <a:ea typeface="Helvetica Neue"/>
                <a:cs typeface="Helvetica Neue"/>
              </a:rPr>
              <a:t>RGB pixels, uint8 values 0–255</a:t>
            </a:r>
          </a:p>
        </p:txBody>
      </p:sp>
      <p:sp>
        <p:nvSpPr>
          <p:cNvPr id="8" name="Rectangle 7">
            <a:extLst>
              <a:ext uri="{FF2B5EF4-FFF2-40B4-BE49-F238E27FC236}">
                <a16:creationId xmlns:a16="http://schemas.microsoft.com/office/drawing/2014/main" id="{5435F4F1-9E9D-441D-977A-6B9F4DD8EB6F}"/>
              </a:ext>
            </a:extLst>
          </p:cNvPr>
          <p:cNvSpPr>
            <a:spLocks noGrp="1"/>
          </p:cNvSpPr>
          <p:nvPr/>
        </p:nvSpPr>
        <p:spPr>
          <a:xfrm>
            <a:off x="666750" y="4810125"/>
            <a:ext cx="4572000" cy="571500"/>
          </a:xfrm>
          <a:prstGeom prst="rect">
            <a:avLst/>
          </a:prstGeom>
          <a:noFill/>
          <a:ln w="0">
            <a:noFill/>
          </a:ln>
        </p:spPr>
        <p:txBody>
          <a:bodyPr lIns="0" tIns="0" rIns="0" bIns="0" anchor="t">
            <a:noAutofit/>
          </a:bodyPr>
          <a:lstStyle>
            <a:defPPr algn="l">
              <a:defRPr sz="2850" b="1">
                <a:solidFill>
                  <a:srgbClr val="142D4E"/>
                </a:solidFill>
                <a:latin typeface="Helvetica Neue"/>
                <a:ea typeface="Helvetica Neue"/>
                <a:cs typeface="Helvetica Neue"/>
              </a:defRPr>
            </a:defPPr>
            <a:lvl1pPr algn="l">
              <a:defRPr sz="2850" b="1">
                <a:solidFill>
                  <a:srgbClr val="142D4E"/>
                </a:solidFill>
                <a:latin typeface="Helvetica Neue"/>
                <a:ea typeface="Helvetica Neue"/>
                <a:cs typeface="Helvetica Neue"/>
              </a:defRPr>
            </a:lvl1pPr>
            <a:lvl2pPr algn="l">
              <a:defRPr sz="2850" b="1">
                <a:solidFill>
                  <a:srgbClr val="142D4E"/>
                </a:solidFill>
                <a:latin typeface="Helvetica Neue"/>
                <a:ea typeface="Helvetica Neue"/>
                <a:cs typeface="Helvetica Neue"/>
              </a:defRPr>
            </a:lvl2pPr>
            <a:lvl3pPr algn="l">
              <a:defRPr sz="2850" b="1">
                <a:solidFill>
                  <a:srgbClr val="142D4E"/>
                </a:solidFill>
                <a:latin typeface="Helvetica Neue"/>
                <a:ea typeface="Helvetica Neue"/>
                <a:cs typeface="Helvetica Neue"/>
              </a:defRPr>
            </a:lvl3pPr>
            <a:lvl4pPr algn="l">
              <a:defRPr sz="2850" b="1">
                <a:solidFill>
                  <a:srgbClr val="142D4E"/>
                </a:solidFill>
                <a:latin typeface="Helvetica Neue"/>
                <a:ea typeface="Helvetica Neue"/>
                <a:cs typeface="Helvetica Neue"/>
              </a:defRPr>
            </a:lvl4pPr>
            <a:lvl5pPr algn="l">
              <a:defRPr sz="2850" b="1">
                <a:solidFill>
                  <a:srgbClr val="142D4E"/>
                </a:solidFill>
                <a:latin typeface="Helvetica Neue"/>
                <a:ea typeface="Helvetica Neue"/>
                <a:cs typeface="Helvetica Neue"/>
              </a:defRPr>
            </a:lvl5pPr>
            <a:lvl6pPr algn="l">
              <a:defRPr sz="2850" b="1">
                <a:solidFill>
                  <a:srgbClr val="142D4E"/>
                </a:solidFill>
                <a:latin typeface="Helvetica Neue"/>
                <a:ea typeface="Helvetica Neue"/>
                <a:cs typeface="Helvetica Neue"/>
              </a:defRPr>
            </a:lvl6pPr>
            <a:lvl7pPr algn="l">
              <a:defRPr sz="2850" b="1">
                <a:solidFill>
                  <a:srgbClr val="142D4E"/>
                </a:solidFill>
                <a:latin typeface="Helvetica Neue"/>
                <a:ea typeface="Helvetica Neue"/>
                <a:cs typeface="Helvetica Neue"/>
              </a:defRPr>
            </a:lvl7pPr>
            <a:lvl8pPr algn="l">
              <a:defRPr sz="2850" b="1">
                <a:solidFill>
                  <a:srgbClr val="142D4E"/>
                </a:solidFill>
                <a:latin typeface="Helvetica Neue"/>
                <a:ea typeface="Helvetica Neue"/>
                <a:cs typeface="Helvetica Neue"/>
              </a:defRPr>
            </a:lvl8pPr>
            <a:lvl9pPr algn="l">
              <a:defRPr sz="2850" b="1">
                <a:solidFill>
                  <a:srgbClr val="142D4E"/>
                </a:solidFill>
                <a:latin typeface="Helvetica Neue"/>
                <a:ea typeface="Helvetica Neue"/>
                <a:cs typeface="Helvetica Neue"/>
              </a:defRPr>
            </a:lvl9pPr>
          </a:lstStyle>
          <a:p>
            <a:pPr algn="l">
              <a:defRPr sz="2850" b="1">
                <a:solidFill>
                  <a:srgbClr val="142D4E"/>
                </a:solidFill>
                <a:latin typeface="Helvetica Neue"/>
                <a:ea typeface="Helvetica Neue"/>
                <a:cs typeface="Helvetica Neue"/>
              </a:defRPr>
            </a:pPr>
            <a:r>
              <a:rPr sz="2850" b="1">
                <a:solidFill>
                  <a:srgbClr val="142D4E"/>
                </a:solidFill>
                <a:latin typeface="Helvetica Neue"/>
                <a:ea typeface="Helvetica Neue"/>
                <a:cs typeface="Helvetica Neue"/>
              </a:rPr>
              <a:t>10 classes</a:t>
            </a:r>
          </a:p>
        </p:txBody>
      </p:sp>
      <p:pic>
        <p:nvPicPr>
          <p:cNvPr id="9" name="Picture 8">
            <a:extLst>
              <a:ext uri="{FF2B5EF4-FFF2-40B4-BE49-F238E27FC236}">
                <a16:creationId xmlns:a16="http://schemas.microsoft.com/office/drawing/2014/main" id="{ECFDB0B1-D1C7-43A0-9678-A489A7E25753}"/>
              </a:ext>
            </a:extLst>
          </p:cNvPr>
          <p:cNvPicPr>
            <a:picLocks noChangeAspect="1"/>
          </p:cNvPicPr>
          <p:nvPr/>
        </p:nvPicPr>
        <p:blipFill>
          <a:blip r:embed="rId3"/>
          <a:stretch/>
        </p:blipFill>
        <p:spPr>
          <a:xfrm>
            <a:off x="6238875" y="1714500"/>
            <a:ext cx="1476375" cy="1476375"/>
          </a:xfrm>
          <a:prstGeom prst="rect">
            <a:avLst/>
          </a:prstGeom>
        </p:spPr>
      </p:pic>
      <p:pic>
        <p:nvPicPr>
          <p:cNvPr id="10" name="Picture 9">
            <a:extLst>
              <a:ext uri="{FF2B5EF4-FFF2-40B4-BE49-F238E27FC236}">
                <a16:creationId xmlns:a16="http://schemas.microsoft.com/office/drawing/2014/main" id="{5905D3D6-B505-497A-92EB-3E1671F6C42B}"/>
              </a:ext>
            </a:extLst>
          </p:cNvPr>
          <p:cNvPicPr>
            <a:picLocks noChangeAspect="1"/>
          </p:cNvPicPr>
          <p:nvPr/>
        </p:nvPicPr>
        <p:blipFill>
          <a:blip r:embed="rId4"/>
          <a:stretch/>
        </p:blipFill>
        <p:spPr>
          <a:xfrm>
            <a:off x="7905750" y="1714500"/>
            <a:ext cx="1476375" cy="1476375"/>
          </a:xfrm>
          <a:prstGeom prst="rect">
            <a:avLst/>
          </a:prstGeom>
        </p:spPr>
      </p:pic>
      <p:pic>
        <p:nvPicPr>
          <p:cNvPr id="11" name="Picture 10">
            <a:extLst>
              <a:ext uri="{FF2B5EF4-FFF2-40B4-BE49-F238E27FC236}">
                <a16:creationId xmlns:a16="http://schemas.microsoft.com/office/drawing/2014/main" id="{571149E0-C758-40AC-8C2A-0DF09ED768B7}"/>
              </a:ext>
            </a:extLst>
          </p:cNvPr>
          <p:cNvPicPr>
            <a:picLocks noChangeAspect="1"/>
          </p:cNvPicPr>
          <p:nvPr/>
        </p:nvPicPr>
        <p:blipFill>
          <a:blip r:embed="rId5"/>
          <a:stretch/>
        </p:blipFill>
        <p:spPr>
          <a:xfrm>
            <a:off x="9572625" y="1714500"/>
            <a:ext cx="1476375" cy="1476375"/>
          </a:xfrm>
          <a:prstGeom prst="rect">
            <a:avLst/>
          </a:prstGeom>
        </p:spPr>
      </p:pic>
      <p:pic>
        <p:nvPicPr>
          <p:cNvPr id="12" name="Picture 11">
            <a:extLst>
              <a:ext uri="{FF2B5EF4-FFF2-40B4-BE49-F238E27FC236}">
                <a16:creationId xmlns:a16="http://schemas.microsoft.com/office/drawing/2014/main" id="{4A64B47E-17AF-437E-9687-927077A5C532}"/>
              </a:ext>
            </a:extLst>
          </p:cNvPr>
          <p:cNvPicPr>
            <a:picLocks noChangeAspect="1"/>
          </p:cNvPicPr>
          <p:nvPr/>
        </p:nvPicPr>
        <p:blipFill>
          <a:blip r:embed="rId6"/>
          <a:stretch/>
        </p:blipFill>
        <p:spPr>
          <a:xfrm>
            <a:off x="6238875" y="3524250"/>
            <a:ext cx="1476375" cy="1476375"/>
          </a:xfrm>
          <a:prstGeom prst="rect">
            <a:avLst/>
          </a:prstGeom>
        </p:spPr>
      </p:pic>
      <p:pic>
        <p:nvPicPr>
          <p:cNvPr id="13" name="Picture 12">
            <a:extLst>
              <a:ext uri="{FF2B5EF4-FFF2-40B4-BE49-F238E27FC236}">
                <a16:creationId xmlns:a16="http://schemas.microsoft.com/office/drawing/2014/main" id="{A7599BD2-6495-48AE-BD35-70DF558F1EF7}"/>
              </a:ext>
            </a:extLst>
          </p:cNvPr>
          <p:cNvPicPr>
            <a:picLocks noChangeAspect="1"/>
          </p:cNvPicPr>
          <p:nvPr/>
        </p:nvPicPr>
        <p:blipFill>
          <a:blip r:embed="rId7"/>
          <a:stretch/>
        </p:blipFill>
        <p:spPr>
          <a:xfrm>
            <a:off x="7905750" y="3524250"/>
            <a:ext cx="1476375" cy="1476375"/>
          </a:xfrm>
          <a:prstGeom prst="rect">
            <a:avLst/>
          </a:prstGeom>
        </p:spPr>
      </p:pic>
      <p:pic>
        <p:nvPicPr>
          <p:cNvPr id="14" name="Picture 13">
            <a:extLst>
              <a:ext uri="{FF2B5EF4-FFF2-40B4-BE49-F238E27FC236}">
                <a16:creationId xmlns:a16="http://schemas.microsoft.com/office/drawing/2014/main" id="{A8D528A9-1F7C-477E-BCDF-BF07DDA04CAA}"/>
              </a:ext>
            </a:extLst>
          </p:cNvPr>
          <p:cNvPicPr>
            <a:picLocks noChangeAspect="1"/>
          </p:cNvPicPr>
          <p:nvPr/>
        </p:nvPicPr>
        <p:blipFill>
          <a:blip r:embed="rId8"/>
          <a:stretch/>
        </p:blipFill>
        <p:spPr>
          <a:xfrm>
            <a:off x="9572625" y="3524250"/>
            <a:ext cx="1476375" cy="1476375"/>
          </a:xfrm>
          <a:prstGeom prst="rect">
            <a:avLst/>
          </a:prstGeom>
        </p:spPr>
      </p:pic>
      <p:sp>
        <p:nvSpPr>
          <p:cNvPr id="15" name="Rectangle 14">
            <a:extLst>
              <a:ext uri="{FF2B5EF4-FFF2-40B4-BE49-F238E27FC236}">
                <a16:creationId xmlns:a16="http://schemas.microsoft.com/office/drawing/2014/main" id="{0E134E40-E49C-4E17-8468-56E2712DD8F4}"/>
              </a:ext>
            </a:extLst>
          </p:cNvPr>
          <p:cNvSpPr>
            <a:spLocks noGrp="1"/>
          </p:cNvSpPr>
          <p:nvPr/>
        </p:nvSpPr>
        <p:spPr>
          <a:xfrm>
            <a:off x="6191250" y="5543550"/>
            <a:ext cx="5238750" cy="476250"/>
          </a:xfrm>
          <a:prstGeom prst="rect">
            <a:avLst/>
          </a:prstGeom>
          <a:noFill/>
          <a:ln w="0">
            <a:noFill/>
          </a:ln>
        </p:spPr>
        <p:txBody>
          <a:bodyPr lIns="0" tIns="0" rIns="0" bIns="0" anchor="t">
            <a:noAutofit/>
          </a:bodyPr>
          <a:lstStyle>
            <a:defPPr algn="l">
              <a:defRPr sz="1650" b="0">
                <a:solidFill>
                  <a:srgbClr val="53657B"/>
                </a:solidFill>
                <a:latin typeface="Helvetica Neue"/>
                <a:ea typeface="Helvetica Neue"/>
                <a:cs typeface="Helvetica Neue"/>
              </a:defRPr>
            </a:defPPr>
            <a:lvl1pPr algn="l">
              <a:defRPr sz="1650" b="0">
                <a:solidFill>
                  <a:srgbClr val="53657B"/>
                </a:solidFill>
                <a:latin typeface="Helvetica Neue"/>
                <a:ea typeface="Helvetica Neue"/>
                <a:cs typeface="Helvetica Neue"/>
              </a:defRPr>
            </a:lvl1pPr>
            <a:lvl2pPr algn="l">
              <a:defRPr sz="1650" b="0">
                <a:solidFill>
                  <a:srgbClr val="53657B"/>
                </a:solidFill>
                <a:latin typeface="Helvetica Neue"/>
                <a:ea typeface="Helvetica Neue"/>
                <a:cs typeface="Helvetica Neue"/>
              </a:defRPr>
            </a:lvl2pPr>
            <a:lvl3pPr algn="l">
              <a:defRPr sz="1650" b="0">
                <a:solidFill>
                  <a:srgbClr val="53657B"/>
                </a:solidFill>
                <a:latin typeface="Helvetica Neue"/>
                <a:ea typeface="Helvetica Neue"/>
                <a:cs typeface="Helvetica Neue"/>
              </a:defRPr>
            </a:lvl3pPr>
            <a:lvl4pPr algn="l">
              <a:defRPr sz="1650" b="0">
                <a:solidFill>
                  <a:srgbClr val="53657B"/>
                </a:solidFill>
                <a:latin typeface="Helvetica Neue"/>
                <a:ea typeface="Helvetica Neue"/>
                <a:cs typeface="Helvetica Neue"/>
              </a:defRPr>
            </a:lvl4pPr>
            <a:lvl5pPr algn="l">
              <a:defRPr sz="1650" b="0">
                <a:solidFill>
                  <a:srgbClr val="53657B"/>
                </a:solidFill>
                <a:latin typeface="Helvetica Neue"/>
                <a:ea typeface="Helvetica Neue"/>
                <a:cs typeface="Helvetica Neue"/>
              </a:defRPr>
            </a:lvl5pPr>
            <a:lvl6pPr algn="l">
              <a:defRPr sz="1650" b="0">
                <a:solidFill>
                  <a:srgbClr val="53657B"/>
                </a:solidFill>
                <a:latin typeface="Helvetica Neue"/>
                <a:ea typeface="Helvetica Neue"/>
                <a:cs typeface="Helvetica Neue"/>
              </a:defRPr>
            </a:lvl6pPr>
            <a:lvl7pPr algn="l">
              <a:defRPr sz="1650" b="0">
                <a:solidFill>
                  <a:srgbClr val="53657B"/>
                </a:solidFill>
                <a:latin typeface="Helvetica Neue"/>
                <a:ea typeface="Helvetica Neue"/>
                <a:cs typeface="Helvetica Neue"/>
              </a:defRPr>
            </a:lvl7pPr>
            <a:lvl8pPr algn="l">
              <a:defRPr sz="1650" b="0">
                <a:solidFill>
                  <a:srgbClr val="53657B"/>
                </a:solidFill>
                <a:latin typeface="Helvetica Neue"/>
                <a:ea typeface="Helvetica Neue"/>
                <a:cs typeface="Helvetica Neue"/>
              </a:defRPr>
            </a:lvl8pPr>
            <a:lvl9pPr algn="l">
              <a:defRPr sz="1650" b="0">
                <a:solidFill>
                  <a:srgbClr val="53657B"/>
                </a:solidFill>
                <a:latin typeface="Helvetica Neue"/>
                <a:ea typeface="Helvetica Neue"/>
                <a:cs typeface="Helvetica Neue"/>
              </a:defRPr>
            </a:lvl9pPr>
          </a:lstStyle>
          <a:p>
            <a:pPr algn="l">
              <a:defRPr sz="1650" b="0">
                <a:solidFill>
                  <a:srgbClr val="53657B"/>
                </a:solidFill>
                <a:latin typeface="Helvetica Neue"/>
                <a:ea typeface="Helvetica Neue"/>
                <a:cs typeface="Helvetica Neue"/>
              </a:defRPr>
            </a:pPr>
            <a:r>
              <a:rPr sz="1650" b="0">
                <a:solidFill>
                  <a:srgbClr val="53657B"/>
                </a:solidFill>
                <a:latin typeface="Helvetica Neue"/>
                <a:ea typeface="Helvetica Neue"/>
                <a:cs typeface="Helvetica Neue"/>
              </a:rPr>
              <a:t>Actual reference images, enlarged for viewing</a:t>
            </a:r>
          </a:p>
        </p:txBody>
      </p:sp>
    </p:spTree>
    <p:extLst>
      <p:ext uri="{BB962C8B-B14F-4D97-AF65-F5344CB8AC3E}">
        <p14:creationId xmlns:p14="http://schemas.microsoft.com/office/powerpoint/2010/main" val="353682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cxnSp>
        <p:nvCxnSpPr>
          <p:cNvPr id="8" name="Straight Arrow Connector 7">
            <a:extLst>
              <a:ext uri="{FF2B5EF4-FFF2-40B4-BE49-F238E27FC236}">
                <a16:creationId xmlns:a16="http://schemas.microsoft.com/office/drawing/2014/main" id="{653A5802-8F89-4197-80EB-B1C88EB919BB}"/>
              </a:ext>
            </a:extLst>
          </p:cNvPr>
          <p:cNvCxnSpPr>
            <a:stCxn id="4" idx="3"/>
            <a:endCxn id="6" idx="1"/>
          </p:cNvCxnSpPr>
          <p:nvPr/>
        </p:nvCxnSpPr>
        <p:spPr>
          <a:xfrm>
            <a:off x="3143250" y="3000375"/>
            <a:ext cx="1952625" cy="1404938"/>
          </a:xfrm>
          <a:prstGeom prst="straightConnector1">
            <a:avLst/>
          </a:prstGeom>
          <a:ln w="19050">
            <a:solidFill>
              <a:srgbClr val="007F82"/>
            </a:solidFill>
            <a:prstDash val="solid"/>
            <a:tailEnd type="triangle" w="med" len="med"/>
          </a:ln>
        </p:spPr>
      </p:cxnSp>
      <p:cxnSp>
        <p:nvCxnSpPr>
          <p:cNvPr id="7" name="Straight Arrow Connector 6">
            <a:extLst>
              <a:ext uri="{FF2B5EF4-FFF2-40B4-BE49-F238E27FC236}">
                <a16:creationId xmlns:a16="http://schemas.microsoft.com/office/drawing/2014/main" id="{B736572A-EE5E-4957-9DB1-D3F93E3B0614}"/>
              </a:ext>
            </a:extLst>
          </p:cNvPr>
          <p:cNvCxnSpPr>
            <a:stCxn id="4" idx="3"/>
            <a:endCxn id="5" idx="1"/>
          </p:cNvCxnSpPr>
          <p:nvPr/>
        </p:nvCxnSpPr>
        <p:spPr>
          <a:xfrm flipV="1">
            <a:off x="3143250" y="2262188"/>
            <a:ext cx="1952625" cy="738188"/>
          </a:xfrm>
          <a:prstGeom prst="straightConnector1">
            <a:avLst/>
          </a:prstGeom>
          <a:ln w="19050">
            <a:solidFill>
              <a:srgbClr val="007F82"/>
            </a:solidFill>
            <a:prstDash val="solid"/>
            <a:tailEnd type="triangle" w="med" len="med"/>
          </a:ln>
        </p:spPr>
      </p:cxnSp>
      <p:sp>
        <p:nvSpPr>
          <p:cNvPr id="12" name="Rectangle 11">
            <a:extLst>
              <a:ext uri="{FF2B5EF4-FFF2-40B4-BE49-F238E27FC236}">
                <a16:creationId xmlns:a16="http://schemas.microsoft.com/office/drawing/2014/main" id="{6C2AB8DA-158E-4F70-AF24-93AB9447C67C}"/>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A separate reference set for evaluation</a:t>
            </a:r>
          </a:p>
        </p:txBody>
      </p:sp>
      <p:sp>
        <p:nvSpPr>
          <p:cNvPr id="2" name="Rectangle 1">
            <a:extLst>
              <a:ext uri="{FF2B5EF4-FFF2-40B4-BE49-F238E27FC236}">
                <a16:creationId xmlns:a16="http://schemas.microsoft.com/office/drawing/2014/main" id="{9D3988E4-0FC3-45DD-8E29-E47AB33CADEB}"/>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05</a:t>
            </a:r>
          </a:p>
        </p:txBody>
      </p:sp>
      <p:sp>
        <p:nvSpPr>
          <p:cNvPr id="4" name="Rectangle 3">
            <a:extLst>
              <a:ext uri="{FF2B5EF4-FFF2-40B4-BE49-F238E27FC236}">
                <a16:creationId xmlns:a16="http://schemas.microsoft.com/office/drawing/2014/main" id="{97F790DB-DED0-4FF2-91C4-11E4096F673E}"/>
              </a:ext>
            </a:extLst>
          </p:cNvPr>
          <p:cNvSpPr>
            <a:spLocks noGrp="1"/>
          </p:cNvSpPr>
          <p:nvPr/>
        </p:nvSpPr>
        <p:spPr>
          <a:xfrm>
            <a:off x="666750" y="2476500"/>
            <a:ext cx="2476500" cy="1047750"/>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50,000 images</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seed = 42</a:t>
            </a:r>
          </a:p>
        </p:txBody>
      </p:sp>
      <p:sp>
        <p:nvSpPr>
          <p:cNvPr id="5" name="Rectangle 4">
            <a:extLst>
              <a:ext uri="{FF2B5EF4-FFF2-40B4-BE49-F238E27FC236}">
                <a16:creationId xmlns:a16="http://schemas.microsoft.com/office/drawing/2014/main" id="{1E76266B-1A3E-4518-BD5C-C931CC900FE6}"/>
              </a:ext>
            </a:extLst>
          </p:cNvPr>
          <p:cNvSpPr>
            <a:spLocks noGrp="1"/>
          </p:cNvSpPr>
          <p:nvPr/>
        </p:nvSpPr>
        <p:spPr>
          <a:xfrm>
            <a:off x="5095875" y="1762125"/>
            <a:ext cx="2952750" cy="100012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47,500 training</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random flips</a:t>
            </a:r>
          </a:p>
        </p:txBody>
      </p:sp>
      <p:sp>
        <p:nvSpPr>
          <p:cNvPr id="6" name="Rectangle 5">
            <a:extLst>
              <a:ext uri="{FF2B5EF4-FFF2-40B4-BE49-F238E27FC236}">
                <a16:creationId xmlns:a16="http://schemas.microsoft.com/office/drawing/2014/main" id="{FE2E1967-7D3B-480E-AF4E-8858D7C37BE0}"/>
              </a:ext>
            </a:extLst>
          </p:cNvPr>
          <p:cNvSpPr>
            <a:spLocks noGrp="1"/>
          </p:cNvSpPr>
          <p:nvPr/>
        </p:nvSpPr>
        <p:spPr>
          <a:xfrm>
            <a:off x="5095875" y="3905250"/>
            <a:ext cx="2952750" cy="100012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2,500 reference</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no random flips</a:t>
            </a:r>
          </a:p>
        </p:txBody>
      </p:sp>
      <p:sp>
        <p:nvSpPr>
          <p:cNvPr id="9" name="Rectangle 8">
            <a:extLst>
              <a:ext uri="{FF2B5EF4-FFF2-40B4-BE49-F238E27FC236}">
                <a16:creationId xmlns:a16="http://schemas.microsoft.com/office/drawing/2014/main" id="{C060A2CC-BEDC-48AA-B96B-B0838195CBE3}"/>
              </a:ext>
            </a:extLst>
          </p:cNvPr>
          <p:cNvSpPr>
            <a:spLocks noGrp="1"/>
          </p:cNvSpPr>
          <p:nvPr/>
        </p:nvSpPr>
        <p:spPr>
          <a:xfrm>
            <a:off x="8667750" y="1762125"/>
            <a:ext cx="2762250" cy="1238250"/>
          </a:xfrm>
          <a:prstGeom prst="rect">
            <a:avLst/>
          </a:prstGeom>
          <a:noFill/>
          <a:ln w="0">
            <a:noFill/>
          </a:ln>
        </p:spPr>
        <p:txBody>
          <a:bodyPr lIns="0" tIns="0" rIns="0" bIns="0" anchor="t">
            <a:noAutofit/>
          </a:bodyPr>
          <a:lstStyle>
            <a:defPPr algn="l">
              <a:defRPr sz="1950" b="0">
                <a:solidFill>
                  <a:srgbClr val="142D4E"/>
                </a:solidFill>
                <a:latin typeface="Helvetica Neue"/>
                <a:ea typeface="Helvetica Neue"/>
                <a:cs typeface="Helvetica Neue"/>
              </a:defRPr>
            </a:defPPr>
            <a:lvl1pPr algn="l">
              <a:defRPr sz="1950" b="0">
                <a:solidFill>
                  <a:srgbClr val="142D4E"/>
                </a:solidFill>
                <a:latin typeface="Helvetica Neue"/>
                <a:ea typeface="Helvetica Neue"/>
                <a:cs typeface="Helvetica Neue"/>
              </a:defRPr>
            </a:lvl1pPr>
            <a:lvl2pPr algn="l">
              <a:defRPr sz="1950" b="0">
                <a:solidFill>
                  <a:srgbClr val="142D4E"/>
                </a:solidFill>
                <a:latin typeface="Helvetica Neue"/>
                <a:ea typeface="Helvetica Neue"/>
                <a:cs typeface="Helvetica Neue"/>
              </a:defRPr>
            </a:lvl2pPr>
            <a:lvl3pPr algn="l">
              <a:defRPr sz="1950" b="0">
                <a:solidFill>
                  <a:srgbClr val="142D4E"/>
                </a:solidFill>
                <a:latin typeface="Helvetica Neue"/>
                <a:ea typeface="Helvetica Neue"/>
                <a:cs typeface="Helvetica Neue"/>
              </a:defRPr>
            </a:lvl3pPr>
            <a:lvl4pPr algn="l">
              <a:defRPr sz="1950" b="0">
                <a:solidFill>
                  <a:srgbClr val="142D4E"/>
                </a:solidFill>
                <a:latin typeface="Helvetica Neue"/>
                <a:ea typeface="Helvetica Neue"/>
                <a:cs typeface="Helvetica Neue"/>
              </a:defRPr>
            </a:lvl4pPr>
            <a:lvl5pPr algn="l">
              <a:defRPr sz="1950" b="0">
                <a:solidFill>
                  <a:srgbClr val="142D4E"/>
                </a:solidFill>
                <a:latin typeface="Helvetica Neue"/>
                <a:ea typeface="Helvetica Neue"/>
                <a:cs typeface="Helvetica Neue"/>
              </a:defRPr>
            </a:lvl5pPr>
            <a:lvl6pPr algn="l">
              <a:defRPr sz="1950" b="0">
                <a:solidFill>
                  <a:srgbClr val="142D4E"/>
                </a:solidFill>
                <a:latin typeface="Helvetica Neue"/>
                <a:ea typeface="Helvetica Neue"/>
                <a:cs typeface="Helvetica Neue"/>
              </a:defRPr>
            </a:lvl6pPr>
            <a:lvl7pPr algn="l">
              <a:defRPr sz="1950" b="0">
                <a:solidFill>
                  <a:srgbClr val="142D4E"/>
                </a:solidFill>
                <a:latin typeface="Helvetica Neue"/>
                <a:ea typeface="Helvetica Neue"/>
                <a:cs typeface="Helvetica Neue"/>
              </a:defRPr>
            </a:lvl7pPr>
            <a:lvl8pPr algn="l">
              <a:defRPr sz="1950" b="0">
                <a:solidFill>
                  <a:srgbClr val="142D4E"/>
                </a:solidFill>
                <a:latin typeface="Helvetica Neue"/>
                <a:ea typeface="Helvetica Neue"/>
                <a:cs typeface="Helvetica Neue"/>
              </a:defRPr>
            </a:lvl8pPr>
            <a:lvl9pPr algn="l">
              <a:defRPr sz="1950" b="0">
                <a:solidFill>
                  <a:srgbClr val="142D4E"/>
                </a:solidFill>
                <a:latin typeface="Helvetica Neue"/>
                <a:ea typeface="Helvetica Neue"/>
                <a:cs typeface="Helvetica Neue"/>
              </a:defRPr>
            </a:lvl9pPr>
          </a:lstStyle>
          <a:p>
            <a:pPr algn="l">
              <a:defRPr sz="1950" b="0">
                <a:solidFill>
                  <a:srgbClr val="142D4E"/>
                </a:solidFill>
                <a:latin typeface="Helvetica Neue"/>
                <a:ea typeface="Helvetica Neue"/>
                <a:cs typeface="Helvetica Neue"/>
              </a:defRPr>
            </a:pPr>
            <a:r>
              <a:rPr sz="1950" b="0">
                <a:solidFill>
                  <a:srgbClr val="142D4E"/>
                </a:solidFill>
                <a:latin typeface="Helvetica Neue"/>
                <a:ea typeface="Helvetica Neue"/>
                <a:cs typeface="Helvetica Neue"/>
              </a:rPr>
              <a:t>371 full batches per epoch</a:t>
            </a:r>
          </a:p>
          <a:p>
            <a:pPr algn="l">
              <a:defRPr sz="1950" b="0">
                <a:solidFill>
                  <a:srgbClr val="142D4E"/>
                </a:solidFill>
                <a:latin typeface="Helvetica Neue"/>
                <a:ea typeface="Helvetica Neue"/>
                <a:cs typeface="Helvetica Neue"/>
              </a:defRPr>
            </a:pPr>
            <a:r>
              <a:rPr sz="1950" b="0">
                <a:solidFill>
                  <a:srgbClr val="142D4E"/>
                </a:solidFill>
                <a:latin typeface="Helvetica Neue"/>
                <a:ea typeface="Helvetica Neue"/>
                <a:cs typeface="Helvetica Neue"/>
              </a:rPr>
              <a:t>Batch size 128, drop_last=True</a:t>
            </a:r>
          </a:p>
        </p:txBody>
      </p:sp>
      <p:sp>
        <p:nvSpPr>
          <p:cNvPr id="10" name="Rectangle 9">
            <a:extLst>
              <a:ext uri="{FF2B5EF4-FFF2-40B4-BE49-F238E27FC236}">
                <a16:creationId xmlns:a16="http://schemas.microsoft.com/office/drawing/2014/main" id="{4A4479BC-CF83-49D1-BDE1-8B685F6E98A8}"/>
              </a:ext>
            </a:extLst>
          </p:cNvPr>
          <p:cNvSpPr>
            <a:spLocks noGrp="1"/>
          </p:cNvSpPr>
          <p:nvPr/>
        </p:nvSpPr>
        <p:spPr>
          <a:xfrm>
            <a:off x="8667750" y="3905250"/>
            <a:ext cx="2762250" cy="1333500"/>
          </a:xfrm>
          <a:prstGeom prst="rect">
            <a:avLst/>
          </a:prstGeom>
          <a:noFill/>
          <a:ln w="0">
            <a:noFill/>
          </a:ln>
        </p:spPr>
        <p:txBody>
          <a:bodyPr lIns="0" tIns="0" rIns="0" bIns="0" anchor="t">
            <a:noAutofit/>
          </a:bodyPr>
          <a:lstStyle>
            <a:defPPr algn="l">
              <a:defRPr sz="1950" b="1">
                <a:solidFill>
                  <a:srgbClr val="007F82"/>
                </a:solidFill>
                <a:latin typeface="Helvetica Neue"/>
                <a:ea typeface="Helvetica Neue"/>
                <a:cs typeface="Helvetica Neue"/>
              </a:defRPr>
            </a:defPPr>
            <a:lvl1pPr algn="l">
              <a:defRPr sz="1950" b="1">
                <a:solidFill>
                  <a:srgbClr val="007F82"/>
                </a:solidFill>
                <a:latin typeface="Helvetica Neue"/>
                <a:ea typeface="Helvetica Neue"/>
                <a:cs typeface="Helvetica Neue"/>
              </a:defRPr>
            </a:lvl1pPr>
            <a:lvl2pPr algn="l">
              <a:defRPr sz="1950" b="1">
                <a:solidFill>
                  <a:srgbClr val="007F82"/>
                </a:solidFill>
                <a:latin typeface="Helvetica Neue"/>
                <a:ea typeface="Helvetica Neue"/>
                <a:cs typeface="Helvetica Neue"/>
              </a:defRPr>
            </a:lvl2pPr>
            <a:lvl3pPr algn="l">
              <a:defRPr sz="1950" b="1">
                <a:solidFill>
                  <a:srgbClr val="007F82"/>
                </a:solidFill>
                <a:latin typeface="Helvetica Neue"/>
                <a:ea typeface="Helvetica Neue"/>
                <a:cs typeface="Helvetica Neue"/>
              </a:defRPr>
            </a:lvl3pPr>
            <a:lvl4pPr algn="l">
              <a:defRPr sz="1950" b="1">
                <a:solidFill>
                  <a:srgbClr val="007F82"/>
                </a:solidFill>
                <a:latin typeface="Helvetica Neue"/>
                <a:ea typeface="Helvetica Neue"/>
                <a:cs typeface="Helvetica Neue"/>
              </a:defRPr>
            </a:lvl4pPr>
            <a:lvl5pPr algn="l">
              <a:defRPr sz="1950" b="1">
                <a:solidFill>
                  <a:srgbClr val="007F82"/>
                </a:solidFill>
                <a:latin typeface="Helvetica Neue"/>
                <a:ea typeface="Helvetica Neue"/>
                <a:cs typeface="Helvetica Neue"/>
              </a:defRPr>
            </a:lvl5pPr>
            <a:lvl6pPr algn="l">
              <a:defRPr sz="1950" b="1">
                <a:solidFill>
                  <a:srgbClr val="007F82"/>
                </a:solidFill>
                <a:latin typeface="Helvetica Neue"/>
                <a:ea typeface="Helvetica Neue"/>
                <a:cs typeface="Helvetica Neue"/>
              </a:defRPr>
            </a:lvl6pPr>
            <a:lvl7pPr algn="l">
              <a:defRPr sz="1950" b="1">
                <a:solidFill>
                  <a:srgbClr val="007F82"/>
                </a:solidFill>
                <a:latin typeface="Helvetica Neue"/>
                <a:ea typeface="Helvetica Neue"/>
                <a:cs typeface="Helvetica Neue"/>
              </a:defRPr>
            </a:lvl7pPr>
            <a:lvl8pPr algn="l">
              <a:defRPr sz="1950" b="1">
                <a:solidFill>
                  <a:srgbClr val="007F82"/>
                </a:solidFill>
                <a:latin typeface="Helvetica Neue"/>
                <a:ea typeface="Helvetica Neue"/>
                <a:cs typeface="Helvetica Neue"/>
              </a:defRPr>
            </a:lvl8pPr>
            <a:lvl9pPr algn="l">
              <a:defRPr sz="1950" b="1">
                <a:solidFill>
                  <a:srgbClr val="007F82"/>
                </a:solidFill>
                <a:latin typeface="Helvetica Neue"/>
                <a:ea typeface="Helvetica Neue"/>
                <a:cs typeface="Helvetica Neue"/>
              </a:defRPr>
            </a:lvl9pPr>
          </a:lstStyle>
          <a:p>
            <a:pPr algn="l">
              <a:defRPr sz="1950" b="1">
                <a:solidFill>
                  <a:srgbClr val="007F82"/>
                </a:solidFill>
                <a:latin typeface="Helvetica Neue"/>
                <a:ea typeface="Helvetica Neue"/>
                <a:cs typeface="Helvetica Neue"/>
              </a:defRPr>
            </a:pPr>
            <a:r>
              <a:rPr sz="1950" b="1">
                <a:solidFill>
                  <a:srgbClr val="007F82"/>
                </a:solidFill>
                <a:latin typeface="Helvetica Neue"/>
                <a:ea typeface="Helvetica Neue"/>
                <a:cs typeface="Helvetica Neue"/>
              </a:rPr>
              <a:t>2,500 / 2,500 saved PNGs</a:t>
            </a:r>
          </a:p>
          <a:p>
            <a:pPr algn="l">
              <a:defRPr sz="1950" b="1">
                <a:solidFill>
                  <a:srgbClr val="007F82"/>
                </a:solidFill>
                <a:latin typeface="Helvetica Neue"/>
                <a:ea typeface="Helvetica Neue"/>
                <a:cs typeface="Helvetica Neue"/>
              </a:defRPr>
            </a:pPr>
            <a:r>
              <a:rPr sz="1950" b="1">
                <a:solidFill>
                  <a:srgbClr val="007F82"/>
                </a:solidFill>
                <a:latin typeface="Helvetica Neue"/>
                <a:ea typeface="Helvetica Neue"/>
                <a:cs typeface="Helvetica Neue"/>
              </a:rPr>
              <a:t>match the recreated split</a:t>
            </a:r>
          </a:p>
        </p:txBody>
      </p:sp>
      <p:sp>
        <p:nvSpPr>
          <p:cNvPr id="11" name="Rectangle 10">
            <a:extLst>
              <a:ext uri="{FF2B5EF4-FFF2-40B4-BE49-F238E27FC236}">
                <a16:creationId xmlns:a16="http://schemas.microsoft.com/office/drawing/2014/main" id="{B6A72EBF-FF23-4666-9356-7B33ADBC3130}"/>
              </a:ext>
            </a:extLst>
          </p:cNvPr>
          <p:cNvSpPr>
            <a:spLocks noGrp="1"/>
          </p:cNvSpPr>
          <p:nvPr/>
        </p:nvSpPr>
        <p:spPr>
          <a:xfrm>
            <a:off x="666750" y="5791200"/>
            <a:ext cx="10668000" cy="476250"/>
          </a:xfrm>
          <a:prstGeom prst="rect">
            <a:avLst/>
          </a:prstGeom>
          <a:noFill/>
          <a:ln w="0">
            <a:noFill/>
          </a:ln>
        </p:spPr>
        <p:txBody>
          <a:bodyPr lIns="0" tIns="0" rIns="0" bIns="0" anchor="t">
            <a:noAutofit/>
          </a:bodyPr>
          <a:lstStyle>
            <a:defPPr algn="l">
              <a:defRPr sz="1875" b="1">
                <a:solidFill>
                  <a:srgbClr val="007F82"/>
                </a:solidFill>
                <a:latin typeface="Helvetica Neue"/>
                <a:ea typeface="Helvetica Neue"/>
                <a:cs typeface="Helvetica Neue"/>
              </a:defRPr>
            </a:defPPr>
            <a:lvl1pPr algn="l">
              <a:defRPr sz="1875" b="1">
                <a:solidFill>
                  <a:srgbClr val="007F82"/>
                </a:solidFill>
                <a:latin typeface="Helvetica Neue"/>
                <a:ea typeface="Helvetica Neue"/>
                <a:cs typeface="Helvetica Neue"/>
              </a:defRPr>
            </a:lvl1pPr>
            <a:lvl2pPr algn="l">
              <a:defRPr sz="1875" b="1">
                <a:solidFill>
                  <a:srgbClr val="007F82"/>
                </a:solidFill>
                <a:latin typeface="Helvetica Neue"/>
                <a:ea typeface="Helvetica Neue"/>
                <a:cs typeface="Helvetica Neue"/>
              </a:defRPr>
            </a:lvl2pPr>
            <a:lvl3pPr algn="l">
              <a:defRPr sz="1875" b="1">
                <a:solidFill>
                  <a:srgbClr val="007F82"/>
                </a:solidFill>
                <a:latin typeface="Helvetica Neue"/>
                <a:ea typeface="Helvetica Neue"/>
                <a:cs typeface="Helvetica Neue"/>
              </a:defRPr>
            </a:lvl3pPr>
            <a:lvl4pPr algn="l">
              <a:defRPr sz="1875" b="1">
                <a:solidFill>
                  <a:srgbClr val="007F82"/>
                </a:solidFill>
                <a:latin typeface="Helvetica Neue"/>
                <a:ea typeface="Helvetica Neue"/>
                <a:cs typeface="Helvetica Neue"/>
              </a:defRPr>
            </a:lvl4pPr>
            <a:lvl5pPr algn="l">
              <a:defRPr sz="1875" b="1">
                <a:solidFill>
                  <a:srgbClr val="007F82"/>
                </a:solidFill>
                <a:latin typeface="Helvetica Neue"/>
                <a:ea typeface="Helvetica Neue"/>
                <a:cs typeface="Helvetica Neue"/>
              </a:defRPr>
            </a:lvl5pPr>
            <a:lvl6pPr algn="l">
              <a:defRPr sz="1875" b="1">
                <a:solidFill>
                  <a:srgbClr val="007F82"/>
                </a:solidFill>
                <a:latin typeface="Helvetica Neue"/>
                <a:ea typeface="Helvetica Neue"/>
                <a:cs typeface="Helvetica Neue"/>
              </a:defRPr>
            </a:lvl6pPr>
            <a:lvl7pPr algn="l">
              <a:defRPr sz="1875" b="1">
                <a:solidFill>
                  <a:srgbClr val="007F82"/>
                </a:solidFill>
                <a:latin typeface="Helvetica Neue"/>
                <a:ea typeface="Helvetica Neue"/>
                <a:cs typeface="Helvetica Neue"/>
              </a:defRPr>
            </a:lvl7pPr>
            <a:lvl8pPr algn="l">
              <a:defRPr sz="1875" b="1">
                <a:solidFill>
                  <a:srgbClr val="007F82"/>
                </a:solidFill>
                <a:latin typeface="Helvetica Neue"/>
                <a:ea typeface="Helvetica Neue"/>
                <a:cs typeface="Helvetica Neue"/>
              </a:defRPr>
            </a:lvl8pPr>
            <a:lvl9pPr algn="l">
              <a:defRPr sz="1875" b="1">
                <a:solidFill>
                  <a:srgbClr val="007F82"/>
                </a:solidFill>
                <a:latin typeface="Helvetica Neue"/>
                <a:ea typeface="Helvetica Neue"/>
                <a:cs typeface="Helvetica Neue"/>
              </a:defRPr>
            </a:lvl9pPr>
          </a:lstStyle>
          <a:p>
            <a:pPr algn="l">
              <a:defRPr sz="1875" b="1">
                <a:solidFill>
                  <a:srgbClr val="007F82"/>
                </a:solidFill>
                <a:latin typeface="Helvetica Neue"/>
                <a:ea typeface="Helvetica Neue"/>
                <a:cs typeface="Helvetica Neue"/>
              </a:defRPr>
            </a:pPr>
            <a:r>
              <a:rPr sz="1875" b="1">
                <a:solidFill>
                  <a:srgbClr val="007F82"/>
                </a:solidFill>
                <a:latin typeface="Helvetica Neue"/>
                <a:ea typeface="Helvetica Neue"/>
                <a:cs typeface="Helvetica Neue"/>
              </a:rPr>
              <a:t>The split prevents index overlap. Historical checkpoint provenance is less complete</a:t>
            </a:r>
          </a:p>
        </p:txBody>
      </p:sp>
    </p:spTree>
    <p:extLst>
      <p:ext uri="{BB962C8B-B14F-4D97-AF65-F5344CB8AC3E}">
        <p14:creationId xmlns:p14="http://schemas.microsoft.com/office/powerpoint/2010/main" val="1863639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D3043C-4351-4155-9944-A6549552C248}"/>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Data quality checks and their limits</a:t>
            </a:r>
          </a:p>
        </p:txBody>
      </p:sp>
      <p:sp>
        <p:nvSpPr>
          <p:cNvPr id="2" name="Rectangle 1">
            <a:extLst>
              <a:ext uri="{FF2B5EF4-FFF2-40B4-BE49-F238E27FC236}">
                <a16:creationId xmlns:a16="http://schemas.microsoft.com/office/drawing/2014/main" id="{DDF89F2B-4557-4242-A26B-33441D6112DE}"/>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06</a:t>
            </a:r>
          </a:p>
        </p:txBody>
      </p:sp>
      <p:graphicFrame>
        <p:nvGraphicFramePr>
          <p:cNvPr id="4" name="Table 3">
            <a:extLst>
              <a:ext uri="{FF2B5EF4-FFF2-40B4-BE49-F238E27FC236}">
                <a16:creationId xmlns:a16="http://schemas.microsoft.com/office/drawing/2014/main" id="{2BFF64B9-CDEA-4E4A-9098-F1D6B909425A}"/>
              </a:ext>
            </a:extLst>
          </p:cNvPr>
          <p:cNvGraphicFramePr/>
          <p:nvPr/>
        </p:nvGraphicFramePr>
        <p:xfrm>
          <a:off x="666750" y="1619250"/>
          <a:ext cx="10858500" cy="3333750"/>
        </p:xfrm>
        <a:graphic>
          <a:graphicData uri="http://schemas.openxmlformats.org/drawingml/2006/table">
            <a:tbl>
              <a:tblPr/>
              <a:tblGrid>
                <a:gridCol w="2952750">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gridCol w="4381500">
                  <a:extLst>
                    <a:ext uri="{9D8B030D-6E8A-4147-A177-3AD203B41FA5}">
                      <a16:colId xmlns:a16="http://schemas.microsoft.com/office/drawing/2014/main" val="20002"/>
                    </a:ext>
                  </a:extLst>
                </a:gridCol>
              </a:tblGrid>
              <a:tr h="666750">
                <a:tc>
                  <a:txBody>
                    <a:bodyPr/>
                    <a:lstStyle/>
                    <a:p>
                      <a:r>
                        <a:rPr sz="1725" b="1">
                          <a:solidFill>
                            <a:srgbClr val="FFFFFF"/>
                          </a:solidFill>
                          <a:latin typeface="Helvetica Neue"/>
                          <a:ea typeface="Helvetica Neue"/>
                          <a:cs typeface="Helvetica Neue"/>
                        </a:rPr>
                        <a:t>Check</a:t>
                      </a:r>
                    </a:p>
                  </a:txBody>
                  <a:tcPr anchor="ctr">
                    <a:lnL w="9525">
                      <a:solidFill>
                        <a:srgbClr val="D4DEE8"/>
                      </a:solidFill>
                      <a:prstDash val="soli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tc>
                  <a:txBody>
                    <a:bodyPr/>
                    <a:lstStyle/>
                    <a:p>
                      <a:r>
                        <a:rPr sz="1725" b="1">
                          <a:solidFill>
                            <a:srgbClr val="FFFFFF"/>
                          </a:solidFill>
                          <a:latin typeface="Helvetica Neue"/>
                          <a:ea typeface="Helvetica Neue"/>
                          <a:cs typeface="Helvetica Neue"/>
                        </a:rPr>
                        <a:t>Evidence</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tc>
                  <a:txBody>
                    <a:bodyPr/>
                    <a:lstStyle/>
                    <a:p>
                      <a:r>
                        <a:rPr sz="1725" b="1">
                          <a:solidFill>
                            <a:srgbClr val="FFFFFF"/>
                          </a:solidFill>
                          <a:latin typeface="Helvetica Neue"/>
                          <a:ea typeface="Helvetica Neue"/>
                          <a:cs typeface="Helvetica Neue"/>
                        </a:rPr>
                        <a:t>Interpretation</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extLst>
                  <a:ext uri="{0D108BD9-81ED-4DB2-BD59-A6C34878D82A}">
                    <a16:rowId xmlns:a16="http://schemas.microsoft.com/office/drawing/2014/main" val="10000"/>
                  </a:ext>
                </a:extLst>
              </a:tr>
              <a:tr h="666750">
                <a:tc>
                  <a:txBody>
                    <a:bodyPr/>
                    <a:lstStyle/>
                    <a:p>
                      <a:r>
                        <a:rPr sz="1725" b="0">
                          <a:solidFill>
                            <a:srgbClr val="142D4E"/>
                          </a:solidFill>
                          <a:latin typeface="Helvetica Neue"/>
                          <a:ea typeface="Helvetica Neue"/>
                          <a:cs typeface="Helvetica Neue"/>
                        </a:rPr>
                        <a:t>Tensor validity</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50,000 × 3 × 32 × 32, uint8</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Consistent structure and pixel type</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extLst>
                  <a:ext uri="{0D108BD9-81ED-4DB2-BD59-A6C34878D82A}">
                    <a16:rowId xmlns:a16="http://schemas.microsoft.com/office/drawing/2014/main" val="10001"/>
                  </a:ext>
                </a:extLst>
              </a:tr>
              <a:tr h="666750">
                <a:tc>
                  <a:txBody>
                    <a:bodyPr/>
                    <a:lstStyle/>
                    <a:p>
                      <a:r>
                        <a:rPr sz="1725" b="0">
                          <a:solidFill>
                            <a:srgbClr val="142D4E"/>
                          </a:solidFill>
                          <a:latin typeface="Helvetica Neue"/>
                          <a:ea typeface="Helvetica Neue"/>
                          <a:cs typeface="Helvetica Neue"/>
                        </a:rPr>
                        <a:t>Coarse hash screen</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25 repeated occurrences / 5,000</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Similarity candidates only</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extLst>
                  <a:ext uri="{0D108BD9-81ED-4DB2-BD59-A6C34878D82A}">
                    <a16:rowId xmlns:a16="http://schemas.microsoft.com/office/drawing/2014/main" val="10002"/>
                  </a:ext>
                </a:extLst>
              </a:tr>
              <a:tr h="666750">
                <a:tc>
                  <a:txBody>
                    <a:bodyPr/>
                    <a:lstStyle/>
                    <a:p>
                      <a:r>
                        <a:rPr sz="1725" b="0">
                          <a:solidFill>
                            <a:srgbClr val="142D4E"/>
                          </a:solidFill>
                          <a:latin typeface="Helvetica Neue"/>
                          <a:ea typeface="Helvetica Neue"/>
                          <a:cs typeface="Helvetica Neue"/>
                        </a:rPr>
                        <a:t>Exact pixel duplicate check</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0 repeats / same 5,000</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Additional check for this deck</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extLst>
                  <a:ext uri="{0D108BD9-81ED-4DB2-BD59-A6C34878D82A}">
                    <a16:rowId xmlns:a16="http://schemas.microsoft.com/office/drawing/2014/main" val="10003"/>
                  </a:ext>
                </a:extLst>
              </a:tr>
              <a:tr h="666750">
                <a:tc>
                  <a:txBody>
                    <a:bodyPr/>
                    <a:lstStyle/>
                    <a:p>
                      <a:r>
                        <a:rPr sz="1725" b="0">
                          <a:solidFill>
                            <a:srgbClr val="142D4E"/>
                          </a:solidFill>
                          <a:latin typeface="Helvetica Neue"/>
                          <a:ea typeface="Helvetica Neue"/>
                          <a:cs typeface="Helvetica Neue"/>
                        </a:rPr>
                        <a:t>Cleaning actions</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No candidate removal in notebook</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No imputation or outlier deletion</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1865F6DB-28E1-49FC-AB7F-3422DFA67CFC}"/>
              </a:ext>
            </a:extLst>
          </p:cNvPr>
          <p:cNvSpPr>
            <a:spLocks noGrp="1"/>
          </p:cNvSpPr>
          <p:nvPr/>
        </p:nvSpPr>
        <p:spPr>
          <a:xfrm>
            <a:off x="666750" y="5791200"/>
            <a:ext cx="10668000" cy="476250"/>
          </a:xfrm>
          <a:prstGeom prst="rect">
            <a:avLst/>
          </a:prstGeom>
          <a:noFill/>
          <a:ln w="0">
            <a:noFill/>
          </a:ln>
        </p:spPr>
        <p:txBody>
          <a:bodyPr lIns="0" tIns="0" rIns="0" bIns="0" anchor="t">
            <a:noAutofit/>
          </a:bodyPr>
          <a:lstStyle>
            <a:defPPr algn="l">
              <a:defRPr sz="1875" b="1">
                <a:solidFill>
                  <a:srgbClr val="007F82"/>
                </a:solidFill>
                <a:latin typeface="Helvetica Neue"/>
                <a:ea typeface="Helvetica Neue"/>
                <a:cs typeface="Helvetica Neue"/>
              </a:defRPr>
            </a:defPPr>
            <a:lvl1pPr algn="l">
              <a:defRPr sz="1875" b="1">
                <a:solidFill>
                  <a:srgbClr val="007F82"/>
                </a:solidFill>
                <a:latin typeface="Helvetica Neue"/>
                <a:ea typeface="Helvetica Neue"/>
                <a:cs typeface="Helvetica Neue"/>
              </a:defRPr>
            </a:lvl1pPr>
            <a:lvl2pPr algn="l">
              <a:defRPr sz="1875" b="1">
                <a:solidFill>
                  <a:srgbClr val="007F82"/>
                </a:solidFill>
                <a:latin typeface="Helvetica Neue"/>
                <a:ea typeface="Helvetica Neue"/>
                <a:cs typeface="Helvetica Neue"/>
              </a:defRPr>
            </a:lvl2pPr>
            <a:lvl3pPr algn="l">
              <a:defRPr sz="1875" b="1">
                <a:solidFill>
                  <a:srgbClr val="007F82"/>
                </a:solidFill>
                <a:latin typeface="Helvetica Neue"/>
                <a:ea typeface="Helvetica Neue"/>
                <a:cs typeface="Helvetica Neue"/>
              </a:defRPr>
            </a:lvl3pPr>
            <a:lvl4pPr algn="l">
              <a:defRPr sz="1875" b="1">
                <a:solidFill>
                  <a:srgbClr val="007F82"/>
                </a:solidFill>
                <a:latin typeface="Helvetica Neue"/>
                <a:ea typeface="Helvetica Neue"/>
                <a:cs typeface="Helvetica Neue"/>
              </a:defRPr>
            </a:lvl4pPr>
            <a:lvl5pPr algn="l">
              <a:defRPr sz="1875" b="1">
                <a:solidFill>
                  <a:srgbClr val="007F82"/>
                </a:solidFill>
                <a:latin typeface="Helvetica Neue"/>
                <a:ea typeface="Helvetica Neue"/>
                <a:cs typeface="Helvetica Neue"/>
              </a:defRPr>
            </a:lvl5pPr>
            <a:lvl6pPr algn="l">
              <a:defRPr sz="1875" b="1">
                <a:solidFill>
                  <a:srgbClr val="007F82"/>
                </a:solidFill>
                <a:latin typeface="Helvetica Neue"/>
                <a:ea typeface="Helvetica Neue"/>
                <a:cs typeface="Helvetica Neue"/>
              </a:defRPr>
            </a:lvl6pPr>
            <a:lvl7pPr algn="l">
              <a:defRPr sz="1875" b="1">
                <a:solidFill>
                  <a:srgbClr val="007F82"/>
                </a:solidFill>
                <a:latin typeface="Helvetica Neue"/>
                <a:ea typeface="Helvetica Neue"/>
                <a:cs typeface="Helvetica Neue"/>
              </a:defRPr>
            </a:lvl7pPr>
            <a:lvl8pPr algn="l">
              <a:defRPr sz="1875" b="1">
                <a:solidFill>
                  <a:srgbClr val="007F82"/>
                </a:solidFill>
                <a:latin typeface="Helvetica Neue"/>
                <a:ea typeface="Helvetica Neue"/>
                <a:cs typeface="Helvetica Neue"/>
              </a:defRPr>
            </a:lvl8pPr>
            <a:lvl9pPr algn="l">
              <a:defRPr sz="1875" b="1">
                <a:solidFill>
                  <a:srgbClr val="007F82"/>
                </a:solidFill>
                <a:latin typeface="Helvetica Neue"/>
                <a:ea typeface="Helvetica Neue"/>
                <a:cs typeface="Helvetica Neue"/>
              </a:defRPr>
            </a:lvl9pPr>
          </a:lstStyle>
          <a:p>
            <a:pPr algn="l">
              <a:defRPr sz="1875" b="1">
                <a:solidFill>
                  <a:srgbClr val="007F82"/>
                </a:solidFill>
                <a:latin typeface="Helvetica Neue"/>
                <a:ea typeface="Helvetica Neue"/>
                <a:cs typeface="Helvetica Neue"/>
              </a:defRPr>
            </a:pPr>
            <a:r>
              <a:rPr sz="1875" b="1">
                <a:solidFill>
                  <a:srgbClr val="007F82"/>
                </a:solidFill>
                <a:latin typeface="Helvetica Neue"/>
                <a:ea typeface="Helvetica Neue"/>
                <a:cs typeface="Helvetica Neue"/>
              </a:rPr>
              <a:t>Unverified: full-dataset duplicates, cross-split similarity and semantic label quality</a:t>
            </a:r>
          </a:p>
        </p:txBody>
      </p:sp>
    </p:spTree>
    <p:extLst>
      <p:ext uri="{BB962C8B-B14F-4D97-AF65-F5344CB8AC3E}">
        <p14:creationId xmlns:p14="http://schemas.microsoft.com/office/powerpoint/2010/main" val="2058620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2F7590C-8B1F-49BF-96BE-0C67C3CD2522}"/>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The training split remains nearly balanced</a:t>
            </a:r>
          </a:p>
        </p:txBody>
      </p:sp>
      <p:sp>
        <p:nvSpPr>
          <p:cNvPr id="2" name="Rectangle 1">
            <a:extLst>
              <a:ext uri="{FF2B5EF4-FFF2-40B4-BE49-F238E27FC236}">
                <a16:creationId xmlns:a16="http://schemas.microsoft.com/office/drawing/2014/main" id="{F55CF0CA-D256-47B8-8060-2121A4A23EFB}"/>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07</a:t>
            </a:r>
          </a:p>
        </p:txBody>
      </p:sp>
      <p:graphicFrame>
        <p:nvGraphicFramePr>
          <p:cNvPr id="4" name="Chart">
            <a:extLst>
              <a:ext uri="{FF2B5EF4-FFF2-40B4-BE49-F238E27FC236}">
                <a16:creationId xmlns:a16="http://schemas.microsoft.com/office/drawing/2014/main" id="{1AB25CCF-77A1-4458-AA10-CFFC35968C2F}"/>
              </a:ext>
            </a:extLst>
          </p:cNvPr>
          <p:cNvGraphicFramePr/>
          <p:nvPr/>
        </p:nvGraphicFramePr>
        <p:xfrm>
          <a:off x="666750" y="1524000"/>
          <a:ext cx="10858500" cy="381000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9E8E1194-8E14-4F99-A722-CE6DA4151FCD}"/>
              </a:ext>
            </a:extLst>
          </p:cNvPr>
          <p:cNvSpPr>
            <a:spLocks noGrp="1"/>
          </p:cNvSpPr>
          <p:nvPr/>
        </p:nvSpPr>
        <p:spPr>
          <a:xfrm>
            <a:off x="666750" y="5791200"/>
            <a:ext cx="10668000" cy="476250"/>
          </a:xfrm>
          <a:prstGeom prst="rect">
            <a:avLst/>
          </a:prstGeom>
          <a:noFill/>
          <a:ln w="0">
            <a:noFill/>
          </a:ln>
        </p:spPr>
        <p:txBody>
          <a:bodyPr lIns="0" tIns="0" rIns="0" bIns="0" anchor="t">
            <a:noAutofit/>
          </a:bodyPr>
          <a:lstStyle>
            <a:defPPr algn="l">
              <a:defRPr sz="1875" b="1">
                <a:solidFill>
                  <a:srgbClr val="007F82"/>
                </a:solidFill>
                <a:latin typeface="Helvetica Neue"/>
                <a:ea typeface="Helvetica Neue"/>
                <a:cs typeface="Helvetica Neue"/>
              </a:defRPr>
            </a:defPPr>
            <a:lvl1pPr algn="l">
              <a:defRPr sz="1875" b="1">
                <a:solidFill>
                  <a:srgbClr val="007F82"/>
                </a:solidFill>
                <a:latin typeface="Helvetica Neue"/>
                <a:ea typeface="Helvetica Neue"/>
                <a:cs typeface="Helvetica Neue"/>
              </a:defRPr>
            </a:lvl1pPr>
            <a:lvl2pPr algn="l">
              <a:defRPr sz="1875" b="1">
                <a:solidFill>
                  <a:srgbClr val="007F82"/>
                </a:solidFill>
                <a:latin typeface="Helvetica Neue"/>
                <a:ea typeface="Helvetica Neue"/>
                <a:cs typeface="Helvetica Neue"/>
              </a:defRPr>
            </a:lvl2pPr>
            <a:lvl3pPr algn="l">
              <a:defRPr sz="1875" b="1">
                <a:solidFill>
                  <a:srgbClr val="007F82"/>
                </a:solidFill>
                <a:latin typeface="Helvetica Neue"/>
                <a:ea typeface="Helvetica Neue"/>
                <a:cs typeface="Helvetica Neue"/>
              </a:defRPr>
            </a:lvl3pPr>
            <a:lvl4pPr algn="l">
              <a:defRPr sz="1875" b="1">
                <a:solidFill>
                  <a:srgbClr val="007F82"/>
                </a:solidFill>
                <a:latin typeface="Helvetica Neue"/>
                <a:ea typeface="Helvetica Neue"/>
                <a:cs typeface="Helvetica Neue"/>
              </a:defRPr>
            </a:lvl4pPr>
            <a:lvl5pPr algn="l">
              <a:defRPr sz="1875" b="1">
                <a:solidFill>
                  <a:srgbClr val="007F82"/>
                </a:solidFill>
                <a:latin typeface="Helvetica Neue"/>
                <a:ea typeface="Helvetica Neue"/>
                <a:cs typeface="Helvetica Neue"/>
              </a:defRPr>
            </a:lvl5pPr>
            <a:lvl6pPr algn="l">
              <a:defRPr sz="1875" b="1">
                <a:solidFill>
                  <a:srgbClr val="007F82"/>
                </a:solidFill>
                <a:latin typeface="Helvetica Neue"/>
                <a:ea typeface="Helvetica Neue"/>
                <a:cs typeface="Helvetica Neue"/>
              </a:defRPr>
            </a:lvl6pPr>
            <a:lvl7pPr algn="l">
              <a:defRPr sz="1875" b="1">
                <a:solidFill>
                  <a:srgbClr val="007F82"/>
                </a:solidFill>
                <a:latin typeface="Helvetica Neue"/>
                <a:ea typeface="Helvetica Neue"/>
                <a:cs typeface="Helvetica Neue"/>
              </a:defRPr>
            </a:lvl7pPr>
            <a:lvl8pPr algn="l">
              <a:defRPr sz="1875" b="1">
                <a:solidFill>
                  <a:srgbClr val="007F82"/>
                </a:solidFill>
                <a:latin typeface="Helvetica Neue"/>
                <a:ea typeface="Helvetica Neue"/>
                <a:cs typeface="Helvetica Neue"/>
              </a:defRPr>
            </a:lvl8pPr>
            <a:lvl9pPr algn="l">
              <a:defRPr sz="1875" b="1">
                <a:solidFill>
                  <a:srgbClr val="007F82"/>
                </a:solidFill>
                <a:latin typeface="Helvetica Neue"/>
                <a:ea typeface="Helvetica Neue"/>
                <a:cs typeface="Helvetica Neue"/>
              </a:defRPr>
            </a:lvl9pPr>
          </a:lstStyle>
          <a:p>
            <a:pPr algn="l">
              <a:defRPr sz="1875" b="1">
                <a:solidFill>
                  <a:srgbClr val="007F82"/>
                </a:solidFill>
                <a:latin typeface="Helvetica Neue"/>
                <a:ea typeface="Helvetica Neue"/>
                <a:cs typeface="Helvetica Neue"/>
              </a:defRPr>
            </a:pPr>
            <a:r>
              <a:rPr sz="1875" b="1">
                <a:solidFill>
                  <a:srgbClr val="007F82"/>
                </a:solidFill>
                <a:latin typeface="Helvetica Neue"/>
                <a:ea typeface="Helvetica Neue"/>
                <a:cs typeface="Helvetica Neue"/>
              </a:rPr>
              <a:t>Counts range from 4,735 to 4,765. No class resampling appears in the pipeline</a:t>
            </a:r>
          </a:p>
        </p:txBody>
      </p:sp>
    </p:spTree>
    <p:extLst>
      <p:ext uri="{BB962C8B-B14F-4D97-AF65-F5344CB8AC3E}">
        <p14:creationId xmlns:p14="http://schemas.microsoft.com/office/powerpoint/2010/main" val="1851771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80A6137-D4B7-4261-9A36-ECA83279B845}"/>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Pixel scaling preserves the image signal</a:t>
            </a:r>
          </a:p>
        </p:txBody>
      </p:sp>
      <p:sp>
        <p:nvSpPr>
          <p:cNvPr id="2" name="Rectangle 1">
            <a:extLst>
              <a:ext uri="{FF2B5EF4-FFF2-40B4-BE49-F238E27FC236}">
                <a16:creationId xmlns:a16="http://schemas.microsoft.com/office/drawing/2014/main" id="{B1DEC04B-D829-43C0-8C1C-E1BB0708BF5E}"/>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08</a:t>
            </a:r>
          </a:p>
        </p:txBody>
      </p:sp>
      <p:sp>
        <p:nvSpPr>
          <p:cNvPr id="4" name="Rectangle 3">
            <a:extLst>
              <a:ext uri="{FF2B5EF4-FFF2-40B4-BE49-F238E27FC236}">
                <a16:creationId xmlns:a16="http://schemas.microsoft.com/office/drawing/2014/main" id="{3E085ECB-50DD-416A-B2CA-6B10E619533F}"/>
              </a:ext>
            </a:extLst>
          </p:cNvPr>
          <p:cNvSpPr>
            <a:spLocks noGrp="1"/>
          </p:cNvSpPr>
          <p:nvPr/>
        </p:nvSpPr>
        <p:spPr>
          <a:xfrm>
            <a:off x="666750" y="1524000"/>
            <a:ext cx="10763250" cy="571500"/>
          </a:xfrm>
          <a:prstGeom prst="rect">
            <a:avLst/>
          </a:prstGeom>
          <a:noFill/>
          <a:ln w="0">
            <a:noFill/>
          </a:ln>
        </p:spPr>
        <p:txBody>
          <a:bodyPr lIns="0" tIns="0" rIns="0" bIns="0" anchor="t">
            <a:noAutofit/>
          </a:bodyPr>
          <a:lstStyle>
            <a:defPPr algn="l">
              <a:defRPr sz="2700" b="1">
                <a:solidFill>
                  <a:srgbClr val="007F82"/>
                </a:solidFill>
                <a:latin typeface="Helvetica Neue"/>
                <a:ea typeface="Helvetica Neue"/>
                <a:cs typeface="Helvetica Neue"/>
              </a:defRPr>
            </a:defPPr>
            <a:lvl1pPr algn="l">
              <a:defRPr sz="2700" b="1">
                <a:solidFill>
                  <a:srgbClr val="007F82"/>
                </a:solidFill>
                <a:latin typeface="Helvetica Neue"/>
                <a:ea typeface="Helvetica Neue"/>
                <a:cs typeface="Helvetica Neue"/>
              </a:defRPr>
            </a:lvl1pPr>
            <a:lvl2pPr algn="l">
              <a:defRPr sz="2700" b="1">
                <a:solidFill>
                  <a:srgbClr val="007F82"/>
                </a:solidFill>
                <a:latin typeface="Helvetica Neue"/>
                <a:ea typeface="Helvetica Neue"/>
                <a:cs typeface="Helvetica Neue"/>
              </a:defRPr>
            </a:lvl2pPr>
            <a:lvl3pPr algn="l">
              <a:defRPr sz="2700" b="1">
                <a:solidFill>
                  <a:srgbClr val="007F82"/>
                </a:solidFill>
                <a:latin typeface="Helvetica Neue"/>
                <a:ea typeface="Helvetica Neue"/>
                <a:cs typeface="Helvetica Neue"/>
              </a:defRPr>
            </a:lvl3pPr>
            <a:lvl4pPr algn="l">
              <a:defRPr sz="2700" b="1">
                <a:solidFill>
                  <a:srgbClr val="007F82"/>
                </a:solidFill>
                <a:latin typeface="Helvetica Neue"/>
                <a:ea typeface="Helvetica Neue"/>
                <a:cs typeface="Helvetica Neue"/>
              </a:defRPr>
            </a:lvl4pPr>
            <a:lvl5pPr algn="l">
              <a:defRPr sz="2700" b="1">
                <a:solidFill>
                  <a:srgbClr val="007F82"/>
                </a:solidFill>
                <a:latin typeface="Helvetica Neue"/>
                <a:ea typeface="Helvetica Neue"/>
                <a:cs typeface="Helvetica Neue"/>
              </a:defRPr>
            </a:lvl5pPr>
            <a:lvl6pPr algn="l">
              <a:defRPr sz="2700" b="1">
                <a:solidFill>
                  <a:srgbClr val="007F82"/>
                </a:solidFill>
                <a:latin typeface="Helvetica Neue"/>
                <a:ea typeface="Helvetica Neue"/>
                <a:cs typeface="Helvetica Neue"/>
              </a:defRPr>
            </a:lvl6pPr>
            <a:lvl7pPr algn="l">
              <a:defRPr sz="2700" b="1">
                <a:solidFill>
                  <a:srgbClr val="007F82"/>
                </a:solidFill>
                <a:latin typeface="Helvetica Neue"/>
                <a:ea typeface="Helvetica Neue"/>
                <a:cs typeface="Helvetica Neue"/>
              </a:defRPr>
            </a:lvl7pPr>
            <a:lvl8pPr algn="l">
              <a:defRPr sz="2700" b="1">
                <a:solidFill>
                  <a:srgbClr val="007F82"/>
                </a:solidFill>
                <a:latin typeface="Helvetica Neue"/>
                <a:ea typeface="Helvetica Neue"/>
                <a:cs typeface="Helvetica Neue"/>
              </a:defRPr>
            </a:lvl8pPr>
            <a:lvl9pPr algn="l">
              <a:defRPr sz="2700" b="1">
                <a:solidFill>
                  <a:srgbClr val="007F82"/>
                </a:solidFill>
                <a:latin typeface="Helvetica Neue"/>
                <a:ea typeface="Helvetica Neue"/>
                <a:cs typeface="Helvetica Neue"/>
              </a:defRPr>
            </a:lvl9pPr>
          </a:lstStyle>
          <a:p>
            <a:pPr algn="l">
              <a:defRPr sz="2700" b="1">
                <a:solidFill>
                  <a:srgbClr val="007F82"/>
                </a:solidFill>
                <a:latin typeface="Helvetica Neue"/>
                <a:ea typeface="Helvetica Neue"/>
                <a:cs typeface="Helvetica Neue"/>
              </a:defRPr>
            </a:pPr>
            <a:r>
              <a:rPr sz="2700" b="1">
                <a:solidFill>
                  <a:srgbClr val="007F82"/>
                </a:solidFill>
                <a:latin typeface="Helvetica Neue"/>
                <a:ea typeface="Helvetica Neue"/>
                <a:cs typeface="Helvetica Neue"/>
              </a:rPr>
              <a:t>x_normalized = 2 × x_[0,1] − 1</a:t>
            </a:r>
          </a:p>
        </p:txBody>
      </p:sp>
      <p:graphicFrame>
        <p:nvGraphicFramePr>
          <p:cNvPr id="5" name="Table 4">
            <a:extLst>
              <a:ext uri="{FF2B5EF4-FFF2-40B4-BE49-F238E27FC236}">
                <a16:creationId xmlns:a16="http://schemas.microsoft.com/office/drawing/2014/main" id="{69B876BC-9768-43E1-AC59-0031510A8CA6}"/>
              </a:ext>
            </a:extLst>
          </p:cNvPr>
          <p:cNvGraphicFramePr/>
          <p:nvPr/>
        </p:nvGraphicFramePr>
        <p:xfrm>
          <a:off x="666750" y="2524125"/>
          <a:ext cx="10858500" cy="2333624"/>
        </p:xfrm>
        <a:graphic>
          <a:graphicData uri="http://schemas.openxmlformats.org/drawingml/2006/table">
            <a:tbl>
              <a:tblPr/>
              <a:tblGrid>
                <a:gridCol w="209550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tblGrid>
              <a:tr h="583406">
                <a:tc>
                  <a:txBody>
                    <a:bodyPr/>
                    <a:lstStyle/>
                    <a:p>
                      <a:r>
                        <a:rPr sz="1725" b="1">
                          <a:solidFill>
                            <a:srgbClr val="FFFFFF"/>
                          </a:solidFill>
                          <a:latin typeface="Helvetica Neue"/>
                          <a:ea typeface="Helvetica Neue"/>
                          <a:cs typeface="Helvetica Neue"/>
                        </a:rPr>
                        <a:t>Channel</a:t>
                      </a:r>
                    </a:p>
                  </a:txBody>
                  <a:tcPr anchor="ctr">
                    <a:lnL w="9525">
                      <a:solidFill>
                        <a:srgbClr val="D4DEE8"/>
                      </a:solidFill>
                      <a:prstDash val="soli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tc>
                  <a:txBody>
                    <a:bodyPr/>
                    <a:lstStyle/>
                    <a:p>
                      <a:r>
                        <a:rPr sz="1725" b="1">
                          <a:solidFill>
                            <a:srgbClr val="FFFFFF"/>
                          </a:solidFill>
                          <a:latin typeface="Helvetica Neue"/>
                          <a:ea typeface="Helvetica Neue"/>
                          <a:cs typeface="Helvetica Neue"/>
                        </a:rPr>
                        <a:t>Mean [0,1]</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tc>
                  <a:txBody>
                    <a:bodyPr/>
                    <a:lstStyle/>
                    <a:p>
                      <a:r>
                        <a:rPr sz="1725" b="1">
                          <a:solidFill>
                            <a:srgbClr val="FFFFFF"/>
                          </a:solidFill>
                          <a:latin typeface="Helvetica Neue"/>
                          <a:ea typeface="Helvetica Neue"/>
                          <a:cs typeface="Helvetica Neue"/>
                        </a:rPr>
                        <a:t>Std [0,1]</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tc>
                  <a:txBody>
                    <a:bodyPr/>
                    <a:lstStyle/>
                    <a:p>
                      <a:r>
                        <a:rPr sz="1725" b="1">
                          <a:solidFill>
                            <a:srgbClr val="FFFFFF"/>
                          </a:solidFill>
                          <a:latin typeface="Helvetica Neue"/>
                          <a:ea typeface="Helvetica Neue"/>
                          <a:cs typeface="Helvetica Neue"/>
                        </a:rPr>
                        <a:t>Mean [−1,1]</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tc>
                  <a:txBody>
                    <a:bodyPr/>
                    <a:lstStyle/>
                    <a:p>
                      <a:r>
                        <a:rPr sz="1725" b="1">
                          <a:solidFill>
                            <a:srgbClr val="FFFFFF"/>
                          </a:solidFill>
                          <a:latin typeface="Helvetica Neue"/>
                          <a:ea typeface="Helvetica Neue"/>
                          <a:cs typeface="Helvetica Neue"/>
                        </a:rPr>
                        <a:t>Std [−1,1]</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extLst>
                  <a:ext uri="{0D108BD9-81ED-4DB2-BD59-A6C34878D82A}">
                    <a16:rowId xmlns:a16="http://schemas.microsoft.com/office/drawing/2014/main" val="10000"/>
                  </a:ext>
                </a:extLst>
              </a:tr>
              <a:tr h="583406">
                <a:tc>
                  <a:txBody>
                    <a:bodyPr/>
                    <a:lstStyle/>
                    <a:p>
                      <a:r>
                        <a:rPr sz="1725" b="0">
                          <a:solidFill>
                            <a:srgbClr val="142D4E"/>
                          </a:solidFill>
                          <a:latin typeface="Helvetica Neue"/>
                          <a:ea typeface="Helvetica Neue"/>
                          <a:cs typeface="Helvetica Neue"/>
                        </a:rPr>
                        <a:t>Red</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0.494</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0.248</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-0.011</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0.496</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extLst>
                  <a:ext uri="{0D108BD9-81ED-4DB2-BD59-A6C34878D82A}">
                    <a16:rowId xmlns:a16="http://schemas.microsoft.com/office/drawing/2014/main" val="10001"/>
                  </a:ext>
                </a:extLst>
              </a:tr>
              <a:tr h="583406">
                <a:tc>
                  <a:txBody>
                    <a:bodyPr/>
                    <a:lstStyle/>
                    <a:p>
                      <a:r>
                        <a:rPr sz="1725" b="0">
                          <a:solidFill>
                            <a:srgbClr val="142D4E"/>
                          </a:solidFill>
                          <a:latin typeface="Helvetica Neue"/>
                          <a:ea typeface="Helvetica Neue"/>
                          <a:cs typeface="Helvetica Neue"/>
                        </a:rPr>
                        <a:t>Green</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0.486</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0.244</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-0.028</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0.488</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extLst>
                  <a:ext uri="{0D108BD9-81ED-4DB2-BD59-A6C34878D82A}">
                    <a16:rowId xmlns:a16="http://schemas.microsoft.com/office/drawing/2014/main" val="10002"/>
                  </a:ext>
                </a:extLst>
              </a:tr>
              <a:tr h="583406">
                <a:tc>
                  <a:txBody>
                    <a:bodyPr/>
                    <a:lstStyle/>
                    <a:p>
                      <a:r>
                        <a:rPr sz="1725" b="0">
                          <a:solidFill>
                            <a:srgbClr val="142D4E"/>
                          </a:solidFill>
                          <a:latin typeface="Helvetica Neue"/>
                          <a:ea typeface="Helvetica Neue"/>
                          <a:cs typeface="Helvetica Neue"/>
                        </a:rPr>
                        <a:t>Blue</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0.449</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0.263</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-0.101</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0.526</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C372B9E2-930A-4F16-9745-90C7225DBEA2}"/>
              </a:ext>
            </a:extLst>
          </p:cNvPr>
          <p:cNvSpPr>
            <a:spLocks noGrp="1"/>
          </p:cNvSpPr>
          <p:nvPr/>
        </p:nvSpPr>
        <p:spPr>
          <a:xfrm>
            <a:off x="666750" y="5791200"/>
            <a:ext cx="10668000" cy="476250"/>
          </a:xfrm>
          <a:prstGeom prst="rect">
            <a:avLst/>
          </a:prstGeom>
          <a:noFill/>
          <a:ln w="0">
            <a:noFill/>
          </a:ln>
        </p:spPr>
        <p:txBody>
          <a:bodyPr lIns="0" tIns="0" rIns="0" bIns="0" anchor="t">
            <a:noAutofit/>
          </a:bodyPr>
          <a:lstStyle>
            <a:defPPr algn="l">
              <a:defRPr sz="1875" b="1">
                <a:solidFill>
                  <a:srgbClr val="007F82"/>
                </a:solidFill>
                <a:latin typeface="Helvetica Neue"/>
                <a:ea typeface="Helvetica Neue"/>
                <a:cs typeface="Helvetica Neue"/>
              </a:defRPr>
            </a:defPPr>
            <a:lvl1pPr algn="l">
              <a:defRPr sz="1875" b="1">
                <a:solidFill>
                  <a:srgbClr val="007F82"/>
                </a:solidFill>
                <a:latin typeface="Helvetica Neue"/>
                <a:ea typeface="Helvetica Neue"/>
                <a:cs typeface="Helvetica Neue"/>
              </a:defRPr>
            </a:lvl1pPr>
            <a:lvl2pPr algn="l">
              <a:defRPr sz="1875" b="1">
                <a:solidFill>
                  <a:srgbClr val="007F82"/>
                </a:solidFill>
                <a:latin typeface="Helvetica Neue"/>
                <a:ea typeface="Helvetica Neue"/>
                <a:cs typeface="Helvetica Neue"/>
              </a:defRPr>
            </a:lvl2pPr>
            <a:lvl3pPr algn="l">
              <a:defRPr sz="1875" b="1">
                <a:solidFill>
                  <a:srgbClr val="007F82"/>
                </a:solidFill>
                <a:latin typeface="Helvetica Neue"/>
                <a:ea typeface="Helvetica Neue"/>
                <a:cs typeface="Helvetica Neue"/>
              </a:defRPr>
            </a:lvl3pPr>
            <a:lvl4pPr algn="l">
              <a:defRPr sz="1875" b="1">
                <a:solidFill>
                  <a:srgbClr val="007F82"/>
                </a:solidFill>
                <a:latin typeface="Helvetica Neue"/>
                <a:ea typeface="Helvetica Neue"/>
                <a:cs typeface="Helvetica Neue"/>
              </a:defRPr>
            </a:lvl4pPr>
            <a:lvl5pPr algn="l">
              <a:defRPr sz="1875" b="1">
                <a:solidFill>
                  <a:srgbClr val="007F82"/>
                </a:solidFill>
                <a:latin typeface="Helvetica Neue"/>
                <a:ea typeface="Helvetica Neue"/>
                <a:cs typeface="Helvetica Neue"/>
              </a:defRPr>
            </a:lvl5pPr>
            <a:lvl6pPr algn="l">
              <a:defRPr sz="1875" b="1">
                <a:solidFill>
                  <a:srgbClr val="007F82"/>
                </a:solidFill>
                <a:latin typeface="Helvetica Neue"/>
                <a:ea typeface="Helvetica Neue"/>
                <a:cs typeface="Helvetica Neue"/>
              </a:defRPr>
            </a:lvl6pPr>
            <a:lvl7pPr algn="l">
              <a:defRPr sz="1875" b="1">
                <a:solidFill>
                  <a:srgbClr val="007F82"/>
                </a:solidFill>
                <a:latin typeface="Helvetica Neue"/>
                <a:ea typeface="Helvetica Neue"/>
                <a:cs typeface="Helvetica Neue"/>
              </a:defRPr>
            </a:lvl7pPr>
            <a:lvl8pPr algn="l">
              <a:defRPr sz="1875" b="1">
                <a:solidFill>
                  <a:srgbClr val="007F82"/>
                </a:solidFill>
                <a:latin typeface="Helvetica Neue"/>
                <a:ea typeface="Helvetica Neue"/>
                <a:cs typeface="Helvetica Neue"/>
              </a:defRPr>
            </a:lvl8pPr>
            <a:lvl9pPr algn="l">
              <a:defRPr sz="1875" b="1">
                <a:solidFill>
                  <a:srgbClr val="007F82"/>
                </a:solidFill>
                <a:latin typeface="Helvetica Neue"/>
                <a:ea typeface="Helvetica Neue"/>
                <a:cs typeface="Helvetica Neue"/>
              </a:defRPr>
            </a:lvl9pPr>
          </a:lstStyle>
          <a:p>
            <a:pPr algn="l">
              <a:defRPr sz="1875" b="1">
                <a:solidFill>
                  <a:srgbClr val="007F82"/>
                </a:solidFill>
                <a:latin typeface="Helvetica Neue"/>
                <a:ea typeface="Helvetica Neue"/>
                <a:cs typeface="Helvetica Neue"/>
              </a:defRPr>
            </a:pPr>
            <a:r>
              <a:rPr sz="1875" b="1">
                <a:solidFill>
                  <a:srgbClr val="007F82"/>
                </a:solidFill>
                <a:latin typeface="Helvetica Neue"/>
                <a:ea typeface="Helvetica Neue"/>
                <a:cs typeface="Helvetica Neue"/>
              </a:rPr>
              <a:t>The transform changes the scale. It does not force zero mean or unit variance</a:t>
            </a:r>
          </a:p>
        </p:txBody>
      </p:sp>
    </p:spTree>
    <p:extLst>
      <p:ext uri="{BB962C8B-B14F-4D97-AF65-F5344CB8AC3E}">
        <p14:creationId xmlns:p14="http://schemas.microsoft.com/office/powerpoint/2010/main" val="193917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cxnSp>
        <p:nvCxnSpPr>
          <p:cNvPr id="12" name="Straight Arrow Connector 11">
            <a:extLst>
              <a:ext uri="{FF2B5EF4-FFF2-40B4-BE49-F238E27FC236}">
                <a16:creationId xmlns:a16="http://schemas.microsoft.com/office/drawing/2014/main" id="{E457C464-C94E-4E7A-9A57-BE991D71B8BB}"/>
              </a:ext>
            </a:extLst>
          </p:cNvPr>
          <p:cNvCxnSpPr>
            <a:stCxn id="7" idx="2"/>
            <a:endCxn id="11" idx="0"/>
          </p:cNvCxnSpPr>
          <p:nvPr/>
        </p:nvCxnSpPr>
        <p:spPr>
          <a:xfrm flipH="1">
            <a:off x="8048625" y="2952750"/>
            <a:ext cx="1905000" cy="1190625"/>
          </a:xfrm>
          <a:prstGeom prst="straightConnector1">
            <a:avLst/>
          </a:prstGeom>
          <a:ln w="19050">
            <a:solidFill>
              <a:srgbClr val="007F82"/>
            </a:solidFill>
            <a:prstDash val="solid"/>
            <a:tailEnd type="triangle" w="med" len="med"/>
          </a:ln>
        </p:spPr>
      </p:cxnSp>
      <p:cxnSp>
        <p:nvCxnSpPr>
          <p:cNvPr id="10" name="Straight Arrow Connector 9">
            <a:extLst>
              <a:ext uri="{FF2B5EF4-FFF2-40B4-BE49-F238E27FC236}">
                <a16:creationId xmlns:a16="http://schemas.microsoft.com/office/drawing/2014/main" id="{E442AB25-074B-4FF7-8D3F-CA39E3812F1B}"/>
              </a:ext>
            </a:extLst>
          </p:cNvPr>
          <p:cNvCxnSpPr>
            <a:stCxn id="6" idx="3"/>
            <a:endCxn id="7" idx="1"/>
          </p:cNvCxnSpPr>
          <p:nvPr/>
        </p:nvCxnSpPr>
        <p:spPr>
          <a:xfrm>
            <a:off x="8382000" y="2428875"/>
            <a:ext cx="428625" cy="0"/>
          </a:xfrm>
          <a:prstGeom prst="straightConnector1">
            <a:avLst/>
          </a:prstGeom>
          <a:ln w="19050">
            <a:solidFill>
              <a:srgbClr val="007F82"/>
            </a:solidFill>
            <a:prstDash val="solid"/>
            <a:tailEnd type="triangle" w="med" len="med"/>
          </a:ln>
        </p:spPr>
      </p:cxnSp>
      <p:cxnSp>
        <p:nvCxnSpPr>
          <p:cNvPr id="9" name="Straight Arrow Connector 8">
            <a:extLst>
              <a:ext uri="{FF2B5EF4-FFF2-40B4-BE49-F238E27FC236}">
                <a16:creationId xmlns:a16="http://schemas.microsoft.com/office/drawing/2014/main" id="{4785FF42-FB24-4EE3-BBDB-499328F0773F}"/>
              </a:ext>
            </a:extLst>
          </p:cNvPr>
          <p:cNvCxnSpPr>
            <a:stCxn id="5" idx="3"/>
            <a:endCxn id="6" idx="1"/>
          </p:cNvCxnSpPr>
          <p:nvPr/>
        </p:nvCxnSpPr>
        <p:spPr>
          <a:xfrm>
            <a:off x="5667375" y="2428875"/>
            <a:ext cx="428625" cy="0"/>
          </a:xfrm>
          <a:prstGeom prst="straightConnector1">
            <a:avLst/>
          </a:prstGeom>
          <a:ln w="19050">
            <a:solidFill>
              <a:srgbClr val="007F82"/>
            </a:solidFill>
            <a:prstDash val="solid"/>
            <a:tailEnd type="triangle" w="med" len="med"/>
          </a:ln>
        </p:spPr>
      </p:cxnSp>
      <p:cxnSp>
        <p:nvCxnSpPr>
          <p:cNvPr id="8" name="Straight Arrow Connector 7">
            <a:extLst>
              <a:ext uri="{FF2B5EF4-FFF2-40B4-BE49-F238E27FC236}">
                <a16:creationId xmlns:a16="http://schemas.microsoft.com/office/drawing/2014/main" id="{1F4F5ED5-466A-4A59-AF21-5B37DB890875}"/>
              </a:ext>
            </a:extLst>
          </p:cNvPr>
          <p:cNvCxnSpPr>
            <a:stCxn id="4" idx="3"/>
            <a:endCxn id="5" idx="1"/>
          </p:cNvCxnSpPr>
          <p:nvPr/>
        </p:nvCxnSpPr>
        <p:spPr>
          <a:xfrm>
            <a:off x="2952750" y="2428875"/>
            <a:ext cx="428625" cy="0"/>
          </a:xfrm>
          <a:prstGeom prst="straightConnector1">
            <a:avLst/>
          </a:prstGeom>
          <a:ln w="19050">
            <a:solidFill>
              <a:srgbClr val="007F82"/>
            </a:solidFill>
            <a:prstDash val="solid"/>
            <a:tailEnd type="triangle" w="med" len="med"/>
          </a:ln>
        </p:spPr>
      </p:cxnSp>
      <p:sp>
        <p:nvSpPr>
          <p:cNvPr id="15" name="Rectangle 14">
            <a:extLst>
              <a:ext uri="{FF2B5EF4-FFF2-40B4-BE49-F238E27FC236}">
                <a16:creationId xmlns:a16="http://schemas.microsoft.com/office/drawing/2014/main" id="{82D74C43-6463-4E75-806A-B4031853681E}"/>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Image preprocessing and batching</a:t>
            </a:r>
          </a:p>
        </p:txBody>
      </p:sp>
      <p:sp>
        <p:nvSpPr>
          <p:cNvPr id="2" name="Rectangle 1">
            <a:extLst>
              <a:ext uri="{FF2B5EF4-FFF2-40B4-BE49-F238E27FC236}">
                <a16:creationId xmlns:a16="http://schemas.microsoft.com/office/drawing/2014/main" id="{FB7C564F-7C20-4604-A53C-A1218F9C6C1A}"/>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09</a:t>
            </a:r>
          </a:p>
        </p:txBody>
      </p:sp>
      <p:sp>
        <p:nvSpPr>
          <p:cNvPr id="4" name="Rectangle 3">
            <a:extLst>
              <a:ext uri="{FF2B5EF4-FFF2-40B4-BE49-F238E27FC236}">
                <a16:creationId xmlns:a16="http://schemas.microsoft.com/office/drawing/2014/main" id="{CD5068DA-C65C-4E62-8162-2EFC5CB14D46}"/>
              </a:ext>
            </a:extLst>
          </p:cNvPr>
          <p:cNvSpPr>
            <a:spLocks noGrp="1"/>
          </p:cNvSpPr>
          <p:nvPr/>
        </p:nvSpPr>
        <p:spPr>
          <a:xfrm>
            <a:off x="666750" y="1905000"/>
            <a:ext cx="2286000" cy="1047750"/>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Training</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indices</a:t>
            </a:r>
          </a:p>
        </p:txBody>
      </p:sp>
      <p:sp>
        <p:nvSpPr>
          <p:cNvPr id="5" name="Rectangle 4">
            <a:extLst>
              <a:ext uri="{FF2B5EF4-FFF2-40B4-BE49-F238E27FC236}">
                <a16:creationId xmlns:a16="http://schemas.microsoft.com/office/drawing/2014/main" id="{2481FE97-AF80-4305-A7FA-0C5D85D66D8D}"/>
              </a:ext>
            </a:extLst>
          </p:cNvPr>
          <p:cNvSpPr>
            <a:spLocks noGrp="1"/>
          </p:cNvSpPr>
          <p:nvPr/>
        </p:nvSpPr>
        <p:spPr>
          <a:xfrm>
            <a:off x="3381375" y="1905000"/>
            <a:ext cx="2286000" cy="1047750"/>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Random</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horizontal flip</a:t>
            </a:r>
          </a:p>
        </p:txBody>
      </p:sp>
      <p:sp>
        <p:nvSpPr>
          <p:cNvPr id="6" name="Rectangle 5">
            <a:extLst>
              <a:ext uri="{FF2B5EF4-FFF2-40B4-BE49-F238E27FC236}">
                <a16:creationId xmlns:a16="http://schemas.microsoft.com/office/drawing/2014/main" id="{69FE634E-1461-4AAC-A20F-28BC089E1A3A}"/>
              </a:ext>
            </a:extLst>
          </p:cNvPr>
          <p:cNvSpPr>
            <a:spLocks noGrp="1"/>
          </p:cNvSpPr>
          <p:nvPr/>
        </p:nvSpPr>
        <p:spPr>
          <a:xfrm>
            <a:off x="6096000" y="1905000"/>
            <a:ext cx="2286000" cy="1047750"/>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Tensor</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[0,1]</a:t>
            </a:r>
          </a:p>
        </p:txBody>
      </p:sp>
      <p:sp>
        <p:nvSpPr>
          <p:cNvPr id="7" name="Rectangle 6">
            <a:extLst>
              <a:ext uri="{FF2B5EF4-FFF2-40B4-BE49-F238E27FC236}">
                <a16:creationId xmlns:a16="http://schemas.microsoft.com/office/drawing/2014/main" id="{39BB7DB9-EE1C-414E-AD92-B82D431DA71E}"/>
              </a:ext>
            </a:extLst>
          </p:cNvPr>
          <p:cNvSpPr>
            <a:spLocks noGrp="1"/>
          </p:cNvSpPr>
          <p:nvPr/>
        </p:nvSpPr>
        <p:spPr>
          <a:xfrm>
            <a:off x="8810625" y="1905000"/>
            <a:ext cx="2286000" cy="1047750"/>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Scale</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[−1,1]</a:t>
            </a:r>
          </a:p>
        </p:txBody>
      </p:sp>
      <p:sp>
        <p:nvSpPr>
          <p:cNvPr id="11" name="Rectangle 10">
            <a:extLst>
              <a:ext uri="{FF2B5EF4-FFF2-40B4-BE49-F238E27FC236}">
                <a16:creationId xmlns:a16="http://schemas.microsoft.com/office/drawing/2014/main" id="{5A74ACBE-E823-4ABB-AB01-4E13EF1A3F00}"/>
              </a:ext>
            </a:extLst>
          </p:cNvPr>
          <p:cNvSpPr>
            <a:spLocks noGrp="1"/>
          </p:cNvSpPr>
          <p:nvPr/>
        </p:nvSpPr>
        <p:spPr>
          <a:xfrm>
            <a:off x="6191250" y="4143375"/>
            <a:ext cx="3714750" cy="1047750"/>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Shuffle and batch</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128 × 3 × 32 × 32</a:t>
            </a:r>
          </a:p>
        </p:txBody>
      </p:sp>
      <p:sp>
        <p:nvSpPr>
          <p:cNvPr id="13" name="Rectangle 12">
            <a:extLst>
              <a:ext uri="{FF2B5EF4-FFF2-40B4-BE49-F238E27FC236}">
                <a16:creationId xmlns:a16="http://schemas.microsoft.com/office/drawing/2014/main" id="{8D025BDE-8B6D-453F-B198-FF0C47552D1C}"/>
              </a:ext>
            </a:extLst>
          </p:cNvPr>
          <p:cNvSpPr>
            <a:spLocks noGrp="1"/>
          </p:cNvSpPr>
          <p:nvPr/>
        </p:nvSpPr>
        <p:spPr>
          <a:xfrm>
            <a:off x="666750" y="4048125"/>
            <a:ext cx="4572000" cy="1190625"/>
          </a:xfrm>
          <a:prstGeom prst="rect">
            <a:avLst/>
          </a:prstGeom>
          <a:noFill/>
          <a:ln w="0">
            <a:noFill/>
          </a:ln>
        </p:spPr>
        <p:txBody>
          <a:bodyPr lIns="0" tIns="0" rIns="0" bIns="0" anchor="t">
            <a:noAutofit/>
          </a:bodyPr>
          <a:lstStyle>
            <a:defPPr algn="l">
              <a:defRPr sz="2100" b="0">
                <a:solidFill>
                  <a:srgbClr val="142D4E"/>
                </a:solidFill>
                <a:latin typeface="Helvetica Neue"/>
                <a:ea typeface="Helvetica Neue"/>
                <a:cs typeface="Helvetica Neue"/>
              </a:defRPr>
            </a:defPPr>
            <a:lvl1pPr algn="l">
              <a:defRPr sz="2100" b="0">
                <a:solidFill>
                  <a:srgbClr val="142D4E"/>
                </a:solidFill>
                <a:latin typeface="Helvetica Neue"/>
                <a:ea typeface="Helvetica Neue"/>
                <a:cs typeface="Helvetica Neue"/>
              </a:defRPr>
            </a:lvl1pPr>
            <a:lvl2pPr algn="l">
              <a:defRPr sz="2100" b="0">
                <a:solidFill>
                  <a:srgbClr val="142D4E"/>
                </a:solidFill>
                <a:latin typeface="Helvetica Neue"/>
                <a:ea typeface="Helvetica Neue"/>
                <a:cs typeface="Helvetica Neue"/>
              </a:defRPr>
            </a:lvl2pPr>
            <a:lvl3pPr algn="l">
              <a:defRPr sz="2100" b="0">
                <a:solidFill>
                  <a:srgbClr val="142D4E"/>
                </a:solidFill>
                <a:latin typeface="Helvetica Neue"/>
                <a:ea typeface="Helvetica Neue"/>
                <a:cs typeface="Helvetica Neue"/>
              </a:defRPr>
            </a:lvl3pPr>
            <a:lvl4pPr algn="l">
              <a:defRPr sz="2100" b="0">
                <a:solidFill>
                  <a:srgbClr val="142D4E"/>
                </a:solidFill>
                <a:latin typeface="Helvetica Neue"/>
                <a:ea typeface="Helvetica Neue"/>
                <a:cs typeface="Helvetica Neue"/>
              </a:defRPr>
            </a:lvl4pPr>
            <a:lvl5pPr algn="l">
              <a:defRPr sz="2100" b="0">
                <a:solidFill>
                  <a:srgbClr val="142D4E"/>
                </a:solidFill>
                <a:latin typeface="Helvetica Neue"/>
                <a:ea typeface="Helvetica Neue"/>
                <a:cs typeface="Helvetica Neue"/>
              </a:defRPr>
            </a:lvl5pPr>
            <a:lvl6pPr algn="l">
              <a:defRPr sz="2100" b="0">
                <a:solidFill>
                  <a:srgbClr val="142D4E"/>
                </a:solidFill>
                <a:latin typeface="Helvetica Neue"/>
                <a:ea typeface="Helvetica Neue"/>
                <a:cs typeface="Helvetica Neue"/>
              </a:defRPr>
            </a:lvl6pPr>
            <a:lvl7pPr algn="l">
              <a:defRPr sz="2100" b="0">
                <a:solidFill>
                  <a:srgbClr val="142D4E"/>
                </a:solidFill>
                <a:latin typeface="Helvetica Neue"/>
                <a:ea typeface="Helvetica Neue"/>
                <a:cs typeface="Helvetica Neue"/>
              </a:defRPr>
            </a:lvl7pPr>
            <a:lvl8pPr algn="l">
              <a:defRPr sz="2100" b="0">
                <a:solidFill>
                  <a:srgbClr val="142D4E"/>
                </a:solidFill>
                <a:latin typeface="Helvetica Neue"/>
                <a:ea typeface="Helvetica Neue"/>
                <a:cs typeface="Helvetica Neue"/>
              </a:defRPr>
            </a:lvl8pPr>
            <a:lvl9pPr algn="l">
              <a:defRPr sz="2100" b="0">
                <a:solidFill>
                  <a:srgbClr val="142D4E"/>
                </a:solidFill>
                <a:latin typeface="Helvetica Neue"/>
                <a:ea typeface="Helvetica Neue"/>
                <a:cs typeface="Helvetica Neue"/>
              </a:defRPr>
            </a:lvl9pPr>
          </a:lstStyle>
          <a:p>
            <a:pPr algn="l">
              <a:defRPr sz="2100" b="0">
                <a:solidFill>
                  <a:srgbClr val="142D4E"/>
                </a:solidFill>
                <a:latin typeface="Helvetica Neue"/>
                <a:ea typeface="Helvetica Neue"/>
                <a:cs typeface="Helvetica Neue"/>
              </a:defRPr>
            </a:pPr>
            <a:r>
              <a:rPr sz="2100" b="0" dirty="0">
                <a:solidFill>
                  <a:srgbClr val="142D4E"/>
                </a:solidFill>
                <a:latin typeface="Helvetica Neue"/>
                <a:ea typeface="Helvetica Neue"/>
                <a:cs typeface="Helvetica Neue"/>
              </a:rPr>
              <a:t>Reference path</a:t>
            </a:r>
          </a:p>
          <a:p>
            <a:pPr algn="l">
              <a:defRPr sz="2100" b="0">
                <a:solidFill>
                  <a:srgbClr val="142D4E"/>
                </a:solidFill>
                <a:latin typeface="Helvetica Neue"/>
                <a:ea typeface="Helvetica Neue"/>
                <a:cs typeface="Helvetica Neue"/>
              </a:defRPr>
            </a:pPr>
            <a:r>
              <a:rPr sz="2100" b="0" dirty="0">
                <a:solidFill>
                  <a:srgbClr val="142D4E"/>
                </a:solidFill>
                <a:latin typeface="Helvetica Neue"/>
                <a:ea typeface="Helvetica Neue"/>
                <a:cs typeface="Helvetica Neue"/>
              </a:rPr>
              <a:t>Uses the plain view without random flips</a:t>
            </a:r>
          </a:p>
        </p:txBody>
      </p:sp>
      <p:sp>
        <p:nvSpPr>
          <p:cNvPr id="14" name="Rectangle 13">
            <a:extLst>
              <a:ext uri="{FF2B5EF4-FFF2-40B4-BE49-F238E27FC236}">
                <a16:creationId xmlns:a16="http://schemas.microsoft.com/office/drawing/2014/main" id="{AF5C0ABE-AB59-469B-8ACD-65959515DCF1}"/>
              </a:ext>
            </a:extLst>
          </p:cNvPr>
          <p:cNvSpPr>
            <a:spLocks noGrp="1"/>
          </p:cNvSpPr>
          <p:nvPr/>
        </p:nvSpPr>
        <p:spPr>
          <a:xfrm>
            <a:off x="666750" y="5791200"/>
            <a:ext cx="10668000" cy="476250"/>
          </a:xfrm>
          <a:prstGeom prst="rect">
            <a:avLst/>
          </a:prstGeom>
          <a:noFill/>
          <a:ln w="0">
            <a:noFill/>
          </a:ln>
        </p:spPr>
        <p:txBody>
          <a:bodyPr lIns="0" tIns="0" rIns="0" bIns="0" anchor="t">
            <a:noAutofit/>
          </a:bodyPr>
          <a:lstStyle>
            <a:defPPr algn="l">
              <a:defRPr sz="1875" b="1">
                <a:solidFill>
                  <a:srgbClr val="007F82"/>
                </a:solidFill>
                <a:latin typeface="Helvetica Neue"/>
                <a:ea typeface="Helvetica Neue"/>
                <a:cs typeface="Helvetica Neue"/>
              </a:defRPr>
            </a:defPPr>
            <a:lvl1pPr algn="l">
              <a:defRPr sz="1875" b="1">
                <a:solidFill>
                  <a:srgbClr val="007F82"/>
                </a:solidFill>
                <a:latin typeface="Helvetica Neue"/>
                <a:ea typeface="Helvetica Neue"/>
                <a:cs typeface="Helvetica Neue"/>
              </a:defRPr>
            </a:lvl1pPr>
            <a:lvl2pPr algn="l">
              <a:defRPr sz="1875" b="1">
                <a:solidFill>
                  <a:srgbClr val="007F82"/>
                </a:solidFill>
                <a:latin typeface="Helvetica Neue"/>
                <a:ea typeface="Helvetica Neue"/>
                <a:cs typeface="Helvetica Neue"/>
              </a:defRPr>
            </a:lvl2pPr>
            <a:lvl3pPr algn="l">
              <a:defRPr sz="1875" b="1">
                <a:solidFill>
                  <a:srgbClr val="007F82"/>
                </a:solidFill>
                <a:latin typeface="Helvetica Neue"/>
                <a:ea typeface="Helvetica Neue"/>
                <a:cs typeface="Helvetica Neue"/>
              </a:defRPr>
            </a:lvl3pPr>
            <a:lvl4pPr algn="l">
              <a:defRPr sz="1875" b="1">
                <a:solidFill>
                  <a:srgbClr val="007F82"/>
                </a:solidFill>
                <a:latin typeface="Helvetica Neue"/>
                <a:ea typeface="Helvetica Neue"/>
                <a:cs typeface="Helvetica Neue"/>
              </a:defRPr>
            </a:lvl4pPr>
            <a:lvl5pPr algn="l">
              <a:defRPr sz="1875" b="1">
                <a:solidFill>
                  <a:srgbClr val="007F82"/>
                </a:solidFill>
                <a:latin typeface="Helvetica Neue"/>
                <a:ea typeface="Helvetica Neue"/>
                <a:cs typeface="Helvetica Neue"/>
              </a:defRPr>
            </a:lvl5pPr>
            <a:lvl6pPr algn="l">
              <a:defRPr sz="1875" b="1">
                <a:solidFill>
                  <a:srgbClr val="007F82"/>
                </a:solidFill>
                <a:latin typeface="Helvetica Neue"/>
                <a:ea typeface="Helvetica Neue"/>
                <a:cs typeface="Helvetica Neue"/>
              </a:defRPr>
            </a:lvl6pPr>
            <a:lvl7pPr algn="l">
              <a:defRPr sz="1875" b="1">
                <a:solidFill>
                  <a:srgbClr val="007F82"/>
                </a:solidFill>
                <a:latin typeface="Helvetica Neue"/>
                <a:ea typeface="Helvetica Neue"/>
                <a:cs typeface="Helvetica Neue"/>
              </a:defRPr>
            </a:lvl7pPr>
            <a:lvl8pPr algn="l">
              <a:defRPr sz="1875" b="1">
                <a:solidFill>
                  <a:srgbClr val="007F82"/>
                </a:solidFill>
                <a:latin typeface="Helvetica Neue"/>
                <a:ea typeface="Helvetica Neue"/>
                <a:cs typeface="Helvetica Neue"/>
              </a:defRPr>
            </a:lvl8pPr>
            <a:lvl9pPr algn="l">
              <a:defRPr sz="1875" b="1">
                <a:solidFill>
                  <a:srgbClr val="007F82"/>
                </a:solidFill>
                <a:latin typeface="Helvetica Neue"/>
                <a:ea typeface="Helvetica Neue"/>
                <a:cs typeface="Helvetica Neue"/>
              </a:defRPr>
            </a:lvl9pPr>
          </a:lstStyle>
          <a:p>
            <a:pPr algn="l">
              <a:defRPr sz="1875" b="1">
                <a:solidFill>
                  <a:srgbClr val="007F82"/>
                </a:solidFill>
                <a:latin typeface="Helvetica Neue"/>
                <a:ea typeface="Helvetica Neue"/>
                <a:cs typeface="Helvetica Neue"/>
              </a:defRPr>
            </a:pPr>
            <a:r>
              <a:rPr sz="1875" b="1">
                <a:solidFill>
                  <a:srgbClr val="007F82"/>
                </a:solidFill>
                <a:latin typeface="Helvetica Neue"/>
                <a:ea typeface="Helvetica Neue"/>
                <a:cs typeface="Helvetica Neue"/>
              </a:rPr>
              <a:t>Clean image tensors become inputs to the synthetic noising task</a:t>
            </a:r>
          </a:p>
        </p:txBody>
      </p:sp>
    </p:spTree>
    <p:extLst>
      <p:ext uri="{BB962C8B-B14F-4D97-AF65-F5344CB8AC3E}">
        <p14:creationId xmlns:p14="http://schemas.microsoft.com/office/powerpoint/2010/main" val="1063537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030B7D0-11B1-48E4-864D-93339DF20D82}"/>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The noise schedule controls signal removal</a:t>
            </a:r>
          </a:p>
        </p:txBody>
      </p:sp>
      <p:sp>
        <p:nvSpPr>
          <p:cNvPr id="2" name="Rectangle 1">
            <a:extLst>
              <a:ext uri="{FF2B5EF4-FFF2-40B4-BE49-F238E27FC236}">
                <a16:creationId xmlns:a16="http://schemas.microsoft.com/office/drawing/2014/main" id="{46C773B8-942F-45BB-A2B4-5EDE20A254B9}"/>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10</a:t>
            </a:r>
          </a:p>
        </p:txBody>
      </p:sp>
      <p:graphicFrame>
        <p:nvGraphicFramePr>
          <p:cNvPr id="4" name="Chart">
            <a:extLst>
              <a:ext uri="{FF2B5EF4-FFF2-40B4-BE49-F238E27FC236}">
                <a16:creationId xmlns:a16="http://schemas.microsoft.com/office/drawing/2014/main" id="{CF6E9344-CF8A-4C7A-88C9-EC51CE8B5E2A}"/>
              </a:ext>
            </a:extLst>
          </p:cNvPr>
          <p:cNvGraphicFramePr/>
          <p:nvPr/>
        </p:nvGraphicFramePr>
        <p:xfrm>
          <a:off x="666750" y="1571625"/>
          <a:ext cx="79057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8C6932A0-DA09-4DAB-A985-BC9227F5C0C1}"/>
              </a:ext>
            </a:extLst>
          </p:cNvPr>
          <p:cNvSpPr>
            <a:spLocks noGrp="1"/>
          </p:cNvSpPr>
          <p:nvPr/>
        </p:nvSpPr>
        <p:spPr>
          <a:xfrm>
            <a:off x="9144000" y="2000250"/>
            <a:ext cx="2476500" cy="666750"/>
          </a:xfrm>
          <a:prstGeom prst="rect">
            <a:avLst/>
          </a:prstGeom>
          <a:noFill/>
          <a:ln w="0">
            <a:noFill/>
          </a:ln>
        </p:spPr>
        <p:txBody>
          <a:bodyPr lIns="0" tIns="0" rIns="0" bIns="0" anchor="t">
            <a:noAutofit/>
          </a:bodyPr>
          <a:lstStyle>
            <a:defPPr algn="l">
              <a:defRPr sz="2400" b="1">
                <a:solidFill>
                  <a:srgbClr val="007F82"/>
                </a:solidFill>
                <a:latin typeface="Helvetica Neue"/>
                <a:ea typeface="Helvetica Neue"/>
                <a:cs typeface="Helvetica Neue"/>
              </a:defRPr>
            </a:defPPr>
            <a:lvl1pPr algn="l">
              <a:defRPr sz="2400" b="1">
                <a:solidFill>
                  <a:srgbClr val="007F82"/>
                </a:solidFill>
                <a:latin typeface="Helvetica Neue"/>
                <a:ea typeface="Helvetica Neue"/>
                <a:cs typeface="Helvetica Neue"/>
              </a:defRPr>
            </a:lvl1pPr>
            <a:lvl2pPr algn="l">
              <a:defRPr sz="2400" b="1">
                <a:solidFill>
                  <a:srgbClr val="007F82"/>
                </a:solidFill>
                <a:latin typeface="Helvetica Neue"/>
                <a:ea typeface="Helvetica Neue"/>
                <a:cs typeface="Helvetica Neue"/>
              </a:defRPr>
            </a:lvl2pPr>
            <a:lvl3pPr algn="l">
              <a:defRPr sz="2400" b="1">
                <a:solidFill>
                  <a:srgbClr val="007F82"/>
                </a:solidFill>
                <a:latin typeface="Helvetica Neue"/>
                <a:ea typeface="Helvetica Neue"/>
                <a:cs typeface="Helvetica Neue"/>
              </a:defRPr>
            </a:lvl3pPr>
            <a:lvl4pPr algn="l">
              <a:defRPr sz="2400" b="1">
                <a:solidFill>
                  <a:srgbClr val="007F82"/>
                </a:solidFill>
                <a:latin typeface="Helvetica Neue"/>
                <a:ea typeface="Helvetica Neue"/>
                <a:cs typeface="Helvetica Neue"/>
              </a:defRPr>
            </a:lvl4pPr>
            <a:lvl5pPr algn="l">
              <a:defRPr sz="2400" b="1">
                <a:solidFill>
                  <a:srgbClr val="007F82"/>
                </a:solidFill>
                <a:latin typeface="Helvetica Neue"/>
                <a:ea typeface="Helvetica Neue"/>
                <a:cs typeface="Helvetica Neue"/>
              </a:defRPr>
            </a:lvl5pPr>
            <a:lvl6pPr algn="l">
              <a:defRPr sz="2400" b="1">
                <a:solidFill>
                  <a:srgbClr val="007F82"/>
                </a:solidFill>
                <a:latin typeface="Helvetica Neue"/>
                <a:ea typeface="Helvetica Neue"/>
                <a:cs typeface="Helvetica Neue"/>
              </a:defRPr>
            </a:lvl6pPr>
            <a:lvl7pPr algn="l">
              <a:defRPr sz="2400" b="1">
                <a:solidFill>
                  <a:srgbClr val="007F82"/>
                </a:solidFill>
                <a:latin typeface="Helvetica Neue"/>
                <a:ea typeface="Helvetica Neue"/>
                <a:cs typeface="Helvetica Neue"/>
              </a:defRPr>
            </a:lvl7pPr>
            <a:lvl8pPr algn="l">
              <a:defRPr sz="2400" b="1">
                <a:solidFill>
                  <a:srgbClr val="007F82"/>
                </a:solidFill>
                <a:latin typeface="Helvetica Neue"/>
                <a:ea typeface="Helvetica Neue"/>
                <a:cs typeface="Helvetica Neue"/>
              </a:defRPr>
            </a:lvl8pPr>
            <a:lvl9pPr algn="l">
              <a:defRPr sz="2400" b="1">
                <a:solidFill>
                  <a:srgbClr val="007F82"/>
                </a:solidFill>
                <a:latin typeface="Helvetica Neue"/>
                <a:ea typeface="Helvetica Neue"/>
                <a:cs typeface="Helvetica Neue"/>
              </a:defRPr>
            </a:lvl9pPr>
          </a:lstStyle>
          <a:p>
            <a:pPr algn="l">
              <a:defRPr sz="2400" b="1">
                <a:solidFill>
                  <a:srgbClr val="007F82"/>
                </a:solidFill>
                <a:latin typeface="Helvetica Neue"/>
                <a:ea typeface="Helvetica Neue"/>
                <a:cs typeface="Helvetica Neue"/>
              </a:defRPr>
            </a:pPr>
            <a:r>
              <a:rPr sz="2400" b="1">
                <a:solidFill>
                  <a:srgbClr val="007F82"/>
                </a:solidFill>
                <a:latin typeface="Helvetica Neue"/>
                <a:ea typeface="Helvetica Neue"/>
                <a:cs typeface="Helvetica Neue"/>
              </a:rPr>
              <a:t>1,000 timesteps</a:t>
            </a:r>
          </a:p>
        </p:txBody>
      </p:sp>
      <p:sp>
        <p:nvSpPr>
          <p:cNvPr id="6" name="Rectangle 5">
            <a:extLst>
              <a:ext uri="{FF2B5EF4-FFF2-40B4-BE49-F238E27FC236}">
                <a16:creationId xmlns:a16="http://schemas.microsoft.com/office/drawing/2014/main" id="{4B67BB89-F0B1-40B5-843C-A1FD9D971A93}"/>
              </a:ext>
            </a:extLst>
          </p:cNvPr>
          <p:cNvSpPr>
            <a:spLocks noGrp="1"/>
          </p:cNvSpPr>
          <p:nvPr/>
        </p:nvSpPr>
        <p:spPr>
          <a:xfrm>
            <a:off x="9144000" y="3000375"/>
            <a:ext cx="2476500" cy="1238250"/>
          </a:xfrm>
          <a:prstGeom prst="rect">
            <a:avLst/>
          </a:prstGeom>
          <a:noFill/>
          <a:ln w="0">
            <a:noFill/>
          </a:ln>
        </p:spPr>
        <p:txBody>
          <a:bodyPr lIns="0" tIns="0" rIns="0" bIns="0" anchor="t">
            <a:noAutofit/>
          </a:bodyPr>
          <a:lstStyle>
            <a:defPPr algn="l">
              <a:defRPr sz="2100" b="0">
                <a:solidFill>
                  <a:srgbClr val="142D4E"/>
                </a:solidFill>
                <a:latin typeface="Helvetica Neue"/>
                <a:ea typeface="Helvetica Neue"/>
                <a:cs typeface="Helvetica Neue"/>
              </a:defRPr>
            </a:defPPr>
            <a:lvl1pPr algn="l">
              <a:defRPr sz="2100" b="0">
                <a:solidFill>
                  <a:srgbClr val="142D4E"/>
                </a:solidFill>
                <a:latin typeface="Helvetica Neue"/>
                <a:ea typeface="Helvetica Neue"/>
                <a:cs typeface="Helvetica Neue"/>
              </a:defRPr>
            </a:lvl1pPr>
            <a:lvl2pPr algn="l">
              <a:defRPr sz="2100" b="0">
                <a:solidFill>
                  <a:srgbClr val="142D4E"/>
                </a:solidFill>
                <a:latin typeface="Helvetica Neue"/>
                <a:ea typeface="Helvetica Neue"/>
                <a:cs typeface="Helvetica Neue"/>
              </a:defRPr>
            </a:lvl2pPr>
            <a:lvl3pPr algn="l">
              <a:defRPr sz="2100" b="0">
                <a:solidFill>
                  <a:srgbClr val="142D4E"/>
                </a:solidFill>
                <a:latin typeface="Helvetica Neue"/>
                <a:ea typeface="Helvetica Neue"/>
                <a:cs typeface="Helvetica Neue"/>
              </a:defRPr>
            </a:lvl3pPr>
            <a:lvl4pPr algn="l">
              <a:defRPr sz="2100" b="0">
                <a:solidFill>
                  <a:srgbClr val="142D4E"/>
                </a:solidFill>
                <a:latin typeface="Helvetica Neue"/>
                <a:ea typeface="Helvetica Neue"/>
                <a:cs typeface="Helvetica Neue"/>
              </a:defRPr>
            </a:lvl4pPr>
            <a:lvl5pPr algn="l">
              <a:defRPr sz="2100" b="0">
                <a:solidFill>
                  <a:srgbClr val="142D4E"/>
                </a:solidFill>
                <a:latin typeface="Helvetica Neue"/>
                <a:ea typeface="Helvetica Neue"/>
                <a:cs typeface="Helvetica Neue"/>
              </a:defRPr>
            </a:lvl5pPr>
            <a:lvl6pPr algn="l">
              <a:defRPr sz="2100" b="0">
                <a:solidFill>
                  <a:srgbClr val="142D4E"/>
                </a:solidFill>
                <a:latin typeface="Helvetica Neue"/>
                <a:ea typeface="Helvetica Neue"/>
                <a:cs typeface="Helvetica Neue"/>
              </a:defRPr>
            </a:lvl6pPr>
            <a:lvl7pPr algn="l">
              <a:defRPr sz="2100" b="0">
                <a:solidFill>
                  <a:srgbClr val="142D4E"/>
                </a:solidFill>
                <a:latin typeface="Helvetica Neue"/>
                <a:ea typeface="Helvetica Neue"/>
                <a:cs typeface="Helvetica Neue"/>
              </a:defRPr>
            </a:lvl7pPr>
            <a:lvl8pPr algn="l">
              <a:defRPr sz="2100" b="0">
                <a:solidFill>
                  <a:srgbClr val="142D4E"/>
                </a:solidFill>
                <a:latin typeface="Helvetica Neue"/>
                <a:ea typeface="Helvetica Neue"/>
                <a:cs typeface="Helvetica Neue"/>
              </a:defRPr>
            </a:lvl8pPr>
            <a:lvl9pPr algn="l">
              <a:defRPr sz="2100" b="0">
                <a:solidFill>
                  <a:srgbClr val="142D4E"/>
                </a:solidFill>
                <a:latin typeface="Helvetica Neue"/>
                <a:ea typeface="Helvetica Neue"/>
                <a:cs typeface="Helvetica Neue"/>
              </a:defRPr>
            </a:lvl9pPr>
          </a:lstStyle>
          <a:p>
            <a:pPr algn="l">
              <a:defRPr sz="2100" b="0">
                <a:solidFill>
                  <a:srgbClr val="142D4E"/>
                </a:solidFill>
                <a:latin typeface="Helvetica Neue"/>
                <a:ea typeface="Helvetica Neue"/>
                <a:cs typeface="Helvetica Neue"/>
              </a:defRPr>
            </a:pPr>
            <a:r>
              <a:rPr sz="2100" b="0">
                <a:solidFill>
                  <a:srgbClr val="142D4E"/>
                </a:solidFill>
                <a:latin typeface="Helvetica Neue"/>
                <a:ea typeface="Helvetica Neue"/>
                <a:cs typeface="Helvetica Neue"/>
              </a:rPr>
              <a:t>Cosine is the saved run’s schedule</a:t>
            </a:r>
          </a:p>
        </p:txBody>
      </p:sp>
      <p:sp>
        <p:nvSpPr>
          <p:cNvPr id="7" name="Rectangle 6">
            <a:extLst>
              <a:ext uri="{FF2B5EF4-FFF2-40B4-BE49-F238E27FC236}">
                <a16:creationId xmlns:a16="http://schemas.microsoft.com/office/drawing/2014/main" id="{CF01041A-FFF0-4987-925C-3F7F11BBD469}"/>
              </a:ext>
            </a:extLst>
          </p:cNvPr>
          <p:cNvSpPr>
            <a:spLocks noGrp="1"/>
          </p:cNvSpPr>
          <p:nvPr/>
        </p:nvSpPr>
        <p:spPr>
          <a:xfrm>
            <a:off x="9144000" y="4524375"/>
            <a:ext cx="2476500" cy="1143000"/>
          </a:xfrm>
          <a:prstGeom prst="rect">
            <a:avLst/>
          </a:prstGeom>
          <a:noFill/>
          <a:ln w="0">
            <a:noFill/>
          </a:ln>
        </p:spPr>
        <p:txBody>
          <a:bodyPr lIns="0" tIns="0" rIns="0" bIns="0" anchor="t">
            <a:noAutofit/>
          </a:bodyPr>
          <a:lstStyle>
            <a:defPPr algn="l">
              <a:defRPr sz="1800" b="0">
                <a:solidFill>
                  <a:srgbClr val="53657B"/>
                </a:solidFill>
                <a:latin typeface="Helvetica Neue"/>
                <a:ea typeface="Helvetica Neue"/>
                <a:cs typeface="Helvetica Neue"/>
              </a:defRPr>
            </a:defPPr>
            <a:lvl1pPr algn="l">
              <a:defRPr sz="1800" b="0">
                <a:solidFill>
                  <a:srgbClr val="53657B"/>
                </a:solidFill>
                <a:latin typeface="Helvetica Neue"/>
                <a:ea typeface="Helvetica Neue"/>
                <a:cs typeface="Helvetica Neue"/>
              </a:defRPr>
            </a:lvl1pPr>
            <a:lvl2pPr algn="l">
              <a:defRPr sz="1800" b="0">
                <a:solidFill>
                  <a:srgbClr val="53657B"/>
                </a:solidFill>
                <a:latin typeface="Helvetica Neue"/>
                <a:ea typeface="Helvetica Neue"/>
                <a:cs typeface="Helvetica Neue"/>
              </a:defRPr>
            </a:lvl2pPr>
            <a:lvl3pPr algn="l">
              <a:defRPr sz="1800" b="0">
                <a:solidFill>
                  <a:srgbClr val="53657B"/>
                </a:solidFill>
                <a:latin typeface="Helvetica Neue"/>
                <a:ea typeface="Helvetica Neue"/>
                <a:cs typeface="Helvetica Neue"/>
              </a:defRPr>
            </a:lvl3pPr>
            <a:lvl4pPr algn="l">
              <a:defRPr sz="1800" b="0">
                <a:solidFill>
                  <a:srgbClr val="53657B"/>
                </a:solidFill>
                <a:latin typeface="Helvetica Neue"/>
                <a:ea typeface="Helvetica Neue"/>
                <a:cs typeface="Helvetica Neue"/>
              </a:defRPr>
            </a:lvl4pPr>
            <a:lvl5pPr algn="l">
              <a:defRPr sz="1800" b="0">
                <a:solidFill>
                  <a:srgbClr val="53657B"/>
                </a:solidFill>
                <a:latin typeface="Helvetica Neue"/>
                <a:ea typeface="Helvetica Neue"/>
                <a:cs typeface="Helvetica Neue"/>
              </a:defRPr>
            </a:lvl5pPr>
            <a:lvl6pPr algn="l">
              <a:defRPr sz="1800" b="0">
                <a:solidFill>
                  <a:srgbClr val="53657B"/>
                </a:solidFill>
                <a:latin typeface="Helvetica Neue"/>
                <a:ea typeface="Helvetica Neue"/>
                <a:cs typeface="Helvetica Neue"/>
              </a:defRPr>
            </a:lvl6pPr>
            <a:lvl7pPr algn="l">
              <a:defRPr sz="1800" b="0">
                <a:solidFill>
                  <a:srgbClr val="53657B"/>
                </a:solidFill>
                <a:latin typeface="Helvetica Neue"/>
                <a:ea typeface="Helvetica Neue"/>
                <a:cs typeface="Helvetica Neue"/>
              </a:defRPr>
            </a:lvl7pPr>
            <a:lvl8pPr algn="l">
              <a:defRPr sz="1800" b="0">
                <a:solidFill>
                  <a:srgbClr val="53657B"/>
                </a:solidFill>
                <a:latin typeface="Helvetica Neue"/>
                <a:ea typeface="Helvetica Neue"/>
                <a:cs typeface="Helvetica Neue"/>
              </a:defRPr>
            </a:lvl8pPr>
            <a:lvl9pPr algn="l">
              <a:defRPr sz="1800" b="0">
                <a:solidFill>
                  <a:srgbClr val="53657B"/>
                </a:solidFill>
                <a:latin typeface="Helvetica Neue"/>
                <a:ea typeface="Helvetica Neue"/>
                <a:cs typeface="Helvetica Neue"/>
              </a:defRPr>
            </a:lvl9pPr>
          </a:lstStyle>
          <a:p>
            <a:pPr algn="l">
              <a:defRPr sz="1800" b="0">
                <a:solidFill>
                  <a:srgbClr val="53657B"/>
                </a:solidFill>
                <a:latin typeface="Helvetica Neue"/>
                <a:ea typeface="Helvetica Neue"/>
                <a:cs typeface="Helvetica Neue"/>
              </a:defRPr>
            </a:pPr>
            <a:r>
              <a:rPr sz="1800" b="0">
                <a:solidFill>
                  <a:srgbClr val="53657B"/>
                </a:solidFill>
                <a:latin typeface="Helvetica Neue"/>
                <a:ea typeface="Helvetica Neue"/>
                <a:cs typeface="Helvetica Neue"/>
              </a:rPr>
              <a:t>Curve behaviour is known. Quality gains need an ablation.</a:t>
            </a:r>
          </a:p>
        </p:txBody>
      </p:sp>
      <p:sp>
        <p:nvSpPr>
          <p:cNvPr id="8" name="Rectangle 7">
            <a:extLst>
              <a:ext uri="{FF2B5EF4-FFF2-40B4-BE49-F238E27FC236}">
                <a16:creationId xmlns:a16="http://schemas.microsoft.com/office/drawing/2014/main" id="{F2AC788F-6C8B-448C-9BAA-9198F2E1D663}"/>
              </a:ext>
            </a:extLst>
          </p:cNvPr>
          <p:cNvSpPr>
            <a:spLocks noGrp="1"/>
          </p:cNvSpPr>
          <p:nvPr/>
        </p:nvSpPr>
        <p:spPr>
          <a:xfrm>
            <a:off x="666750" y="5791200"/>
            <a:ext cx="10668000" cy="476250"/>
          </a:xfrm>
          <a:prstGeom prst="rect">
            <a:avLst/>
          </a:prstGeom>
          <a:noFill/>
          <a:ln w="0">
            <a:noFill/>
          </a:ln>
        </p:spPr>
        <p:txBody>
          <a:bodyPr lIns="0" tIns="0" rIns="0" bIns="0" anchor="t">
            <a:noAutofit/>
          </a:bodyPr>
          <a:lstStyle>
            <a:defPPr algn="l">
              <a:defRPr sz="1875" b="1">
                <a:solidFill>
                  <a:srgbClr val="007F82"/>
                </a:solidFill>
                <a:latin typeface="Helvetica Neue"/>
                <a:ea typeface="Helvetica Neue"/>
                <a:cs typeface="Helvetica Neue"/>
              </a:defRPr>
            </a:defPPr>
            <a:lvl1pPr algn="l">
              <a:defRPr sz="1875" b="1">
                <a:solidFill>
                  <a:srgbClr val="007F82"/>
                </a:solidFill>
                <a:latin typeface="Helvetica Neue"/>
                <a:ea typeface="Helvetica Neue"/>
                <a:cs typeface="Helvetica Neue"/>
              </a:defRPr>
            </a:lvl1pPr>
            <a:lvl2pPr algn="l">
              <a:defRPr sz="1875" b="1">
                <a:solidFill>
                  <a:srgbClr val="007F82"/>
                </a:solidFill>
                <a:latin typeface="Helvetica Neue"/>
                <a:ea typeface="Helvetica Neue"/>
                <a:cs typeface="Helvetica Neue"/>
              </a:defRPr>
            </a:lvl2pPr>
            <a:lvl3pPr algn="l">
              <a:defRPr sz="1875" b="1">
                <a:solidFill>
                  <a:srgbClr val="007F82"/>
                </a:solidFill>
                <a:latin typeface="Helvetica Neue"/>
                <a:ea typeface="Helvetica Neue"/>
                <a:cs typeface="Helvetica Neue"/>
              </a:defRPr>
            </a:lvl3pPr>
            <a:lvl4pPr algn="l">
              <a:defRPr sz="1875" b="1">
                <a:solidFill>
                  <a:srgbClr val="007F82"/>
                </a:solidFill>
                <a:latin typeface="Helvetica Neue"/>
                <a:ea typeface="Helvetica Neue"/>
                <a:cs typeface="Helvetica Neue"/>
              </a:defRPr>
            </a:lvl4pPr>
            <a:lvl5pPr algn="l">
              <a:defRPr sz="1875" b="1">
                <a:solidFill>
                  <a:srgbClr val="007F82"/>
                </a:solidFill>
                <a:latin typeface="Helvetica Neue"/>
                <a:ea typeface="Helvetica Neue"/>
                <a:cs typeface="Helvetica Neue"/>
              </a:defRPr>
            </a:lvl5pPr>
            <a:lvl6pPr algn="l">
              <a:defRPr sz="1875" b="1">
                <a:solidFill>
                  <a:srgbClr val="007F82"/>
                </a:solidFill>
                <a:latin typeface="Helvetica Neue"/>
                <a:ea typeface="Helvetica Neue"/>
                <a:cs typeface="Helvetica Neue"/>
              </a:defRPr>
            </a:lvl6pPr>
            <a:lvl7pPr algn="l">
              <a:defRPr sz="1875" b="1">
                <a:solidFill>
                  <a:srgbClr val="007F82"/>
                </a:solidFill>
                <a:latin typeface="Helvetica Neue"/>
                <a:ea typeface="Helvetica Neue"/>
                <a:cs typeface="Helvetica Neue"/>
              </a:defRPr>
            </a:lvl7pPr>
            <a:lvl8pPr algn="l">
              <a:defRPr sz="1875" b="1">
                <a:solidFill>
                  <a:srgbClr val="007F82"/>
                </a:solidFill>
                <a:latin typeface="Helvetica Neue"/>
                <a:ea typeface="Helvetica Neue"/>
                <a:cs typeface="Helvetica Neue"/>
              </a:defRPr>
            </a:lvl8pPr>
            <a:lvl9pPr algn="l">
              <a:defRPr sz="1875" b="1">
                <a:solidFill>
                  <a:srgbClr val="007F82"/>
                </a:solidFill>
                <a:latin typeface="Helvetica Neue"/>
                <a:ea typeface="Helvetica Neue"/>
                <a:cs typeface="Helvetica Neue"/>
              </a:defRPr>
            </a:lvl9pPr>
          </a:lstStyle>
          <a:p>
            <a:pPr algn="l">
              <a:defRPr sz="1875" b="1">
                <a:solidFill>
                  <a:srgbClr val="007F82"/>
                </a:solidFill>
                <a:latin typeface="Helvetica Neue"/>
                <a:ea typeface="Helvetica Neue"/>
                <a:cs typeface="Helvetica Neue"/>
              </a:defRPr>
            </a:pPr>
            <a:r>
              <a:rPr sz="1875" b="1">
                <a:solidFill>
                  <a:srgbClr val="007F82"/>
                </a:solidFill>
                <a:latin typeface="Helvetica Neue"/>
                <a:ea typeface="Helvetica Neue"/>
                <a:cs typeface="Helvetica Neue"/>
              </a:rPr>
              <a:t>At high t, the noised image contains almost no clean-image signal</a:t>
            </a:r>
          </a:p>
        </p:txBody>
      </p:sp>
    </p:spTree>
    <p:extLst>
      <p:ext uri="{BB962C8B-B14F-4D97-AF65-F5344CB8AC3E}">
        <p14:creationId xmlns:p14="http://schemas.microsoft.com/office/powerpoint/2010/main" val="979400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cxnSp>
        <p:nvCxnSpPr>
          <p:cNvPr id="10" name="Straight Arrow Connector 9">
            <a:extLst>
              <a:ext uri="{FF2B5EF4-FFF2-40B4-BE49-F238E27FC236}">
                <a16:creationId xmlns:a16="http://schemas.microsoft.com/office/drawing/2014/main" id="{564A23A9-2BC9-4456-BA8F-52C918F08A81}"/>
              </a:ext>
            </a:extLst>
          </p:cNvPr>
          <p:cNvCxnSpPr>
            <a:stCxn id="9" idx="3"/>
            <a:endCxn id="6" idx="2"/>
          </p:cNvCxnSpPr>
          <p:nvPr/>
        </p:nvCxnSpPr>
        <p:spPr>
          <a:xfrm flipV="1">
            <a:off x="7667625" y="2857500"/>
            <a:ext cx="2619375" cy="1595438"/>
          </a:xfrm>
          <a:prstGeom prst="straightConnector1">
            <a:avLst/>
          </a:prstGeom>
          <a:ln w="19050">
            <a:solidFill>
              <a:srgbClr val="007F82"/>
            </a:solidFill>
            <a:prstDash val="solid"/>
            <a:tailEnd type="triangle" w="med" len="med"/>
          </a:ln>
        </p:spPr>
      </p:cxnSp>
      <p:cxnSp>
        <p:nvCxnSpPr>
          <p:cNvPr id="8" name="Straight Arrow Connector 7">
            <a:extLst>
              <a:ext uri="{FF2B5EF4-FFF2-40B4-BE49-F238E27FC236}">
                <a16:creationId xmlns:a16="http://schemas.microsoft.com/office/drawing/2014/main" id="{D8AF400C-2680-4FEA-9EC6-5AB6D056BFB3}"/>
              </a:ext>
            </a:extLst>
          </p:cNvPr>
          <p:cNvCxnSpPr>
            <a:stCxn id="5" idx="3"/>
            <a:endCxn id="6" idx="1"/>
          </p:cNvCxnSpPr>
          <p:nvPr/>
        </p:nvCxnSpPr>
        <p:spPr>
          <a:xfrm>
            <a:off x="7667625" y="2381250"/>
            <a:ext cx="1381125" cy="0"/>
          </a:xfrm>
          <a:prstGeom prst="straightConnector1">
            <a:avLst/>
          </a:prstGeom>
          <a:ln w="19050">
            <a:solidFill>
              <a:srgbClr val="007F82"/>
            </a:solidFill>
            <a:prstDash val="solid"/>
            <a:tailEnd type="triangle" w="med" len="med"/>
          </a:ln>
        </p:spPr>
      </p:cxnSp>
      <p:cxnSp>
        <p:nvCxnSpPr>
          <p:cNvPr id="7" name="Straight Arrow Connector 6">
            <a:extLst>
              <a:ext uri="{FF2B5EF4-FFF2-40B4-BE49-F238E27FC236}">
                <a16:creationId xmlns:a16="http://schemas.microsoft.com/office/drawing/2014/main" id="{51715087-72C8-4143-884E-E4AB1DD9076E}"/>
              </a:ext>
            </a:extLst>
          </p:cNvPr>
          <p:cNvCxnSpPr>
            <a:stCxn id="4" idx="3"/>
            <a:endCxn id="5" idx="1"/>
          </p:cNvCxnSpPr>
          <p:nvPr/>
        </p:nvCxnSpPr>
        <p:spPr>
          <a:xfrm>
            <a:off x="3143250" y="2381250"/>
            <a:ext cx="1381125" cy="0"/>
          </a:xfrm>
          <a:prstGeom prst="straightConnector1">
            <a:avLst/>
          </a:prstGeom>
          <a:ln w="19050">
            <a:solidFill>
              <a:srgbClr val="007F82"/>
            </a:solidFill>
            <a:prstDash val="solid"/>
            <a:tailEnd type="triangle" w="med" len="med"/>
          </a:ln>
        </p:spPr>
      </p:cxnSp>
      <p:sp>
        <p:nvSpPr>
          <p:cNvPr id="13" name="Rectangle 12">
            <a:extLst>
              <a:ext uri="{FF2B5EF4-FFF2-40B4-BE49-F238E27FC236}">
                <a16:creationId xmlns:a16="http://schemas.microsoft.com/office/drawing/2014/main" id="{2E69E3B6-85E5-417E-ACE1-A5DBDEFB9D6F}"/>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Training inputs and the noise target</a:t>
            </a:r>
          </a:p>
        </p:txBody>
      </p:sp>
      <p:sp>
        <p:nvSpPr>
          <p:cNvPr id="2" name="Rectangle 1">
            <a:extLst>
              <a:ext uri="{FF2B5EF4-FFF2-40B4-BE49-F238E27FC236}">
                <a16:creationId xmlns:a16="http://schemas.microsoft.com/office/drawing/2014/main" id="{2469AFA5-6725-44C4-A39B-3E4476C40544}"/>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11</a:t>
            </a:r>
          </a:p>
        </p:txBody>
      </p:sp>
      <p:sp>
        <p:nvSpPr>
          <p:cNvPr id="4" name="Rectangle 3">
            <a:extLst>
              <a:ext uri="{FF2B5EF4-FFF2-40B4-BE49-F238E27FC236}">
                <a16:creationId xmlns:a16="http://schemas.microsoft.com/office/drawing/2014/main" id="{593CBF62-AA52-493F-85C5-277FD1B4787E}"/>
              </a:ext>
            </a:extLst>
          </p:cNvPr>
          <p:cNvSpPr>
            <a:spLocks noGrp="1"/>
          </p:cNvSpPr>
          <p:nvPr/>
        </p:nvSpPr>
        <p:spPr>
          <a:xfrm>
            <a:off x="666750" y="1905000"/>
            <a:ext cx="2476500" cy="952500"/>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Clean image x₀</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3 × 32 × 32</a:t>
            </a:r>
          </a:p>
        </p:txBody>
      </p:sp>
      <p:sp>
        <p:nvSpPr>
          <p:cNvPr id="5" name="Rectangle 4">
            <a:extLst>
              <a:ext uri="{FF2B5EF4-FFF2-40B4-BE49-F238E27FC236}">
                <a16:creationId xmlns:a16="http://schemas.microsoft.com/office/drawing/2014/main" id="{B1281BBB-0E0A-496A-BFDB-F0EC3690BD20}"/>
              </a:ext>
            </a:extLst>
          </p:cNvPr>
          <p:cNvSpPr>
            <a:spLocks noGrp="1"/>
          </p:cNvSpPr>
          <p:nvPr/>
        </p:nvSpPr>
        <p:spPr>
          <a:xfrm>
            <a:off x="4524375" y="1905000"/>
            <a:ext cx="3143250" cy="952500"/>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Forward mixture xₜ</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image + Gaussian noise</a:t>
            </a:r>
          </a:p>
        </p:txBody>
      </p:sp>
      <p:sp>
        <p:nvSpPr>
          <p:cNvPr id="6" name="Rectangle 5">
            <a:extLst>
              <a:ext uri="{FF2B5EF4-FFF2-40B4-BE49-F238E27FC236}">
                <a16:creationId xmlns:a16="http://schemas.microsoft.com/office/drawing/2014/main" id="{FDE4E810-13FE-48C0-97B4-0DA830A9B747}"/>
              </a:ext>
            </a:extLst>
          </p:cNvPr>
          <p:cNvSpPr>
            <a:spLocks noGrp="1"/>
          </p:cNvSpPr>
          <p:nvPr/>
        </p:nvSpPr>
        <p:spPr>
          <a:xfrm>
            <a:off x="9048750" y="1905000"/>
            <a:ext cx="2476500" cy="952500"/>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U-Net</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noise estimate ε̂</a:t>
            </a:r>
          </a:p>
        </p:txBody>
      </p:sp>
      <p:sp>
        <p:nvSpPr>
          <p:cNvPr id="9" name="Rectangle 8">
            <a:extLst>
              <a:ext uri="{FF2B5EF4-FFF2-40B4-BE49-F238E27FC236}">
                <a16:creationId xmlns:a16="http://schemas.microsoft.com/office/drawing/2014/main" id="{DBC2C151-A6CC-43F2-A3CE-99C1AA524E47}"/>
              </a:ext>
            </a:extLst>
          </p:cNvPr>
          <p:cNvSpPr>
            <a:spLocks noGrp="1"/>
          </p:cNvSpPr>
          <p:nvPr/>
        </p:nvSpPr>
        <p:spPr>
          <a:xfrm>
            <a:off x="4524375" y="3952875"/>
            <a:ext cx="3143250" cy="100012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Random timestep t</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sinusoidal embedding</a:t>
            </a:r>
          </a:p>
        </p:txBody>
      </p:sp>
      <p:sp>
        <p:nvSpPr>
          <p:cNvPr id="11" name="Rectangle 10">
            <a:extLst>
              <a:ext uri="{FF2B5EF4-FFF2-40B4-BE49-F238E27FC236}">
                <a16:creationId xmlns:a16="http://schemas.microsoft.com/office/drawing/2014/main" id="{AD823577-1F29-4826-A52B-B7B18A40B208}"/>
              </a:ext>
            </a:extLst>
          </p:cNvPr>
          <p:cNvSpPr>
            <a:spLocks noGrp="1"/>
          </p:cNvSpPr>
          <p:nvPr/>
        </p:nvSpPr>
        <p:spPr>
          <a:xfrm>
            <a:off x="666750" y="5286375"/>
            <a:ext cx="10477500" cy="428625"/>
          </a:xfrm>
          <a:prstGeom prst="rect">
            <a:avLst/>
          </a:prstGeom>
          <a:noFill/>
          <a:ln w="0">
            <a:noFill/>
          </a:ln>
        </p:spPr>
        <p:txBody>
          <a:bodyPr lIns="0" tIns="0" rIns="0" bIns="0" anchor="t">
            <a:noAutofit/>
          </a:bodyPr>
          <a:lstStyle>
            <a:defPPr algn="l">
              <a:defRPr sz="2100" b="1">
                <a:solidFill>
                  <a:srgbClr val="007F82"/>
                </a:solidFill>
                <a:latin typeface="Helvetica Neue"/>
                <a:ea typeface="Helvetica Neue"/>
                <a:cs typeface="Helvetica Neue"/>
              </a:defRPr>
            </a:defPPr>
            <a:lvl1pPr algn="l">
              <a:defRPr sz="2100" b="1">
                <a:solidFill>
                  <a:srgbClr val="007F82"/>
                </a:solidFill>
                <a:latin typeface="Helvetica Neue"/>
                <a:ea typeface="Helvetica Neue"/>
                <a:cs typeface="Helvetica Neue"/>
              </a:defRPr>
            </a:lvl1pPr>
            <a:lvl2pPr algn="l">
              <a:defRPr sz="2100" b="1">
                <a:solidFill>
                  <a:srgbClr val="007F82"/>
                </a:solidFill>
                <a:latin typeface="Helvetica Neue"/>
                <a:ea typeface="Helvetica Neue"/>
                <a:cs typeface="Helvetica Neue"/>
              </a:defRPr>
            </a:lvl2pPr>
            <a:lvl3pPr algn="l">
              <a:defRPr sz="2100" b="1">
                <a:solidFill>
                  <a:srgbClr val="007F82"/>
                </a:solidFill>
                <a:latin typeface="Helvetica Neue"/>
                <a:ea typeface="Helvetica Neue"/>
                <a:cs typeface="Helvetica Neue"/>
              </a:defRPr>
            </a:lvl3pPr>
            <a:lvl4pPr algn="l">
              <a:defRPr sz="2100" b="1">
                <a:solidFill>
                  <a:srgbClr val="007F82"/>
                </a:solidFill>
                <a:latin typeface="Helvetica Neue"/>
                <a:ea typeface="Helvetica Neue"/>
                <a:cs typeface="Helvetica Neue"/>
              </a:defRPr>
            </a:lvl4pPr>
            <a:lvl5pPr algn="l">
              <a:defRPr sz="2100" b="1">
                <a:solidFill>
                  <a:srgbClr val="007F82"/>
                </a:solidFill>
                <a:latin typeface="Helvetica Neue"/>
                <a:ea typeface="Helvetica Neue"/>
                <a:cs typeface="Helvetica Neue"/>
              </a:defRPr>
            </a:lvl5pPr>
            <a:lvl6pPr algn="l">
              <a:defRPr sz="2100" b="1">
                <a:solidFill>
                  <a:srgbClr val="007F82"/>
                </a:solidFill>
                <a:latin typeface="Helvetica Neue"/>
                <a:ea typeface="Helvetica Neue"/>
                <a:cs typeface="Helvetica Neue"/>
              </a:defRPr>
            </a:lvl6pPr>
            <a:lvl7pPr algn="l">
              <a:defRPr sz="2100" b="1">
                <a:solidFill>
                  <a:srgbClr val="007F82"/>
                </a:solidFill>
                <a:latin typeface="Helvetica Neue"/>
                <a:ea typeface="Helvetica Neue"/>
                <a:cs typeface="Helvetica Neue"/>
              </a:defRPr>
            </a:lvl7pPr>
            <a:lvl8pPr algn="l">
              <a:defRPr sz="2100" b="1">
                <a:solidFill>
                  <a:srgbClr val="007F82"/>
                </a:solidFill>
                <a:latin typeface="Helvetica Neue"/>
                <a:ea typeface="Helvetica Neue"/>
                <a:cs typeface="Helvetica Neue"/>
              </a:defRPr>
            </a:lvl8pPr>
            <a:lvl9pPr algn="l">
              <a:defRPr sz="2100" b="1">
                <a:solidFill>
                  <a:srgbClr val="007F82"/>
                </a:solidFill>
                <a:latin typeface="Helvetica Neue"/>
                <a:ea typeface="Helvetica Neue"/>
                <a:cs typeface="Helvetica Neue"/>
              </a:defRPr>
            </a:lvl9pPr>
          </a:lstStyle>
          <a:p>
            <a:pPr algn="l">
              <a:defRPr sz="2100" b="1">
                <a:solidFill>
                  <a:srgbClr val="007F82"/>
                </a:solidFill>
                <a:latin typeface="Helvetica Neue"/>
                <a:ea typeface="Helvetica Neue"/>
                <a:cs typeface="Helvetica Neue"/>
              </a:defRPr>
            </a:pPr>
            <a:r>
              <a:rPr sz="2100" b="1">
                <a:solidFill>
                  <a:srgbClr val="007F82"/>
                </a:solidFill>
                <a:latin typeface="Helvetica Neue"/>
                <a:ea typeface="Helvetica Neue"/>
                <a:cs typeface="Helvetica Neue"/>
              </a:rPr>
              <a:t>Known noise ε is the training target</a:t>
            </a:r>
          </a:p>
        </p:txBody>
      </p:sp>
      <p:sp>
        <p:nvSpPr>
          <p:cNvPr id="12" name="Rectangle 11">
            <a:extLst>
              <a:ext uri="{FF2B5EF4-FFF2-40B4-BE49-F238E27FC236}">
                <a16:creationId xmlns:a16="http://schemas.microsoft.com/office/drawing/2014/main" id="{33370105-7A7A-48BC-83F3-9CE438E20C69}"/>
              </a:ext>
            </a:extLst>
          </p:cNvPr>
          <p:cNvSpPr>
            <a:spLocks noGrp="1"/>
          </p:cNvSpPr>
          <p:nvPr/>
        </p:nvSpPr>
        <p:spPr>
          <a:xfrm>
            <a:off x="666750" y="5791200"/>
            <a:ext cx="10668000" cy="476250"/>
          </a:xfrm>
          <a:prstGeom prst="rect">
            <a:avLst/>
          </a:prstGeom>
          <a:noFill/>
          <a:ln w="0">
            <a:noFill/>
          </a:ln>
        </p:spPr>
        <p:txBody>
          <a:bodyPr lIns="0" tIns="0" rIns="0" bIns="0" anchor="t">
            <a:noAutofit/>
          </a:bodyPr>
          <a:lstStyle>
            <a:defPPr algn="l">
              <a:defRPr sz="1875" b="1">
                <a:solidFill>
                  <a:srgbClr val="007F82"/>
                </a:solidFill>
                <a:latin typeface="Helvetica Neue"/>
                <a:ea typeface="Helvetica Neue"/>
                <a:cs typeface="Helvetica Neue"/>
              </a:defRPr>
            </a:defPPr>
            <a:lvl1pPr algn="l">
              <a:defRPr sz="1875" b="1">
                <a:solidFill>
                  <a:srgbClr val="007F82"/>
                </a:solidFill>
                <a:latin typeface="Helvetica Neue"/>
                <a:ea typeface="Helvetica Neue"/>
                <a:cs typeface="Helvetica Neue"/>
              </a:defRPr>
            </a:lvl1pPr>
            <a:lvl2pPr algn="l">
              <a:defRPr sz="1875" b="1">
                <a:solidFill>
                  <a:srgbClr val="007F82"/>
                </a:solidFill>
                <a:latin typeface="Helvetica Neue"/>
                <a:ea typeface="Helvetica Neue"/>
                <a:cs typeface="Helvetica Neue"/>
              </a:defRPr>
            </a:lvl2pPr>
            <a:lvl3pPr algn="l">
              <a:defRPr sz="1875" b="1">
                <a:solidFill>
                  <a:srgbClr val="007F82"/>
                </a:solidFill>
                <a:latin typeface="Helvetica Neue"/>
                <a:ea typeface="Helvetica Neue"/>
                <a:cs typeface="Helvetica Neue"/>
              </a:defRPr>
            </a:lvl3pPr>
            <a:lvl4pPr algn="l">
              <a:defRPr sz="1875" b="1">
                <a:solidFill>
                  <a:srgbClr val="007F82"/>
                </a:solidFill>
                <a:latin typeface="Helvetica Neue"/>
                <a:ea typeface="Helvetica Neue"/>
                <a:cs typeface="Helvetica Neue"/>
              </a:defRPr>
            </a:lvl4pPr>
            <a:lvl5pPr algn="l">
              <a:defRPr sz="1875" b="1">
                <a:solidFill>
                  <a:srgbClr val="007F82"/>
                </a:solidFill>
                <a:latin typeface="Helvetica Neue"/>
                <a:ea typeface="Helvetica Neue"/>
                <a:cs typeface="Helvetica Neue"/>
              </a:defRPr>
            </a:lvl5pPr>
            <a:lvl6pPr algn="l">
              <a:defRPr sz="1875" b="1">
                <a:solidFill>
                  <a:srgbClr val="007F82"/>
                </a:solidFill>
                <a:latin typeface="Helvetica Neue"/>
                <a:ea typeface="Helvetica Neue"/>
                <a:cs typeface="Helvetica Neue"/>
              </a:defRPr>
            </a:lvl6pPr>
            <a:lvl7pPr algn="l">
              <a:defRPr sz="1875" b="1">
                <a:solidFill>
                  <a:srgbClr val="007F82"/>
                </a:solidFill>
                <a:latin typeface="Helvetica Neue"/>
                <a:ea typeface="Helvetica Neue"/>
                <a:cs typeface="Helvetica Neue"/>
              </a:defRPr>
            </a:lvl7pPr>
            <a:lvl8pPr algn="l">
              <a:defRPr sz="1875" b="1">
                <a:solidFill>
                  <a:srgbClr val="007F82"/>
                </a:solidFill>
                <a:latin typeface="Helvetica Neue"/>
                <a:ea typeface="Helvetica Neue"/>
                <a:cs typeface="Helvetica Neue"/>
              </a:defRPr>
            </a:lvl8pPr>
            <a:lvl9pPr algn="l">
              <a:defRPr sz="1875" b="1">
                <a:solidFill>
                  <a:srgbClr val="007F82"/>
                </a:solidFill>
                <a:latin typeface="Helvetica Neue"/>
                <a:ea typeface="Helvetica Neue"/>
                <a:cs typeface="Helvetica Neue"/>
              </a:defRPr>
            </a:lvl9pPr>
          </a:lstStyle>
          <a:p>
            <a:pPr algn="l">
              <a:defRPr sz="1875" b="1">
                <a:solidFill>
                  <a:srgbClr val="007F82"/>
                </a:solidFill>
                <a:latin typeface="Helvetica Neue"/>
                <a:ea typeface="Helvetica Neue"/>
                <a:cs typeface="Helvetica Neue"/>
              </a:defRPr>
            </a:pPr>
            <a:r>
              <a:rPr sz="1875" b="1">
                <a:solidFill>
                  <a:srgbClr val="007F82"/>
                </a:solidFill>
                <a:latin typeface="Helvetica Neue"/>
                <a:ea typeface="Helvetica Neue"/>
                <a:cs typeface="Helvetica Neue"/>
              </a:rPr>
              <a:t>Loss = mean squared error between the known noise and the predicted noise</a:t>
            </a:r>
          </a:p>
        </p:txBody>
      </p:sp>
    </p:spTree>
    <p:extLst>
      <p:ext uri="{BB962C8B-B14F-4D97-AF65-F5344CB8AC3E}">
        <p14:creationId xmlns:p14="http://schemas.microsoft.com/office/powerpoint/2010/main" val="1422854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C9C6F0E9-AB2A-40A3-A845-F6E9F5E3AE4D}"/>
              </a:ext>
            </a:extLst>
          </p:cNvPr>
          <p:cNvCxnSpPr>
            <a:stCxn id="5" idx="2"/>
            <a:endCxn id="12" idx="0"/>
          </p:cNvCxnSpPr>
          <p:nvPr/>
        </p:nvCxnSpPr>
        <p:spPr>
          <a:xfrm>
            <a:off x="4333875" y="2619375"/>
            <a:ext cx="0" cy="1524000"/>
          </a:xfrm>
          <a:prstGeom prst="straightConnector1">
            <a:avLst/>
          </a:prstGeom>
          <a:ln w="19050">
            <a:solidFill>
              <a:srgbClr val="007F82"/>
            </a:solidFill>
            <a:prstDash val="solid"/>
            <a:tailEnd type="triangle" w="med" len="med"/>
          </a:ln>
        </p:spPr>
      </p:cxnSp>
      <p:cxnSp>
        <p:nvCxnSpPr>
          <p:cNvPr id="16" name="Straight Arrow Connector 15">
            <a:extLst>
              <a:ext uri="{FF2B5EF4-FFF2-40B4-BE49-F238E27FC236}">
                <a16:creationId xmlns:a16="http://schemas.microsoft.com/office/drawing/2014/main" id="{BFC866C7-79F0-4C8B-B52A-46997B9B771A}"/>
              </a:ext>
            </a:extLst>
          </p:cNvPr>
          <p:cNvCxnSpPr>
            <a:stCxn id="12" idx="1"/>
            <a:endCxn id="11" idx="3"/>
          </p:cNvCxnSpPr>
          <p:nvPr/>
        </p:nvCxnSpPr>
        <p:spPr>
          <a:xfrm flipH="1">
            <a:off x="2667000" y="4572000"/>
            <a:ext cx="666750" cy="0"/>
          </a:xfrm>
          <a:prstGeom prst="straightConnector1">
            <a:avLst/>
          </a:prstGeom>
          <a:ln w="19050">
            <a:solidFill>
              <a:srgbClr val="007F82"/>
            </a:solidFill>
            <a:prstDash val="solid"/>
            <a:tailEnd type="triangle" w="med" len="med"/>
          </a:ln>
        </p:spPr>
      </p:cxnSp>
      <p:cxnSp>
        <p:nvCxnSpPr>
          <p:cNvPr id="15" name="Straight Arrow Connector 14">
            <a:extLst>
              <a:ext uri="{FF2B5EF4-FFF2-40B4-BE49-F238E27FC236}">
                <a16:creationId xmlns:a16="http://schemas.microsoft.com/office/drawing/2014/main" id="{9A562079-082A-4460-B9B1-7CDFEAEEDADF}"/>
              </a:ext>
            </a:extLst>
          </p:cNvPr>
          <p:cNvCxnSpPr>
            <a:stCxn id="13" idx="1"/>
            <a:endCxn id="12" idx="3"/>
          </p:cNvCxnSpPr>
          <p:nvPr/>
        </p:nvCxnSpPr>
        <p:spPr>
          <a:xfrm flipH="1">
            <a:off x="5334000" y="4572000"/>
            <a:ext cx="666750" cy="0"/>
          </a:xfrm>
          <a:prstGeom prst="straightConnector1">
            <a:avLst/>
          </a:prstGeom>
          <a:ln w="19050">
            <a:solidFill>
              <a:srgbClr val="007F82"/>
            </a:solidFill>
            <a:prstDash val="solid"/>
            <a:tailEnd type="triangle" w="med" len="med"/>
          </a:ln>
        </p:spPr>
      </p:cxnSp>
      <p:cxnSp>
        <p:nvCxnSpPr>
          <p:cNvPr id="14" name="Straight Arrow Connector 13">
            <a:extLst>
              <a:ext uri="{FF2B5EF4-FFF2-40B4-BE49-F238E27FC236}">
                <a16:creationId xmlns:a16="http://schemas.microsoft.com/office/drawing/2014/main" id="{29BF77BB-FBB3-4691-923A-60DE7F9B14D9}"/>
              </a:ext>
            </a:extLst>
          </p:cNvPr>
          <p:cNvCxnSpPr>
            <a:stCxn id="7" idx="2"/>
            <a:endCxn id="13" idx="3"/>
          </p:cNvCxnSpPr>
          <p:nvPr/>
        </p:nvCxnSpPr>
        <p:spPr>
          <a:xfrm flipH="1">
            <a:off x="8001000" y="2619375"/>
            <a:ext cx="1666875" cy="1952625"/>
          </a:xfrm>
          <a:prstGeom prst="straightConnector1">
            <a:avLst/>
          </a:prstGeom>
          <a:ln w="19050">
            <a:solidFill>
              <a:srgbClr val="007F82"/>
            </a:solidFill>
            <a:prstDash val="solid"/>
            <a:tailEnd type="triangle" w="med" len="med"/>
          </a:ln>
        </p:spPr>
      </p:cxnSp>
      <p:cxnSp>
        <p:nvCxnSpPr>
          <p:cNvPr id="10" name="Straight Arrow Connector 9">
            <a:extLst>
              <a:ext uri="{FF2B5EF4-FFF2-40B4-BE49-F238E27FC236}">
                <a16:creationId xmlns:a16="http://schemas.microsoft.com/office/drawing/2014/main" id="{8F1818FF-CAA5-4728-8DE9-02C6EE8BFD78}"/>
              </a:ext>
            </a:extLst>
          </p:cNvPr>
          <p:cNvCxnSpPr>
            <a:stCxn id="6" idx="3"/>
            <a:endCxn id="7" idx="1"/>
          </p:cNvCxnSpPr>
          <p:nvPr/>
        </p:nvCxnSpPr>
        <p:spPr>
          <a:xfrm>
            <a:off x="8001000" y="2190750"/>
            <a:ext cx="666750" cy="0"/>
          </a:xfrm>
          <a:prstGeom prst="straightConnector1">
            <a:avLst/>
          </a:prstGeom>
          <a:ln w="19050">
            <a:solidFill>
              <a:srgbClr val="007F82"/>
            </a:solidFill>
            <a:prstDash val="solid"/>
            <a:tailEnd type="triangle" w="med" len="med"/>
          </a:ln>
        </p:spPr>
      </p:cxnSp>
      <p:cxnSp>
        <p:nvCxnSpPr>
          <p:cNvPr id="9" name="Straight Arrow Connector 8">
            <a:extLst>
              <a:ext uri="{FF2B5EF4-FFF2-40B4-BE49-F238E27FC236}">
                <a16:creationId xmlns:a16="http://schemas.microsoft.com/office/drawing/2014/main" id="{F3D8D3AB-FE8F-458C-95E9-5BCC8F347453}"/>
              </a:ext>
            </a:extLst>
          </p:cNvPr>
          <p:cNvCxnSpPr>
            <a:stCxn id="5" idx="3"/>
            <a:endCxn id="6" idx="1"/>
          </p:cNvCxnSpPr>
          <p:nvPr/>
        </p:nvCxnSpPr>
        <p:spPr>
          <a:xfrm>
            <a:off x="5334000" y="2190750"/>
            <a:ext cx="666750" cy="0"/>
          </a:xfrm>
          <a:prstGeom prst="straightConnector1">
            <a:avLst/>
          </a:prstGeom>
          <a:ln w="19050">
            <a:solidFill>
              <a:srgbClr val="007F82"/>
            </a:solidFill>
            <a:prstDash val="solid"/>
            <a:tailEnd type="triangle" w="med" len="med"/>
          </a:ln>
        </p:spPr>
      </p:cxnSp>
      <p:cxnSp>
        <p:nvCxnSpPr>
          <p:cNvPr id="8" name="Straight Arrow Connector 7">
            <a:extLst>
              <a:ext uri="{FF2B5EF4-FFF2-40B4-BE49-F238E27FC236}">
                <a16:creationId xmlns:a16="http://schemas.microsoft.com/office/drawing/2014/main" id="{0639991D-5E91-4681-826A-507824C1D60B}"/>
              </a:ext>
            </a:extLst>
          </p:cNvPr>
          <p:cNvCxnSpPr>
            <a:stCxn id="4" idx="3"/>
            <a:endCxn id="5" idx="1"/>
          </p:cNvCxnSpPr>
          <p:nvPr/>
        </p:nvCxnSpPr>
        <p:spPr>
          <a:xfrm>
            <a:off x="2667000" y="2190750"/>
            <a:ext cx="666750" cy="0"/>
          </a:xfrm>
          <a:prstGeom prst="straightConnector1">
            <a:avLst/>
          </a:prstGeom>
          <a:ln w="19050">
            <a:solidFill>
              <a:srgbClr val="007F82"/>
            </a:solidFill>
            <a:prstDash val="solid"/>
            <a:tailEnd type="triangle" w="med" len="med"/>
          </a:ln>
        </p:spPr>
      </p:cxnSp>
      <p:sp>
        <p:nvSpPr>
          <p:cNvPr id="20" name="Rectangle 19">
            <a:extLst>
              <a:ext uri="{FF2B5EF4-FFF2-40B4-BE49-F238E27FC236}">
                <a16:creationId xmlns:a16="http://schemas.microsoft.com/office/drawing/2014/main" id="{2F256336-32C8-4F65-818C-7CFEF3FF303D}"/>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Time-conditioned U-Net architecture</a:t>
            </a:r>
          </a:p>
        </p:txBody>
      </p:sp>
      <p:sp>
        <p:nvSpPr>
          <p:cNvPr id="2" name="Rectangle 1">
            <a:extLst>
              <a:ext uri="{FF2B5EF4-FFF2-40B4-BE49-F238E27FC236}">
                <a16:creationId xmlns:a16="http://schemas.microsoft.com/office/drawing/2014/main" id="{9B7DE11E-6F45-4463-BDE2-891452916C33}"/>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12</a:t>
            </a:r>
          </a:p>
        </p:txBody>
      </p:sp>
      <p:sp>
        <p:nvSpPr>
          <p:cNvPr id="4" name="Rectangle 3">
            <a:extLst>
              <a:ext uri="{FF2B5EF4-FFF2-40B4-BE49-F238E27FC236}">
                <a16:creationId xmlns:a16="http://schemas.microsoft.com/office/drawing/2014/main" id="{601C5D1C-0907-44C6-A074-A55D4016573F}"/>
              </a:ext>
            </a:extLst>
          </p:cNvPr>
          <p:cNvSpPr>
            <a:spLocks noGrp="1"/>
          </p:cNvSpPr>
          <p:nvPr/>
        </p:nvSpPr>
        <p:spPr>
          <a:xfrm>
            <a:off x="666750" y="1762125"/>
            <a:ext cx="2000250" cy="857250"/>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32 × 32</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Encoder</a:t>
            </a:r>
          </a:p>
        </p:txBody>
      </p:sp>
      <p:sp>
        <p:nvSpPr>
          <p:cNvPr id="5" name="Rectangle 4">
            <a:extLst>
              <a:ext uri="{FF2B5EF4-FFF2-40B4-BE49-F238E27FC236}">
                <a16:creationId xmlns:a16="http://schemas.microsoft.com/office/drawing/2014/main" id="{E8B8FE5A-83EB-463A-88D5-686C8E11EF3D}"/>
              </a:ext>
            </a:extLst>
          </p:cNvPr>
          <p:cNvSpPr>
            <a:spLocks noGrp="1"/>
          </p:cNvSpPr>
          <p:nvPr/>
        </p:nvSpPr>
        <p:spPr>
          <a:xfrm>
            <a:off x="3333750" y="1762125"/>
            <a:ext cx="2000250" cy="857250"/>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16 × 16</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 attention</a:t>
            </a:r>
          </a:p>
        </p:txBody>
      </p:sp>
      <p:sp>
        <p:nvSpPr>
          <p:cNvPr id="6" name="Rectangle 5">
            <a:extLst>
              <a:ext uri="{FF2B5EF4-FFF2-40B4-BE49-F238E27FC236}">
                <a16:creationId xmlns:a16="http://schemas.microsoft.com/office/drawing/2014/main" id="{73F8AAC7-73B1-4AB7-A9AF-C613F1AF0C42}"/>
              </a:ext>
            </a:extLst>
          </p:cNvPr>
          <p:cNvSpPr>
            <a:spLocks noGrp="1"/>
          </p:cNvSpPr>
          <p:nvPr/>
        </p:nvSpPr>
        <p:spPr>
          <a:xfrm>
            <a:off x="6000750" y="1762125"/>
            <a:ext cx="2000250" cy="857250"/>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8 × 8</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 attention</a:t>
            </a:r>
          </a:p>
        </p:txBody>
      </p:sp>
      <p:sp>
        <p:nvSpPr>
          <p:cNvPr id="7" name="Rectangle 6">
            <a:extLst>
              <a:ext uri="{FF2B5EF4-FFF2-40B4-BE49-F238E27FC236}">
                <a16:creationId xmlns:a16="http://schemas.microsoft.com/office/drawing/2014/main" id="{61807C5C-70A8-4EC8-A86F-17B9E0589153}"/>
              </a:ext>
            </a:extLst>
          </p:cNvPr>
          <p:cNvSpPr>
            <a:spLocks noGrp="1"/>
          </p:cNvSpPr>
          <p:nvPr/>
        </p:nvSpPr>
        <p:spPr>
          <a:xfrm>
            <a:off x="8667750" y="1762125"/>
            <a:ext cx="2000250" cy="857250"/>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4 × 4</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Bottleneck</a:t>
            </a:r>
          </a:p>
        </p:txBody>
      </p:sp>
      <p:sp>
        <p:nvSpPr>
          <p:cNvPr id="11" name="Rectangle 10">
            <a:extLst>
              <a:ext uri="{FF2B5EF4-FFF2-40B4-BE49-F238E27FC236}">
                <a16:creationId xmlns:a16="http://schemas.microsoft.com/office/drawing/2014/main" id="{9A88CAB0-71DE-4134-AF26-B4B4FDB28598}"/>
              </a:ext>
            </a:extLst>
          </p:cNvPr>
          <p:cNvSpPr>
            <a:spLocks noGrp="1"/>
          </p:cNvSpPr>
          <p:nvPr/>
        </p:nvSpPr>
        <p:spPr>
          <a:xfrm>
            <a:off x="666750" y="4143375"/>
            <a:ext cx="2000250" cy="857250"/>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32 × 32</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Noise output</a:t>
            </a:r>
          </a:p>
        </p:txBody>
      </p:sp>
      <p:sp>
        <p:nvSpPr>
          <p:cNvPr id="12" name="Rectangle 11">
            <a:extLst>
              <a:ext uri="{FF2B5EF4-FFF2-40B4-BE49-F238E27FC236}">
                <a16:creationId xmlns:a16="http://schemas.microsoft.com/office/drawing/2014/main" id="{F7ECB3A1-A250-4AA8-B3DF-8D431841C41B}"/>
              </a:ext>
            </a:extLst>
          </p:cNvPr>
          <p:cNvSpPr>
            <a:spLocks noGrp="1"/>
          </p:cNvSpPr>
          <p:nvPr/>
        </p:nvSpPr>
        <p:spPr>
          <a:xfrm>
            <a:off x="3333750" y="4143375"/>
            <a:ext cx="2000250" cy="857250"/>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16 × 16</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Decoder</a:t>
            </a:r>
          </a:p>
        </p:txBody>
      </p:sp>
      <p:sp>
        <p:nvSpPr>
          <p:cNvPr id="13" name="Rectangle 12">
            <a:extLst>
              <a:ext uri="{FF2B5EF4-FFF2-40B4-BE49-F238E27FC236}">
                <a16:creationId xmlns:a16="http://schemas.microsoft.com/office/drawing/2014/main" id="{42F79B80-E891-4631-BE16-FC638500B92E}"/>
              </a:ext>
            </a:extLst>
          </p:cNvPr>
          <p:cNvSpPr>
            <a:spLocks noGrp="1"/>
          </p:cNvSpPr>
          <p:nvPr/>
        </p:nvSpPr>
        <p:spPr>
          <a:xfrm>
            <a:off x="6000750" y="4143375"/>
            <a:ext cx="2000250" cy="857250"/>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8 × 8</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Decoder</a:t>
            </a:r>
          </a:p>
        </p:txBody>
      </p:sp>
      <p:sp>
        <p:nvSpPr>
          <p:cNvPr id="18" name="Rectangle 17">
            <a:extLst>
              <a:ext uri="{FF2B5EF4-FFF2-40B4-BE49-F238E27FC236}">
                <a16:creationId xmlns:a16="http://schemas.microsoft.com/office/drawing/2014/main" id="{7EEB2041-563D-4971-8D50-F38A7DA6FA4D}"/>
              </a:ext>
            </a:extLst>
          </p:cNvPr>
          <p:cNvSpPr>
            <a:spLocks noGrp="1"/>
          </p:cNvSpPr>
          <p:nvPr/>
        </p:nvSpPr>
        <p:spPr>
          <a:xfrm>
            <a:off x="4667250" y="3095625"/>
            <a:ext cx="3238500" cy="666750"/>
          </a:xfrm>
          <a:prstGeom prst="rect">
            <a:avLst/>
          </a:prstGeom>
          <a:noFill/>
          <a:ln w="0">
            <a:noFill/>
          </a:ln>
        </p:spPr>
        <p:txBody>
          <a:bodyPr lIns="0" tIns="0" rIns="0" bIns="0" anchor="t">
            <a:noAutofit/>
          </a:bodyPr>
          <a:lstStyle>
            <a:defPPr algn="l">
              <a:defRPr sz="1725" b="0">
                <a:solidFill>
                  <a:srgbClr val="53657B"/>
                </a:solidFill>
                <a:latin typeface="Helvetica Neue"/>
                <a:ea typeface="Helvetica Neue"/>
                <a:cs typeface="Helvetica Neue"/>
              </a:defRPr>
            </a:defPPr>
            <a:lvl1pPr algn="l">
              <a:defRPr sz="1725" b="0">
                <a:solidFill>
                  <a:srgbClr val="53657B"/>
                </a:solidFill>
                <a:latin typeface="Helvetica Neue"/>
                <a:ea typeface="Helvetica Neue"/>
                <a:cs typeface="Helvetica Neue"/>
              </a:defRPr>
            </a:lvl1pPr>
            <a:lvl2pPr algn="l">
              <a:defRPr sz="1725" b="0">
                <a:solidFill>
                  <a:srgbClr val="53657B"/>
                </a:solidFill>
                <a:latin typeface="Helvetica Neue"/>
                <a:ea typeface="Helvetica Neue"/>
                <a:cs typeface="Helvetica Neue"/>
              </a:defRPr>
            </a:lvl2pPr>
            <a:lvl3pPr algn="l">
              <a:defRPr sz="1725" b="0">
                <a:solidFill>
                  <a:srgbClr val="53657B"/>
                </a:solidFill>
                <a:latin typeface="Helvetica Neue"/>
                <a:ea typeface="Helvetica Neue"/>
                <a:cs typeface="Helvetica Neue"/>
              </a:defRPr>
            </a:lvl3pPr>
            <a:lvl4pPr algn="l">
              <a:defRPr sz="1725" b="0">
                <a:solidFill>
                  <a:srgbClr val="53657B"/>
                </a:solidFill>
                <a:latin typeface="Helvetica Neue"/>
                <a:ea typeface="Helvetica Neue"/>
                <a:cs typeface="Helvetica Neue"/>
              </a:defRPr>
            </a:lvl4pPr>
            <a:lvl5pPr algn="l">
              <a:defRPr sz="1725" b="0">
                <a:solidFill>
                  <a:srgbClr val="53657B"/>
                </a:solidFill>
                <a:latin typeface="Helvetica Neue"/>
                <a:ea typeface="Helvetica Neue"/>
                <a:cs typeface="Helvetica Neue"/>
              </a:defRPr>
            </a:lvl5pPr>
            <a:lvl6pPr algn="l">
              <a:defRPr sz="1725" b="0">
                <a:solidFill>
                  <a:srgbClr val="53657B"/>
                </a:solidFill>
                <a:latin typeface="Helvetica Neue"/>
                <a:ea typeface="Helvetica Neue"/>
                <a:cs typeface="Helvetica Neue"/>
              </a:defRPr>
            </a:lvl6pPr>
            <a:lvl7pPr algn="l">
              <a:defRPr sz="1725" b="0">
                <a:solidFill>
                  <a:srgbClr val="53657B"/>
                </a:solidFill>
                <a:latin typeface="Helvetica Neue"/>
                <a:ea typeface="Helvetica Neue"/>
                <a:cs typeface="Helvetica Neue"/>
              </a:defRPr>
            </a:lvl7pPr>
            <a:lvl8pPr algn="l">
              <a:defRPr sz="1725" b="0">
                <a:solidFill>
                  <a:srgbClr val="53657B"/>
                </a:solidFill>
                <a:latin typeface="Helvetica Neue"/>
                <a:ea typeface="Helvetica Neue"/>
                <a:cs typeface="Helvetica Neue"/>
              </a:defRPr>
            </a:lvl8pPr>
            <a:lvl9pPr algn="l">
              <a:defRPr sz="1725" b="0">
                <a:solidFill>
                  <a:srgbClr val="53657B"/>
                </a:solidFill>
                <a:latin typeface="Helvetica Neue"/>
                <a:ea typeface="Helvetica Neue"/>
                <a:cs typeface="Helvetica Neue"/>
              </a:defRPr>
            </a:lvl9pPr>
          </a:lstStyle>
          <a:p>
            <a:pPr algn="l">
              <a:defRPr sz="1725" b="0">
                <a:solidFill>
                  <a:srgbClr val="53657B"/>
                </a:solidFill>
                <a:latin typeface="Helvetica Neue"/>
                <a:ea typeface="Helvetica Neue"/>
                <a:cs typeface="Helvetica Neue"/>
              </a:defRPr>
            </a:pPr>
            <a:r>
              <a:rPr sz="1725" b="0">
                <a:solidFill>
                  <a:srgbClr val="53657B"/>
                </a:solidFill>
                <a:latin typeface="Helvetica Neue"/>
                <a:ea typeface="Helvetica Neue"/>
                <a:cs typeface="Helvetica Neue"/>
              </a:rPr>
              <a:t>Representative skip</a:t>
            </a:r>
          </a:p>
          <a:p>
            <a:pPr algn="l">
              <a:defRPr sz="1725" b="0">
                <a:solidFill>
                  <a:srgbClr val="53657B"/>
                </a:solidFill>
                <a:latin typeface="Helvetica Neue"/>
                <a:ea typeface="Helvetica Neue"/>
                <a:cs typeface="Helvetica Neue"/>
              </a:defRPr>
            </a:pPr>
            <a:r>
              <a:rPr sz="1725" b="0">
                <a:solidFill>
                  <a:srgbClr val="53657B"/>
                </a:solidFill>
                <a:latin typeface="Helvetica Neue"/>
                <a:ea typeface="Helvetica Neue"/>
                <a:cs typeface="Helvetica Neue"/>
              </a:rPr>
              <a:t>concatenation</a:t>
            </a:r>
          </a:p>
        </p:txBody>
      </p:sp>
      <p:sp>
        <p:nvSpPr>
          <p:cNvPr id="19" name="Rectangle 18">
            <a:extLst>
              <a:ext uri="{FF2B5EF4-FFF2-40B4-BE49-F238E27FC236}">
                <a16:creationId xmlns:a16="http://schemas.microsoft.com/office/drawing/2014/main" id="{E4AD7D5C-A554-44B2-86D6-5D917D9329A0}"/>
              </a:ext>
            </a:extLst>
          </p:cNvPr>
          <p:cNvSpPr>
            <a:spLocks noGrp="1"/>
          </p:cNvSpPr>
          <p:nvPr/>
        </p:nvSpPr>
        <p:spPr>
          <a:xfrm>
            <a:off x="666750" y="5381625"/>
            <a:ext cx="10477500" cy="381000"/>
          </a:xfrm>
          <a:prstGeom prst="rect">
            <a:avLst/>
          </a:prstGeom>
          <a:noFill/>
          <a:ln w="0">
            <a:noFill/>
          </a:ln>
        </p:spPr>
        <p:txBody>
          <a:bodyPr lIns="0" tIns="0" rIns="0" bIns="0" anchor="t">
            <a:noAutofit/>
          </a:bodyPr>
          <a:lstStyle>
            <a:defPPr algn="l">
              <a:defRPr sz="1950" b="1">
                <a:solidFill>
                  <a:srgbClr val="007F82"/>
                </a:solidFill>
                <a:latin typeface="Helvetica Neue"/>
                <a:ea typeface="Helvetica Neue"/>
                <a:cs typeface="Helvetica Neue"/>
              </a:defRPr>
            </a:defPPr>
            <a:lvl1pPr algn="l">
              <a:defRPr sz="1950" b="1">
                <a:solidFill>
                  <a:srgbClr val="007F82"/>
                </a:solidFill>
                <a:latin typeface="Helvetica Neue"/>
                <a:ea typeface="Helvetica Neue"/>
                <a:cs typeface="Helvetica Neue"/>
              </a:defRPr>
            </a:lvl1pPr>
            <a:lvl2pPr algn="l">
              <a:defRPr sz="1950" b="1">
                <a:solidFill>
                  <a:srgbClr val="007F82"/>
                </a:solidFill>
                <a:latin typeface="Helvetica Neue"/>
                <a:ea typeface="Helvetica Neue"/>
                <a:cs typeface="Helvetica Neue"/>
              </a:defRPr>
            </a:lvl2pPr>
            <a:lvl3pPr algn="l">
              <a:defRPr sz="1950" b="1">
                <a:solidFill>
                  <a:srgbClr val="007F82"/>
                </a:solidFill>
                <a:latin typeface="Helvetica Neue"/>
                <a:ea typeface="Helvetica Neue"/>
                <a:cs typeface="Helvetica Neue"/>
              </a:defRPr>
            </a:lvl3pPr>
            <a:lvl4pPr algn="l">
              <a:defRPr sz="1950" b="1">
                <a:solidFill>
                  <a:srgbClr val="007F82"/>
                </a:solidFill>
                <a:latin typeface="Helvetica Neue"/>
                <a:ea typeface="Helvetica Neue"/>
                <a:cs typeface="Helvetica Neue"/>
              </a:defRPr>
            </a:lvl4pPr>
            <a:lvl5pPr algn="l">
              <a:defRPr sz="1950" b="1">
                <a:solidFill>
                  <a:srgbClr val="007F82"/>
                </a:solidFill>
                <a:latin typeface="Helvetica Neue"/>
                <a:ea typeface="Helvetica Neue"/>
                <a:cs typeface="Helvetica Neue"/>
              </a:defRPr>
            </a:lvl5pPr>
            <a:lvl6pPr algn="l">
              <a:defRPr sz="1950" b="1">
                <a:solidFill>
                  <a:srgbClr val="007F82"/>
                </a:solidFill>
                <a:latin typeface="Helvetica Neue"/>
                <a:ea typeface="Helvetica Neue"/>
                <a:cs typeface="Helvetica Neue"/>
              </a:defRPr>
            </a:lvl6pPr>
            <a:lvl7pPr algn="l">
              <a:defRPr sz="1950" b="1">
                <a:solidFill>
                  <a:srgbClr val="007F82"/>
                </a:solidFill>
                <a:latin typeface="Helvetica Neue"/>
                <a:ea typeface="Helvetica Neue"/>
                <a:cs typeface="Helvetica Neue"/>
              </a:defRPr>
            </a:lvl7pPr>
            <a:lvl8pPr algn="l">
              <a:defRPr sz="1950" b="1">
                <a:solidFill>
                  <a:srgbClr val="007F82"/>
                </a:solidFill>
                <a:latin typeface="Helvetica Neue"/>
                <a:ea typeface="Helvetica Neue"/>
                <a:cs typeface="Helvetica Neue"/>
              </a:defRPr>
            </a:lvl8pPr>
            <a:lvl9pPr algn="l">
              <a:defRPr sz="1950" b="1">
                <a:solidFill>
                  <a:srgbClr val="007F82"/>
                </a:solidFill>
                <a:latin typeface="Helvetica Neue"/>
                <a:ea typeface="Helvetica Neue"/>
                <a:cs typeface="Helvetica Neue"/>
              </a:defRPr>
            </a:lvl9pPr>
          </a:lstStyle>
          <a:p>
            <a:pPr algn="l">
              <a:defRPr sz="1950" b="1">
                <a:solidFill>
                  <a:srgbClr val="007F82"/>
                </a:solidFill>
                <a:latin typeface="Helvetica Neue"/>
                <a:ea typeface="Helvetica Neue"/>
                <a:cs typeface="Helvetica Neue"/>
              </a:defRPr>
            </a:pPr>
            <a:r>
              <a:rPr sz="1950" b="1">
                <a:solidFill>
                  <a:srgbClr val="007F82"/>
                </a:solidFill>
                <a:latin typeface="Helvetica Neue"/>
                <a:ea typeface="Helvetica Neue"/>
                <a:cs typeface="Helvetica Neue"/>
              </a:rPr>
              <a:t>Time embeddings enter residual blocks</a:t>
            </a:r>
          </a:p>
        </p:txBody>
      </p:sp>
    </p:spTree>
    <p:extLst>
      <p:ext uri="{BB962C8B-B14F-4D97-AF65-F5344CB8AC3E}">
        <p14:creationId xmlns:p14="http://schemas.microsoft.com/office/powerpoint/2010/main" val="766178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1A3C453-CE0A-4D49-B6C3-52272CB0177F}"/>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Saved configuration and reproducibility</a:t>
            </a:r>
          </a:p>
        </p:txBody>
      </p:sp>
      <p:sp>
        <p:nvSpPr>
          <p:cNvPr id="2" name="Rectangle 1">
            <a:extLst>
              <a:ext uri="{FF2B5EF4-FFF2-40B4-BE49-F238E27FC236}">
                <a16:creationId xmlns:a16="http://schemas.microsoft.com/office/drawing/2014/main" id="{8034C494-B7DB-42E7-A516-C96844809C41}"/>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13</a:t>
            </a:r>
          </a:p>
        </p:txBody>
      </p:sp>
      <p:graphicFrame>
        <p:nvGraphicFramePr>
          <p:cNvPr id="4" name="Table 3">
            <a:extLst>
              <a:ext uri="{FF2B5EF4-FFF2-40B4-BE49-F238E27FC236}">
                <a16:creationId xmlns:a16="http://schemas.microsoft.com/office/drawing/2014/main" id="{34C997EC-0A14-48F1-B8B8-6C24A02197FA}"/>
              </a:ext>
            </a:extLst>
          </p:cNvPr>
          <p:cNvGraphicFramePr/>
          <p:nvPr/>
        </p:nvGraphicFramePr>
        <p:xfrm>
          <a:off x="666750" y="1619250"/>
          <a:ext cx="10858500" cy="3524250"/>
        </p:xfrm>
        <a:graphic>
          <a:graphicData uri="http://schemas.openxmlformats.org/drawingml/2006/table">
            <a:tbl>
              <a:tblPr/>
              <a:tblGrid>
                <a:gridCol w="3048000">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587375">
                <a:tc>
                  <a:txBody>
                    <a:bodyPr/>
                    <a:lstStyle/>
                    <a:p>
                      <a:r>
                        <a:rPr sz="1725" b="1">
                          <a:solidFill>
                            <a:srgbClr val="FFFFFF"/>
                          </a:solidFill>
                          <a:latin typeface="Helvetica Neue"/>
                          <a:ea typeface="Helvetica Neue"/>
                          <a:cs typeface="Helvetica Neue"/>
                        </a:rPr>
                        <a:t>Setting</a:t>
                      </a:r>
                    </a:p>
                  </a:txBody>
                  <a:tcPr anchor="ctr">
                    <a:lnL w="9525">
                      <a:solidFill>
                        <a:srgbClr val="D4DEE8"/>
                      </a:solidFill>
                      <a:prstDash val="soli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tc>
                  <a:txBody>
                    <a:bodyPr/>
                    <a:lstStyle/>
                    <a:p>
                      <a:r>
                        <a:rPr sz="1725" b="1">
                          <a:solidFill>
                            <a:srgbClr val="FFFFFF"/>
                          </a:solidFill>
                          <a:latin typeface="Helvetica Neue"/>
                          <a:ea typeface="Helvetica Neue"/>
                          <a:cs typeface="Helvetica Neue"/>
                        </a:rPr>
                        <a:t>Current notebook</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tc>
                  <a:txBody>
                    <a:bodyPr/>
                    <a:lstStyle/>
                    <a:p>
                      <a:r>
                        <a:rPr sz="1725" b="1">
                          <a:solidFill>
                            <a:srgbClr val="FFFFFF"/>
                          </a:solidFill>
                          <a:latin typeface="Helvetica Neue"/>
                          <a:ea typeface="Helvetica Neue"/>
                          <a:cs typeface="Helvetica Neue"/>
                        </a:rPr>
                        <a:t>Saved evidence</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extLst>
                  <a:ext uri="{0D108BD9-81ED-4DB2-BD59-A6C34878D82A}">
                    <a16:rowId xmlns:a16="http://schemas.microsoft.com/office/drawing/2014/main" val="10000"/>
                  </a:ext>
                </a:extLst>
              </a:tr>
              <a:tr h="587375">
                <a:tc>
                  <a:txBody>
                    <a:bodyPr/>
                    <a:lstStyle/>
                    <a:p>
                      <a:r>
                        <a:rPr sz="1725" b="0">
                          <a:solidFill>
                            <a:srgbClr val="142D4E"/>
                          </a:solidFill>
                          <a:latin typeface="Helvetica Neue"/>
                          <a:ea typeface="Helvetica Neue"/>
                          <a:cs typeface="Helvetica Neue"/>
                        </a:rPr>
                        <a:t>Base channels</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64</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Main 32, sanity test 64</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extLst>
                  <a:ext uri="{0D108BD9-81ED-4DB2-BD59-A6C34878D82A}">
                    <a16:rowId xmlns:a16="http://schemas.microsoft.com/office/drawing/2014/main" val="10001"/>
                  </a:ext>
                </a:extLst>
              </a:tr>
              <a:tr h="587375">
                <a:tc>
                  <a:txBody>
                    <a:bodyPr/>
                    <a:lstStyle/>
                    <a:p>
                      <a:r>
                        <a:rPr sz="1725" b="0">
                          <a:solidFill>
                            <a:srgbClr val="142D4E"/>
                          </a:solidFill>
                          <a:latin typeface="Helvetica Neue"/>
                          <a:ea typeface="Helvetica Neue"/>
                          <a:cs typeface="Helvetica Neue"/>
                        </a:rPr>
                        <a:t>Parameter count</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Depends on BASE_CH</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Main 2.33M, sanity test 9.28M</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extLst>
                  <a:ext uri="{0D108BD9-81ED-4DB2-BD59-A6C34878D82A}">
                    <a16:rowId xmlns:a16="http://schemas.microsoft.com/office/drawing/2014/main" val="10002"/>
                  </a:ext>
                </a:extLst>
              </a:tr>
              <a:tr h="587375">
                <a:tc>
                  <a:txBody>
                    <a:bodyPr/>
                    <a:lstStyle/>
                    <a:p>
                      <a:r>
                        <a:rPr sz="1725" b="0">
                          <a:solidFill>
                            <a:srgbClr val="142D4E"/>
                          </a:solidFill>
                          <a:latin typeface="Helvetica Neue"/>
                          <a:ea typeface="Helvetica Neue"/>
                          <a:cs typeface="Helvetica Neue"/>
                        </a:rPr>
                        <a:t>Training extent</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1,000-epoch cap, 75-min budget</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Main 18 epochs and 6,678 steps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extLst>
                  <a:ext uri="{0D108BD9-81ED-4DB2-BD59-A6C34878D82A}">
                    <a16:rowId xmlns:a16="http://schemas.microsoft.com/office/drawing/2014/main" val="10003"/>
                  </a:ext>
                </a:extLst>
              </a:tr>
              <a:tr h="587375">
                <a:tc>
                  <a:txBody>
                    <a:bodyPr/>
                    <a:lstStyle/>
                    <a:p>
                      <a:r>
                        <a:rPr sz="1725" b="0">
                          <a:solidFill>
                            <a:srgbClr val="142D4E"/>
                          </a:solidFill>
                          <a:latin typeface="Helvetica Neue"/>
                          <a:ea typeface="Helvetica Neue"/>
                          <a:cs typeface="Helvetica Neue"/>
                        </a:rPr>
                        <a:t>Optimizer and learning rate</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Adam, 0.0002</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Resume optimizer state exists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extLst>
                  <a:ext uri="{0D108BD9-81ED-4DB2-BD59-A6C34878D82A}">
                    <a16:rowId xmlns:a16="http://schemas.microsoft.com/office/drawing/2014/main" val="10004"/>
                  </a:ext>
                </a:extLst>
              </a:tr>
              <a:tr h="587375">
                <a:tc>
                  <a:txBody>
                    <a:bodyPr/>
                    <a:lstStyle/>
                    <a:p>
                      <a:r>
                        <a:rPr sz="1725" b="0">
                          <a:solidFill>
                            <a:srgbClr val="142D4E"/>
                          </a:solidFill>
                          <a:latin typeface="Helvetica Neue"/>
                          <a:ea typeface="Helvetica Neue"/>
                          <a:cs typeface="Helvetica Neue"/>
                        </a:rPr>
                        <a:t>Device and elapsed time</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CUDA, then MPS, then CPU</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Historical device/time not logged</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FA78B061-157A-4D59-A441-6A20A2477F8E}"/>
              </a:ext>
            </a:extLst>
          </p:cNvPr>
          <p:cNvSpPr>
            <a:spLocks noGrp="1"/>
          </p:cNvSpPr>
          <p:nvPr/>
        </p:nvSpPr>
        <p:spPr>
          <a:xfrm>
            <a:off x="666750" y="5791200"/>
            <a:ext cx="10668000" cy="476250"/>
          </a:xfrm>
          <a:prstGeom prst="rect">
            <a:avLst/>
          </a:prstGeom>
          <a:noFill/>
          <a:ln w="0">
            <a:noFill/>
          </a:ln>
        </p:spPr>
        <p:txBody>
          <a:bodyPr lIns="0" tIns="0" rIns="0" bIns="0" anchor="t">
            <a:noAutofit/>
          </a:bodyPr>
          <a:lstStyle>
            <a:defPPr algn="l">
              <a:defRPr sz="1875" b="1">
                <a:solidFill>
                  <a:srgbClr val="A65F13"/>
                </a:solidFill>
                <a:latin typeface="Helvetica Neue"/>
                <a:ea typeface="Helvetica Neue"/>
                <a:cs typeface="Helvetica Neue"/>
              </a:defRPr>
            </a:defPPr>
            <a:lvl1pPr algn="l">
              <a:defRPr sz="1875" b="1">
                <a:solidFill>
                  <a:srgbClr val="A65F13"/>
                </a:solidFill>
                <a:latin typeface="Helvetica Neue"/>
                <a:ea typeface="Helvetica Neue"/>
                <a:cs typeface="Helvetica Neue"/>
              </a:defRPr>
            </a:lvl1pPr>
            <a:lvl2pPr algn="l">
              <a:defRPr sz="1875" b="1">
                <a:solidFill>
                  <a:srgbClr val="A65F13"/>
                </a:solidFill>
                <a:latin typeface="Helvetica Neue"/>
                <a:ea typeface="Helvetica Neue"/>
                <a:cs typeface="Helvetica Neue"/>
              </a:defRPr>
            </a:lvl2pPr>
            <a:lvl3pPr algn="l">
              <a:defRPr sz="1875" b="1">
                <a:solidFill>
                  <a:srgbClr val="A65F13"/>
                </a:solidFill>
                <a:latin typeface="Helvetica Neue"/>
                <a:ea typeface="Helvetica Neue"/>
                <a:cs typeface="Helvetica Neue"/>
              </a:defRPr>
            </a:lvl3pPr>
            <a:lvl4pPr algn="l">
              <a:defRPr sz="1875" b="1">
                <a:solidFill>
                  <a:srgbClr val="A65F13"/>
                </a:solidFill>
                <a:latin typeface="Helvetica Neue"/>
                <a:ea typeface="Helvetica Neue"/>
                <a:cs typeface="Helvetica Neue"/>
              </a:defRPr>
            </a:lvl4pPr>
            <a:lvl5pPr algn="l">
              <a:defRPr sz="1875" b="1">
                <a:solidFill>
                  <a:srgbClr val="A65F13"/>
                </a:solidFill>
                <a:latin typeface="Helvetica Neue"/>
                <a:ea typeface="Helvetica Neue"/>
                <a:cs typeface="Helvetica Neue"/>
              </a:defRPr>
            </a:lvl5pPr>
            <a:lvl6pPr algn="l">
              <a:defRPr sz="1875" b="1">
                <a:solidFill>
                  <a:srgbClr val="A65F13"/>
                </a:solidFill>
                <a:latin typeface="Helvetica Neue"/>
                <a:ea typeface="Helvetica Neue"/>
                <a:cs typeface="Helvetica Neue"/>
              </a:defRPr>
            </a:lvl6pPr>
            <a:lvl7pPr algn="l">
              <a:defRPr sz="1875" b="1">
                <a:solidFill>
                  <a:srgbClr val="A65F13"/>
                </a:solidFill>
                <a:latin typeface="Helvetica Neue"/>
                <a:ea typeface="Helvetica Neue"/>
                <a:cs typeface="Helvetica Neue"/>
              </a:defRPr>
            </a:lvl7pPr>
            <a:lvl8pPr algn="l">
              <a:defRPr sz="1875" b="1">
                <a:solidFill>
                  <a:srgbClr val="A65F13"/>
                </a:solidFill>
                <a:latin typeface="Helvetica Neue"/>
                <a:ea typeface="Helvetica Neue"/>
                <a:cs typeface="Helvetica Neue"/>
              </a:defRPr>
            </a:lvl8pPr>
            <a:lvl9pPr algn="l">
              <a:defRPr sz="1875" b="1">
                <a:solidFill>
                  <a:srgbClr val="A65F13"/>
                </a:solidFill>
                <a:latin typeface="Helvetica Neue"/>
                <a:ea typeface="Helvetica Neue"/>
                <a:cs typeface="Helvetica Neue"/>
              </a:defRPr>
            </a:lvl9pPr>
          </a:lstStyle>
          <a:p>
            <a:pPr algn="l">
              <a:defRPr sz="1875" b="1">
                <a:solidFill>
                  <a:srgbClr val="A65F13"/>
                </a:solidFill>
                <a:latin typeface="Helvetica Neue"/>
                <a:ea typeface="Helvetica Neue"/>
                <a:cs typeface="Helvetica Neue"/>
              </a:defRPr>
            </a:pPr>
            <a:r>
              <a:rPr sz="1875" b="1">
                <a:solidFill>
                  <a:srgbClr val="A65F13"/>
                </a:solidFill>
                <a:latin typeface="Helvetica Neue"/>
                <a:ea typeface="Helvetica Neue"/>
                <a:cs typeface="Helvetica Neue"/>
              </a:rPr>
              <a:t>The loader needs BASE_CH = 32 for the saved main model</a:t>
            </a:r>
          </a:p>
        </p:txBody>
      </p:sp>
    </p:spTree>
    <p:extLst>
      <p:ext uri="{BB962C8B-B14F-4D97-AF65-F5344CB8AC3E}">
        <p14:creationId xmlns:p14="http://schemas.microsoft.com/office/powerpoint/2010/main" val="594212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cxnSp>
        <p:nvCxnSpPr>
          <p:cNvPr id="12" name="Straight Arrow Connector 11">
            <a:extLst>
              <a:ext uri="{FF2B5EF4-FFF2-40B4-BE49-F238E27FC236}">
                <a16:creationId xmlns:a16="http://schemas.microsoft.com/office/drawing/2014/main" id="{A9C8B206-1993-4165-BBA2-3910FE1F795E}"/>
              </a:ext>
            </a:extLst>
          </p:cNvPr>
          <p:cNvCxnSpPr>
            <a:stCxn id="7" idx="3"/>
            <a:endCxn id="8" idx="1"/>
          </p:cNvCxnSpPr>
          <p:nvPr/>
        </p:nvCxnSpPr>
        <p:spPr>
          <a:xfrm>
            <a:off x="9715500" y="2357438"/>
            <a:ext cx="238125" cy="0"/>
          </a:xfrm>
          <a:prstGeom prst="straightConnector1">
            <a:avLst/>
          </a:prstGeom>
          <a:ln w="19050">
            <a:solidFill>
              <a:srgbClr val="007F82"/>
            </a:solidFill>
            <a:prstDash val="solid"/>
            <a:tailEnd type="triangle" w="med" len="med"/>
          </a:ln>
        </p:spPr>
      </p:cxnSp>
      <p:cxnSp>
        <p:nvCxnSpPr>
          <p:cNvPr id="11" name="Straight Arrow Connector 10">
            <a:extLst>
              <a:ext uri="{FF2B5EF4-FFF2-40B4-BE49-F238E27FC236}">
                <a16:creationId xmlns:a16="http://schemas.microsoft.com/office/drawing/2014/main" id="{7D2FAE02-E341-4B92-91D7-F90D2B1F8E6E}"/>
              </a:ext>
            </a:extLst>
          </p:cNvPr>
          <p:cNvCxnSpPr>
            <a:stCxn id="6" idx="3"/>
            <a:endCxn id="7" idx="1"/>
          </p:cNvCxnSpPr>
          <p:nvPr/>
        </p:nvCxnSpPr>
        <p:spPr>
          <a:xfrm>
            <a:off x="7381875" y="2357438"/>
            <a:ext cx="238125" cy="0"/>
          </a:xfrm>
          <a:prstGeom prst="straightConnector1">
            <a:avLst/>
          </a:prstGeom>
          <a:ln w="19050">
            <a:solidFill>
              <a:srgbClr val="007F82"/>
            </a:solidFill>
            <a:prstDash val="solid"/>
            <a:tailEnd type="triangle" w="med" len="med"/>
          </a:ln>
        </p:spPr>
      </p:cxnSp>
      <p:cxnSp>
        <p:nvCxnSpPr>
          <p:cNvPr id="10" name="Straight Arrow Connector 9">
            <a:extLst>
              <a:ext uri="{FF2B5EF4-FFF2-40B4-BE49-F238E27FC236}">
                <a16:creationId xmlns:a16="http://schemas.microsoft.com/office/drawing/2014/main" id="{053627D0-07E5-4484-80A8-FDA1E5C4C241}"/>
              </a:ext>
            </a:extLst>
          </p:cNvPr>
          <p:cNvCxnSpPr>
            <a:stCxn id="5" idx="3"/>
            <a:endCxn id="6" idx="1"/>
          </p:cNvCxnSpPr>
          <p:nvPr/>
        </p:nvCxnSpPr>
        <p:spPr>
          <a:xfrm>
            <a:off x="5048250" y="2357438"/>
            <a:ext cx="238125" cy="0"/>
          </a:xfrm>
          <a:prstGeom prst="straightConnector1">
            <a:avLst/>
          </a:prstGeom>
          <a:ln w="19050">
            <a:solidFill>
              <a:srgbClr val="007F82"/>
            </a:solidFill>
            <a:prstDash val="solid"/>
            <a:tailEnd type="triangle" w="med" len="med"/>
          </a:ln>
        </p:spPr>
      </p:cxnSp>
      <p:cxnSp>
        <p:nvCxnSpPr>
          <p:cNvPr id="9" name="Straight Arrow Connector 8">
            <a:extLst>
              <a:ext uri="{FF2B5EF4-FFF2-40B4-BE49-F238E27FC236}">
                <a16:creationId xmlns:a16="http://schemas.microsoft.com/office/drawing/2014/main" id="{B194A501-6D01-47E3-95CD-FE03833A06F4}"/>
              </a:ext>
            </a:extLst>
          </p:cNvPr>
          <p:cNvCxnSpPr>
            <a:stCxn id="4" idx="3"/>
            <a:endCxn id="5" idx="1"/>
          </p:cNvCxnSpPr>
          <p:nvPr/>
        </p:nvCxnSpPr>
        <p:spPr>
          <a:xfrm>
            <a:off x="2714625" y="2357438"/>
            <a:ext cx="238125" cy="0"/>
          </a:xfrm>
          <a:prstGeom prst="straightConnector1">
            <a:avLst/>
          </a:prstGeom>
          <a:ln w="19050">
            <a:solidFill>
              <a:srgbClr val="007F82"/>
            </a:solidFill>
            <a:prstDash val="solid"/>
            <a:tailEnd type="triangle" w="med" len="med"/>
          </a:ln>
        </p:spPr>
      </p:cxnSp>
      <p:sp>
        <p:nvSpPr>
          <p:cNvPr id="19" name="Rectangle 18">
            <a:extLst>
              <a:ext uri="{FF2B5EF4-FFF2-40B4-BE49-F238E27FC236}">
                <a16:creationId xmlns:a16="http://schemas.microsoft.com/office/drawing/2014/main" id="{0082510B-BE36-4B52-8A44-D1E9DBE4576A}"/>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Training loop and numerical safeguards</a:t>
            </a:r>
          </a:p>
        </p:txBody>
      </p:sp>
      <p:sp>
        <p:nvSpPr>
          <p:cNvPr id="2" name="Rectangle 1">
            <a:extLst>
              <a:ext uri="{FF2B5EF4-FFF2-40B4-BE49-F238E27FC236}">
                <a16:creationId xmlns:a16="http://schemas.microsoft.com/office/drawing/2014/main" id="{C438EC0A-9D56-41DF-8617-F7F3BDF1FB31}"/>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14</a:t>
            </a:r>
          </a:p>
        </p:txBody>
      </p:sp>
      <p:sp>
        <p:nvSpPr>
          <p:cNvPr id="4" name="Rectangle 3">
            <a:extLst>
              <a:ext uri="{FF2B5EF4-FFF2-40B4-BE49-F238E27FC236}">
                <a16:creationId xmlns:a16="http://schemas.microsoft.com/office/drawing/2014/main" id="{6B205401-0754-496E-8E31-90E32B9C69C3}"/>
              </a:ext>
            </a:extLst>
          </p:cNvPr>
          <p:cNvSpPr>
            <a:spLocks noGrp="1"/>
          </p:cNvSpPr>
          <p:nvPr/>
        </p:nvSpPr>
        <p:spPr>
          <a:xfrm>
            <a:off x="619125" y="1857375"/>
            <a:ext cx="2095500" cy="100012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Sample t</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and noise</a:t>
            </a:r>
          </a:p>
        </p:txBody>
      </p:sp>
      <p:sp>
        <p:nvSpPr>
          <p:cNvPr id="5" name="Rectangle 4">
            <a:extLst>
              <a:ext uri="{FF2B5EF4-FFF2-40B4-BE49-F238E27FC236}">
                <a16:creationId xmlns:a16="http://schemas.microsoft.com/office/drawing/2014/main" id="{FFE336D7-59FC-43BB-9666-911560480D15}"/>
              </a:ext>
            </a:extLst>
          </p:cNvPr>
          <p:cNvSpPr>
            <a:spLocks noGrp="1"/>
          </p:cNvSpPr>
          <p:nvPr/>
        </p:nvSpPr>
        <p:spPr>
          <a:xfrm>
            <a:off x="2952750" y="1857375"/>
            <a:ext cx="2095500" cy="100012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Construct xₜ</a:t>
            </a:r>
          </a:p>
        </p:txBody>
      </p:sp>
      <p:sp>
        <p:nvSpPr>
          <p:cNvPr id="6" name="Rectangle 5">
            <a:extLst>
              <a:ext uri="{FF2B5EF4-FFF2-40B4-BE49-F238E27FC236}">
                <a16:creationId xmlns:a16="http://schemas.microsoft.com/office/drawing/2014/main" id="{DD0AD4C9-68CE-42E1-814A-D779612FF301}"/>
              </a:ext>
            </a:extLst>
          </p:cNvPr>
          <p:cNvSpPr>
            <a:spLocks noGrp="1"/>
          </p:cNvSpPr>
          <p:nvPr/>
        </p:nvSpPr>
        <p:spPr>
          <a:xfrm>
            <a:off x="5286375" y="1857375"/>
            <a:ext cx="2095500" cy="100012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Predict noise</a:t>
            </a:r>
          </a:p>
        </p:txBody>
      </p:sp>
      <p:sp>
        <p:nvSpPr>
          <p:cNvPr id="7" name="Rectangle 6">
            <a:extLst>
              <a:ext uri="{FF2B5EF4-FFF2-40B4-BE49-F238E27FC236}">
                <a16:creationId xmlns:a16="http://schemas.microsoft.com/office/drawing/2014/main" id="{D43969EC-29F3-43C3-AA8B-BC3FBBE179E0}"/>
              </a:ext>
            </a:extLst>
          </p:cNvPr>
          <p:cNvSpPr>
            <a:spLocks noGrp="1"/>
          </p:cNvSpPr>
          <p:nvPr/>
        </p:nvSpPr>
        <p:spPr>
          <a:xfrm>
            <a:off x="7620000" y="1857375"/>
            <a:ext cx="2095500" cy="100012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MSE and</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backpropagation</a:t>
            </a:r>
          </a:p>
        </p:txBody>
      </p:sp>
      <p:sp>
        <p:nvSpPr>
          <p:cNvPr id="8" name="Rectangle 7">
            <a:extLst>
              <a:ext uri="{FF2B5EF4-FFF2-40B4-BE49-F238E27FC236}">
                <a16:creationId xmlns:a16="http://schemas.microsoft.com/office/drawing/2014/main" id="{8B6D0597-8DBA-4AAE-B28C-8160A58656D7}"/>
              </a:ext>
            </a:extLst>
          </p:cNvPr>
          <p:cNvSpPr>
            <a:spLocks noGrp="1"/>
          </p:cNvSpPr>
          <p:nvPr/>
        </p:nvSpPr>
        <p:spPr>
          <a:xfrm>
            <a:off x="9953625" y="1857375"/>
            <a:ext cx="2095500" cy="100012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Adam update</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and EMA</a:t>
            </a:r>
          </a:p>
        </p:txBody>
      </p:sp>
      <p:sp>
        <p:nvSpPr>
          <p:cNvPr id="13" name="Rectangle 12">
            <a:extLst>
              <a:ext uri="{FF2B5EF4-FFF2-40B4-BE49-F238E27FC236}">
                <a16:creationId xmlns:a16="http://schemas.microsoft.com/office/drawing/2014/main" id="{4C96B3DD-CCD6-4919-9D0C-748D62107B87}"/>
              </a:ext>
            </a:extLst>
          </p:cNvPr>
          <p:cNvSpPr>
            <a:spLocks noGrp="1"/>
          </p:cNvSpPr>
          <p:nvPr/>
        </p:nvSpPr>
        <p:spPr>
          <a:xfrm>
            <a:off x="666750" y="3619500"/>
            <a:ext cx="228600" cy="457200"/>
          </a:xfrm>
          <a:prstGeom prst="rect">
            <a:avLst/>
          </a:prstGeom>
          <a:noFill/>
          <a:ln w="0">
            <a:noFill/>
          </a:ln>
        </p:spPr>
        <p:txBody>
          <a:bodyPr lIns="0" tIns="0" rIns="0" bIns="0" anchor="t">
            <a:noAutofit/>
          </a:bodyPr>
          <a:lstStyle>
            <a:defPPr algn="l">
              <a:defRPr sz="2025" b="1">
                <a:solidFill>
                  <a:srgbClr val="007F82"/>
                </a:solidFill>
                <a:latin typeface="Helvetica Neue"/>
                <a:ea typeface="Helvetica Neue"/>
                <a:cs typeface="Helvetica Neue"/>
              </a:defRPr>
            </a:defPPr>
            <a:lvl1pPr algn="l">
              <a:defRPr sz="2025" b="1">
                <a:solidFill>
                  <a:srgbClr val="007F82"/>
                </a:solidFill>
                <a:latin typeface="Helvetica Neue"/>
                <a:ea typeface="Helvetica Neue"/>
                <a:cs typeface="Helvetica Neue"/>
              </a:defRPr>
            </a:lvl1pPr>
            <a:lvl2pPr algn="l">
              <a:defRPr sz="2025" b="1">
                <a:solidFill>
                  <a:srgbClr val="007F82"/>
                </a:solidFill>
                <a:latin typeface="Helvetica Neue"/>
                <a:ea typeface="Helvetica Neue"/>
                <a:cs typeface="Helvetica Neue"/>
              </a:defRPr>
            </a:lvl2pPr>
            <a:lvl3pPr algn="l">
              <a:defRPr sz="2025" b="1">
                <a:solidFill>
                  <a:srgbClr val="007F82"/>
                </a:solidFill>
                <a:latin typeface="Helvetica Neue"/>
                <a:ea typeface="Helvetica Neue"/>
                <a:cs typeface="Helvetica Neue"/>
              </a:defRPr>
            </a:lvl3pPr>
            <a:lvl4pPr algn="l">
              <a:defRPr sz="2025" b="1">
                <a:solidFill>
                  <a:srgbClr val="007F82"/>
                </a:solidFill>
                <a:latin typeface="Helvetica Neue"/>
                <a:ea typeface="Helvetica Neue"/>
                <a:cs typeface="Helvetica Neue"/>
              </a:defRPr>
            </a:lvl4pPr>
            <a:lvl5pPr algn="l">
              <a:defRPr sz="2025" b="1">
                <a:solidFill>
                  <a:srgbClr val="007F82"/>
                </a:solidFill>
                <a:latin typeface="Helvetica Neue"/>
                <a:ea typeface="Helvetica Neue"/>
                <a:cs typeface="Helvetica Neue"/>
              </a:defRPr>
            </a:lvl5pPr>
            <a:lvl6pPr algn="l">
              <a:defRPr sz="2025" b="1">
                <a:solidFill>
                  <a:srgbClr val="007F82"/>
                </a:solidFill>
                <a:latin typeface="Helvetica Neue"/>
                <a:ea typeface="Helvetica Neue"/>
                <a:cs typeface="Helvetica Neue"/>
              </a:defRPr>
            </a:lvl6pPr>
            <a:lvl7pPr algn="l">
              <a:defRPr sz="2025" b="1">
                <a:solidFill>
                  <a:srgbClr val="007F82"/>
                </a:solidFill>
                <a:latin typeface="Helvetica Neue"/>
                <a:ea typeface="Helvetica Neue"/>
                <a:cs typeface="Helvetica Neue"/>
              </a:defRPr>
            </a:lvl7pPr>
            <a:lvl8pPr algn="l">
              <a:defRPr sz="2025" b="1">
                <a:solidFill>
                  <a:srgbClr val="007F82"/>
                </a:solidFill>
                <a:latin typeface="Helvetica Neue"/>
                <a:ea typeface="Helvetica Neue"/>
                <a:cs typeface="Helvetica Neue"/>
              </a:defRPr>
            </a:lvl8pPr>
            <a:lvl9pPr algn="l">
              <a:defRPr sz="2025" b="1">
                <a:solidFill>
                  <a:srgbClr val="007F82"/>
                </a:solidFill>
                <a:latin typeface="Helvetica Neue"/>
                <a:ea typeface="Helvetica Neue"/>
                <a:cs typeface="Helvetica Neue"/>
              </a:defRPr>
            </a:lvl9pPr>
          </a:lstStyle>
          <a:p>
            <a:pPr algn="l">
              <a:defRPr sz="2025" b="1">
                <a:solidFill>
                  <a:srgbClr val="007F82"/>
                </a:solidFill>
                <a:latin typeface="Helvetica Neue"/>
                <a:ea typeface="Helvetica Neue"/>
                <a:cs typeface="Helvetica Neue"/>
              </a:defRPr>
            </a:pPr>
            <a:r>
              <a:rPr sz="2025" b="1">
                <a:solidFill>
                  <a:srgbClr val="007F82"/>
                </a:solidFill>
                <a:latin typeface="Helvetica Neue"/>
                <a:ea typeface="Helvetica Neue"/>
                <a:cs typeface="Helvetica Neue"/>
              </a:rPr>
              <a:t>•</a:t>
            </a:r>
          </a:p>
        </p:txBody>
      </p:sp>
      <p:sp>
        <p:nvSpPr>
          <p:cNvPr id="14" name="Rectangle 13">
            <a:extLst>
              <a:ext uri="{FF2B5EF4-FFF2-40B4-BE49-F238E27FC236}">
                <a16:creationId xmlns:a16="http://schemas.microsoft.com/office/drawing/2014/main" id="{69B700B6-F0F7-4847-88ED-80ECF336C55D}"/>
              </a:ext>
            </a:extLst>
          </p:cNvPr>
          <p:cNvSpPr>
            <a:spLocks noGrp="1"/>
          </p:cNvSpPr>
          <p:nvPr/>
        </p:nvSpPr>
        <p:spPr>
          <a:xfrm>
            <a:off x="1000125" y="3619500"/>
            <a:ext cx="10334625" cy="723900"/>
          </a:xfrm>
          <a:prstGeom prst="rect">
            <a:avLst/>
          </a:prstGeom>
          <a:noFill/>
          <a:ln w="0">
            <a:noFill/>
          </a:ln>
        </p:spPr>
        <p:txBody>
          <a:bodyPr lIns="0" tIns="0" rIns="0" bIns="0" anchor="t">
            <a:noAutofit/>
          </a:bodyPr>
          <a:lstStyle>
            <a:defPPr algn="l">
              <a:defRPr sz="2025" b="0">
                <a:solidFill>
                  <a:srgbClr val="142D4E"/>
                </a:solidFill>
                <a:latin typeface="Helvetica Neue"/>
                <a:ea typeface="Helvetica Neue"/>
                <a:cs typeface="Helvetica Neue"/>
              </a:defRPr>
            </a:defPPr>
            <a:lvl1pPr algn="l">
              <a:defRPr sz="2025" b="0">
                <a:solidFill>
                  <a:srgbClr val="142D4E"/>
                </a:solidFill>
                <a:latin typeface="Helvetica Neue"/>
                <a:ea typeface="Helvetica Neue"/>
                <a:cs typeface="Helvetica Neue"/>
              </a:defRPr>
            </a:lvl1pPr>
            <a:lvl2pPr algn="l">
              <a:defRPr sz="2025" b="0">
                <a:solidFill>
                  <a:srgbClr val="142D4E"/>
                </a:solidFill>
                <a:latin typeface="Helvetica Neue"/>
                <a:ea typeface="Helvetica Neue"/>
                <a:cs typeface="Helvetica Neue"/>
              </a:defRPr>
            </a:lvl2pPr>
            <a:lvl3pPr algn="l">
              <a:defRPr sz="2025" b="0">
                <a:solidFill>
                  <a:srgbClr val="142D4E"/>
                </a:solidFill>
                <a:latin typeface="Helvetica Neue"/>
                <a:ea typeface="Helvetica Neue"/>
                <a:cs typeface="Helvetica Neue"/>
              </a:defRPr>
            </a:lvl3pPr>
            <a:lvl4pPr algn="l">
              <a:defRPr sz="2025" b="0">
                <a:solidFill>
                  <a:srgbClr val="142D4E"/>
                </a:solidFill>
                <a:latin typeface="Helvetica Neue"/>
                <a:ea typeface="Helvetica Neue"/>
                <a:cs typeface="Helvetica Neue"/>
              </a:defRPr>
            </a:lvl4pPr>
            <a:lvl5pPr algn="l">
              <a:defRPr sz="2025" b="0">
                <a:solidFill>
                  <a:srgbClr val="142D4E"/>
                </a:solidFill>
                <a:latin typeface="Helvetica Neue"/>
                <a:ea typeface="Helvetica Neue"/>
                <a:cs typeface="Helvetica Neue"/>
              </a:defRPr>
            </a:lvl5pPr>
            <a:lvl6pPr algn="l">
              <a:defRPr sz="2025" b="0">
                <a:solidFill>
                  <a:srgbClr val="142D4E"/>
                </a:solidFill>
                <a:latin typeface="Helvetica Neue"/>
                <a:ea typeface="Helvetica Neue"/>
                <a:cs typeface="Helvetica Neue"/>
              </a:defRPr>
            </a:lvl6pPr>
            <a:lvl7pPr algn="l">
              <a:defRPr sz="2025" b="0">
                <a:solidFill>
                  <a:srgbClr val="142D4E"/>
                </a:solidFill>
                <a:latin typeface="Helvetica Neue"/>
                <a:ea typeface="Helvetica Neue"/>
                <a:cs typeface="Helvetica Neue"/>
              </a:defRPr>
            </a:lvl7pPr>
            <a:lvl8pPr algn="l">
              <a:defRPr sz="2025" b="0">
                <a:solidFill>
                  <a:srgbClr val="142D4E"/>
                </a:solidFill>
                <a:latin typeface="Helvetica Neue"/>
                <a:ea typeface="Helvetica Neue"/>
                <a:cs typeface="Helvetica Neue"/>
              </a:defRPr>
            </a:lvl8pPr>
            <a:lvl9pPr algn="l">
              <a:defRPr sz="2025" b="0">
                <a:solidFill>
                  <a:srgbClr val="142D4E"/>
                </a:solidFill>
                <a:latin typeface="Helvetica Neue"/>
                <a:ea typeface="Helvetica Neue"/>
                <a:cs typeface="Helvetica Neue"/>
              </a:defRPr>
            </a:lvl9pPr>
          </a:lstStyle>
          <a:p>
            <a:pPr algn="l">
              <a:defRPr sz="2025" b="0">
                <a:solidFill>
                  <a:srgbClr val="142D4E"/>
                </a:solidFill>
                <a:latin typeface="Helvetica Neue"/>
                <a:ea typeface="Helvetica Neue"/>
                <a:cs typeface="Helvetica Neue"/>
              </a:defRPr>
            </a:pPr>
            <a:r>
              <a:rPr sz="2025" b="0">
                <a:solidFill>
                  <a:srgbClr val="142D4E"/>
                </a:solidFill>
                <a:latin typeface="Helvetica Neue"/>
                <a:ea typeface="Helvetica Neue"/>
                <a:cs typeface="Helvetica Neue"/>
              </a:rPr>
              <a:t>200-step learning-rate warm-up and gradient-norm clipping at 1.0</a:t>
            </a:r>
          </a:p>
        </p:txBody>
      </p:sp>
      <p:sp>
        <p:nvSpPr>
          <p:cNvPr id="15" name="Rectangle 14">
            <a:extLst>
              <a:ext uri="{FF2B5EF4-FFF2-40B4-BE49-F238E27FC236}">
                <a16:creationId xmlns:a16="http://schemas.microsoft.com/office/drawing/2014/main" id="{3A44FFEF-577B-4710-A275-A04EB8697A29}"/>
              </a:ext>
            </a:extLst>
          </p:cNvPr>
          <p:cNvSpPr>
            <a:spLocks noGrp="1"/>
          </p:cNvSpPr>
          <p:nvPr/>
        </p:nvSpPr>
        <p:spPr>
          <a:xfrm>
            <a:off x="666750" y="4333875"/>
            <a:ext cx="228600" cy="457200"/>
          </a:xfrm>
          <a:prstGeom prst="rect">
            <a:avLst/>
          </a:prstGeom>
          <a:noFill/>
          <a:ln w="0">
            <a:noFill/>
          </a:ln>
        </p:spPr>
        <p:txBody>
          <a:bodyPr lIns="0" tIns="0" rIns="0" bIns="0" anchor="t">
            <a:noAutofit/>
          </a:bodyPr>
          <a:lstStyle>
            <a:defPPr algn="l">
              <a:defRPr sz="2025" b="1">
                <a:solidFill>
                  <a:srgbClr val="007F82"/>
                </a:solidFill>
                <a:latin typeface="Helvetica Neue"/>
                <a:ea typeface="Helvetica Neue"/>
                <a:cs typeface="Helvetica Neue"/>
              </a:defRPr>
            </a:defPPr>
            <a:lvl1pPr algn="l">
              <a:defRPr sz="2025" b="1">
                <a:solidFill>
                  <a:srgbClr val="007F82"/>
                </a:solidFill>
                <a:latin typeface="Helvetica Neue"/>
                <a:ea typeface="Helvetica Neue"/>
                <a:cs typeface="Helvetica Neue"/>
              </a:defRPr>
            </a:lvl1pPr>
            <a:lvl2pPr algn="l">
              <a:defRPr sz="2025" b="1">
                <a:solidFill>
                  <a:srgbClr val="007F82"/>
                </a:solidFill>
                <a:latin typeface="Helvetica Neue"/>
                <a:ea typeface="Helvetica Neue"/>
                <a:cs typeface="Helvetica Neue"/>
              </a:defRPr>
            </a:lvl2pPr>
            <a:lvl3pPr algn="l">
              <a:defRPr sz="2025" b="1">
                <a:solidFill>
                  <a:srgbClr val="007F82"/>
                </a:solidFill>
                <a:latin typeface="Helvetica Neue"/>
                <a:ea typeface="Helvetica Neue"/>
                <a:cs typeface="Helvetica Neue"/>
              </a:defRPr>
            </a:lvl3pPr>
            <a:lvl4pPr algn="l">
              <a:defRPr sz="2025" b="1">
                <a:solidFill>
                  <a:srgbClr val="007F82"/>
                </a:solidFill>
                <a:latin typeface="Helvetica Neue"/>
                <a:ea typeface="Helvetica Neue"/>
                <a:cs typeface="Helvetica Neue"/>
              </a:defRPr>
            </a:lvl4pPr>
            <a:lvl5pPr algn="l">
              <a:defRPr sz="2025" b="1">
                <a:solidFill>
                  <a:srgbClr val="007F82"/>
                </a:solidFill>
                <a:latin typeface="Helvetica Neue"/>
                <a:ea typeface="Helvetica Neue"/>
                <a:cs typeface="Helvetica Neue"/>
              </a:defRPr>
            </a:lvl5pPr>
            <a:lvl6pPr algn="l">
              <a:defRPr sz="2025" b="1">
                <a:solidFill>
                  <a:srgbClr val="007F82"/>
                </a:solidFill>
                <a:latin typeface="Helvetica Neue"/>
                <a:ea typeface="Helvetica Neue"/>
                <a:cs typeface="Helvetica Neue"/>
              </a:defRPr>
            </a:lvl6pPr>
            <a:lvl7pPr algn="l">
              <a:defRPr sz="2025" b="1">
                <a:solidFill>
                  <a:srgbClr val="007F82"/>
                </a:solidFill>
                <a:latin typeface="Helvetica Neue"/>
                <a:ea typeface="Helvetica Neue"/>
                <a:cs typeface="Helvetica Neue"/>
              </a:defRPr>
            </a:lvl7pPr>
            <a:lvl8pPr algn="l">
              <a:defRPr sz="2025" b="1">
                <a:solidFill>
                  <a:srgbClr val="007F82"/>
                </a:solidFill>
                <a:latin typeface="Helvetica Neue"/>
                <a:ea typeface="Helvetica Neue"/>
                <a:cs typeface="Helvetica Neue"/>
              </a:defRPr>
            </a:lvl8pPr>
            <a:lvl9pPr algn="l">
              <a:defRPr sz="2025" b="1">
                <a:solidFill>
                  <a:srgbClr val="007F82"/>
                </a:solidFill>
                <a:latin typeface="Helvetica Neue"/>
                <a:ea typeface="Helvetica Neue"/>
                <a:cs typeface="Helvetica Neue"/>
              </a:defRPr>
            </a:lvl9pPr>
          </a:lstStyle>
          <a:p>
            <a:pPr algn="l">
              <a:defRPr sz="2025" b="1">
                <a:solidFill>
                  <a:srgbClr val="007F82"/>
                </a:solidFill>
                <a:latin typeface="Helvetica Neue"/>
                <a:ea typeface="Helvetica Neue"/>
                <a:cs typeface="Helvetica Neue"/>
              </a:defRPr>
            </a:pPr>
            <a:r>
              <a:rPr sz="2025" b="1">
                <a:solidFill>
                  <a:srgbClr val="007F82"/>
                </a:solidFill>
                <a:latin typeface="Helvetica Neue"/>
                <a:ea typeface="Helvetica Neue"/>
                <a:cs typeface="Helvetica Neue"/>
              </a:rPr>
              <a:t>•</a:t>
            </a:r>
          </a:p>
        </p:txBody>
      </p:sp>
      <p:sp>
        <p:nvSpPr>
          <p:cNvPr id="16" name="Rectangle 15">
            <a:extLst>
              <a:ext uri="{FF2B5EF4-FFF2-40B4-BE49-F238E27FC236}">
                <a16:creationId xmlns:a16="http://schemas.microsoft.com/office/drawing/2014/main" id="{F38C5134-0899-497D-89F4-45CFDC07FF98}"/>
              </a:ext>
            </a:extLst>
          </p:cNvPr>
          <p:cNvSpPr>
            <a:spLocks noGrp="1"/>
          </p:cNvSpPr>
          <p:nvPr/>
        </p:nvSpPr>
        <p:spPr>
          <a:xfrm>
            <a:off x="1000125" y="4333875"/>
            <a:ext cx="10334625" cy="723900"/>
          </a:xfrm>
          <a:prstGeom prst="rect">
            <a:avLst/>
          </a:prstGeom>
          <a:noFill/>
          <a:ln w="0">
            <a:noFill/>
          </a:ln>
        </p:spPr>
        <p:txBody>
          <a:bodyPr lIns="0" tIns="0" rIns="0" bIns="0" anchor="t">
            <a:noAutofit/>
          </a:bodyPr>
          <a:lstStyle>
            <a:defPPr algn="l">
              <a:defRPr sz="2025" b="0">
                <a:solidFill>
                  <a:srgbClr val="142D4E"/>
                </a:solidFill>
                <a:latin typeface="Helvetica Neue"/>
                <a:ea typeface="Helvetica Neue"/>
                <a:cs typeface="Helvetica Neue"/>
              </a:defRPr>
            </a:defPPr>
            <a:lvl1pPr algn="l">
              <a:defRPr sz="2025" b="0">
                <a:solidFill>
                  <a:srgbClr val="142D4E"/>
                </a:solidFill>
                <a:latin typeface="Helvetica Neue"/>
                <a:ea typeface="Helvetica Neue"/>
                <a:cs typeface="Helvetica Neue"/>
              </a:defRPr>
            </a:lvl1pPr>
            <a:lvl2pPr algn="l">
              <a:defRPr sz="2025" b="0">
                <a:solidFill>
                  <a:srgbClr val="142D4E"/>
                </a:solidFill>
                <a:latin typeface="Helvetica Neue"/>
                <a:ea typeface="Helvetica Neue"/>
                <a:cs typeface="Helvetica Neue"/>
              </a:defRPr>
            </a:lvl2pPr>
            <a:lvl3pPr algn="l">
              <a:defRPr sz="2025" b="0">
                <a:solidFill>
                  <a:srgbClr val="142D4E"/>
                </a:solidFill>
                <a:latin typeface="Helvetica Neue"/>
                <a:ea typeface="Helvetica Neue"/>
                <a:cs typeface="Helvetica Neue"/>
              </a:defRPr>
            </a:lvl3pPr>
            <a:lvl4pPr algn="l">
              <a:defRPr sz="2025" b="0">
                <a:solidFill>
                  <a:srgbClr val="142D4E"/>
                </a:solidFill>
                <a:latin typeface="Helvetica Neue"/>
                <a:ea typeface="Helvetica Neue"/>
                <a:cs typeface="Helvetica Neue"/>
              </a:defRPr>
            </a:lvl4pPr>
            <a:lvl5pPr algn="l">
              <a:defRPr sz="2025" b="0">
                <a:solidFill>
                  <a:srgbClr val="142D4E"/>
                </a:solidFill>
                <a:latin typeface="Helvetica Neue"/>
                <a:ea typeface="Helvetica Neue"/>
                <a:cs typeface="Helvetica Neue"/>
              </a:defRPr>
            </a:lvl5pPr>
            <a:lvl6pPr algn="l">
              <a:defRPr sz="2025" b="0">
                <a:solidFill>
                  <a:srgbClr val="142D4E"/>
                </a:solidFill>
                <a:latin typeface="Helvetica Neue"/>
                <a:ea typeface="Helvetica Neue"/>
                <a:cs typeface="Helvetica Neue"/>
              </a:defRPr>
            </a:lvl6pPr>
            <a:lvl7pPr algn="l">
              <a:defRPr sz="2025" b="0">
                <a:solidFill>
                  <a:srgbClr val="142D4E"/>
                </a:solidFill>
                <a:latin typeface="Helvetica Neue"/>
                <a:ea typeface="Helvetica Neue"/>
                <a:cs typeface="Helvetica Neue"/>
              </a:defRPr>
            </a:lvl7pPr>
            <a:lvl8pPr algn="l">
              <a:defRPr sz="2025" b="0">
                <a:solidFill>
                  <a:srgbClr val="142D4E"/>
                </a:solidFill>
                <a:latin typeface="Helvetica Neue"/>
                <a:ea typeface="Helvetica Neue"/>
                <a:cs typeface="Helvetica Neue"/>
              </a:defRPr>
            </a:lvl8pPr>
            <a:lvl9pPr algn="l">
              <a:defRPr sz="2025" b="0">
                <a:solidFill>
                  <a:srgbClr val="142D4E"/>
                </a:solidFill>
                <a:latin typeface="Helvetica Neue"/>
                <a:ea typeface="Helvetica Neue"/>
                <a:cs typeface="Helvetica Neue"/>
              </a:defRPr>
            </a:lvl9pPr>
          </a:lstStyle>
          <a:p>
            <a:pPr algn="l">
              <a:defRPr sz="2025" b="0">
                <a:solidFill>
                  <a:srgbClr val="142D4E"/>
                </a:solidFill>
                <a:latin typeface="Helvetica Neue"/>
                <a:ea typeface="Helvetica Neue"/>
                <a:cs typeface="Helvetica Neue"/>
              </a:defRPr>
            </a:pPr>
            <a:r>
              <a:rPr sz="2025" b="0">
                <a:solidFill>
                  <a:srgbClr val="142D4E"/>
                </a:solidFill>
                <a:latin typeface="Helvetica Neue"/>
                <a:ea typeface="Helvetica Neue"/>
                <a:cs typeface="Helvetica Neue"/>
              </a:rPr>
              <a:t>Non-finite loss checks, periodic checkpoints and resume state</a:t>
            </a:r>
          </a:p>
        </p:txBody>
      </p:sp>
      <p:sp>
        <p:nvSpPr>
          <p:cNvPr id="17" name="Rectangle 16">
            <a:extLst>
              <a:ext uri="{FF2B5EF4-FFF2-40B4-BE49-F238E27FC236}">
                <a16:creationId xmlns:a16="http://schemas.microsoft.com/office/drawing/2014/main" id="{4BE5D513-E087-4B1C-A1A7-215122F4ADB9}"/>
              </a:ext>
            </a:extLst>
          </p:cNvPr>
          <p:cNvSpPr>
            <a:spLocks noGrp="1"/>
          </p:cNvSpPr>
          <p:nvPr/>
        </p:nvSpPr>
        <p:spPr>
          <a:xfrm>
            <a:off x="666750" y="5048250"/>
            <a:ext cx="228600" cy="457200"/>
          </a:xfrm>
          <a:prstGeom prst="rect">
            <a:avLst/>
          </a:prstGeom>
          <a:noFill/>
          <a:ln w="0">
            <a:noFill/>
          </a:ln>
        </p:spPr>
        <p:txBody>
          <a:bodyPr lIns="0" tIns="0" rIns="0" bIns="0" anchor="t">
            <a:noAutofit/>
          </a:bodyPr>
          <a:lstStyle>
            <a:defPPr algn="l">
              <a:defRPr sz="2025" b="1">
                <a:solidFill>
                  <a:srgbClr val="007F82"/>
                </a:solidFill>
                <a:latin typeface="Helvetica Neue"/>
                <a:ea typeface="Helvetica Neue"/>
                <a:cs typeface="Helvetica Neue"/>
              </a:defRPr>
            </a:defPPr>
            <a:lvl1pPr algn="l">
              <a:defRPr sz="2025" b="1">
                <a:solidFill>
                  <a:srgbClr val="007F82"/>
                </a:solidFill>
                <a:latin typeface="Helvetica Neue"/>
                <a:ea typeface="Helvetica Neue"/>
                <a:cs typeface="Helvetica Neue"/>
              </a:defRPr>
            </a:lvl1pPr>
            <a:lvl2pPr algn="l">
              <a:defRPr sz="2025" b="1">
                <a:solidFill>
                  <a:srgbClr val="007F82"/>
                </a:solidFill>
                <a:latin typeface="Helvetica Neue"/>
                <a:ea typeface="Helvetica Neue"/>
                <a:cs typeface="Helvetica Neue"/>
              </a:defRPr>
            </a:lvl2pPr>
            <a:lvl3pPr algn="l">
              <a:defRPr sz="2025" b="1">
                <a:solidFill>
                  <a:srgbClr val="007F82"/>
                </a:solidFill>
                <a:latin typeface="Helvetica Neue"/>
                <a:ea typeface="Helvetica Neue"/>
                <a:cs typeface="Helvetica Neue"/>
              </a:defRPr>
            </a:lvl3pPr>
            <a:lvl4pPr algn="l">
              <a:defRPr sz="2025" b="1">
                <a:solidFill>
                  <a:srgbClr val="007F82"/>
                </a:solidFill>
                <a:latin typeface="Helvetica Neue"/>
                <a:ea typeface="Helvetica Neue"/>
                <a:cs typeface="Helvetica Neue"/>
              </a:defRPr>
            </a:lvl4pPr>
            <a:lvl5pPr algn="l">
              <a:defRPr sz="2025" b="1">
                <a:solidFill>
                  <a:srgbClr val="007F82"/>
                </a:solidFill>
                <a:latin typeface="Helvetica Neue"/>
                <a:ea typeface="Helvetica Neue"/>
                <a:cs typeface="Helvetica Neue"/>
              </a:defRPr>
            </a:lvl5pPr>
            <a:lvl6pPr algn="l">
              <a:defRPr sz="2025" b="1">
                <a:solidFill>
                  <a:srgbClr val="007F82"/>
                </a:solidFill>
                <a:latin typeface="Helvetica Neue"/>
                <a:ea typeface="Helvetica Neue"/>
                <a:cs typeface="Helvetica Neue"/>
              </a:defRPr>
            </a:lvl6pPr>
            <a:lvl7pPr algn="l">
              <a:defRPr sz="2025" b="1">
                <a:solidFill>
                  <a:srgbClr val="007F82"/>
                </a:solidFill>
                <a:latin typeface="Helvetica Neue"/>
                <a:ea typeface="Helvetica Neue"/>
                <a:cs typeface="Helvetica Neue"/>
              </a:defRPr>
            </a:lvl7pPr>
            <a:lvl8pPr algn="l">
              <a:defRPr sz="2025" b="1">
                <a:solidFill>
                  <a:srgbClr val="007F82"/>
                </a:solidFill>
                <a:latin typeface="Helvetica Neue"/>
                <a:ea typeface="Helvetica Neue"/>
                <a:cs typeface="Helvetica Neue"/>
              </a:defRPr>
            </a:lvl8pPr>
            <a:lvl9pPr algn="l">
              <a:defRPr sz="2025" b="1">
                <a:solidFill>
                  <a:srgbClr val="007F82"/>
                </a:solidFill>
                <a:latin typeface="Helvetica Neue"/>
                <a:ea typeface="Helvetica Neue"/>
                <a:cs typeface="Helvetica Neue"/>
              </a:defRPr>
            </a:lvl9pPr>
          </a:lstStyle>
          <a:p>
            <a:pPr algn="l">
              <a:defRPr sz="2025" b="1">
                <a:solidFill>
                  <a:srgbClr val="007F82"/>
                </a:solidFill>
                <a:latin typeface="Helvetica Neue"/>
                <a:ea typeface="Helvetica Neue"/>
                <a:cs typeface="Helvetica Neue"/>
              </a:defRPr>
            </a:pPr>
            <a:r>
              <a:rPr sz="2025" b="1">
                <a:solidFill>
                  <a:srgbClr val="007F82"/>
                </a:solidFill>
                <a:latin typeface="Helvetica Neue"/>
                <a:ea typeface="Helvetica Neue"/>
                <a:cs typeface="Helvetica Neue"/>
              </a:rPr>
              <a:t>•</a:t>
            </a:r>
          </a:p>
        </p:txBody>
      </p:sp>
      <p:sp>
        <p:nvSpPr>
          <p:cNvPr id="18" name="Rectangle 17">
            <a:extLst>
              <a:ext uri="{FF2B5EF4-FFF2-40B4-BE49-F238E27FC236}">
                <a16:creationId xmlns:a16="http://schemas.microsoft.com/office/drawing/2014/main" id="{D909973A-2225-494A-B112-BB127548CB05}"/>
              </a:ext>
            </a:extLst>
          </p:cNvPr>
          <p:cNvSpPr>
            <a:spLocks noGrp="1"/>
          </p:cNvSpPr>
          <p:nvPr/>
        </p:nvSpPr>
        <p:spPr>
          <a:xfrm>
            <a:off x="1000125" y="5048250"/>
            <a:ext cx="10334625" cy="723900"/>
          </a:xfrm>
          <a:prstGeom prst="rect">
            <a:avLst/>
          </a:prstGeom>
          <a:noFill/>
          <a:ln w="0">
            <a:noFill/>
          </a:ln>
        </p:spPr>
        <p:txBody>
          <a:bodyPr lIns="0" tIns="0" rIns="0" bIns="0" anchor="t">
            <a:noAutofit/>
          </a:bodyPr>
          <a:lstStyle>
            <a:defPPr algn="l">
              <a:defRPr sz="2025" b="0">
                <a:solidFill>
                  <a:srgbClr val="142D4E"/>
                </a:solidFill>
                <a:latin typeface="Helvetica Neue"/>
                <a:ea typeface="Helvetica Neue"/>
                <a:cs typeface="Helvetica Neue"/>
              </a:defRPr>
            </a:defPPr>
            <a:lvl1pPr algn="l">
              <a:defRPr sz="2025" b="0">
                <a:solidFill>
                  <a:srgbClr val="142D4E"/>
                </a:solidFill>
                <a:latin typeface="Helvetica Neue"/>
                <a:ea typeface="Helvetica Neue"/>
                <a:cs typeface="Helvetica Neue"/>
              </a:defRPr>
            </a:lvl1pPr>
            <a:lvl2pPr algn="l">
              <a:defRPr sz="2025" b="0">
                <a:solidFill>
                  <a:srgbClr val="142D4E"/>
                </a:solidFill>
                <a:latin typeface="Helvetica Neue"/>
                <a:ea typeface="Helvetica Neue"/>
                <a:cs typeface="Helvetica Neue"/>
              </a:defRPr>
            </a:lvl2pPr>
            <a:lvl3pPr algn="l">
              <a:defRPr sz="2025" b="0">
                <a:solidFill>
                  <a:srgbClr val="142D4E"/>
                </a:solidFill>
                <a:latin typeface="Helvetica Neue"/>
                <a:ea typeface="Helvetica Neue"/>
                <a:cs typeface="Helvetica Neue"/>
              </a:defRPr>
            </a:lvl3pPr>
            <a:lvl4pPr algn="l">
              <a:defRPr sz="2025" b="0">
                <a:solidFill>
                  <a:srgbClr val="142D4E"/>
                </a:solidFill>
                <a:latin typeface="Helvetica Neue"/>
                <a:ea typeface="Helvetica Neue"/>
                <a:cs typeface="Helvetica Neue"/>
              </a:defRPr>
            </a:lvl4pPr>
            <a:lvl5pPr algn="l">
              <a:defRPr sz="2025" b="0">
                <a:solidFill>
                  <a:srgbClr val="142D4E"/>
                </a:solidFill>
                <a:latin typeface="Helvetica Neue"/>
                <a:ea typeface="Helvetica Neue"/>
                <a:cs typeface="Helvetica Neue"/>
              </a:defRPr>
            </a:lvl5pPr>
            <a:lvl6pPr algn="l">
              <a:defRPr sz="2025" b="0">
                <a:solidFill>
                  <a:srgbClr val="142D4E"/>
                </a:solidFill>
                <a:latin typeface="Helvetica Neue"/>
                <a:ea typeface="Helvetica Neue"/>
                <a:cs typeface="Helvetica Neue"/>
              </a:defRPr>
            </a:lvl6pPr>
            <a:lvl7pPr algn="l">
              <a:defRPr sz="2025" b="0">
                <a:solidFill>
                  <a:srgbClr val="142D4E"/>
                </a:solidFill>
                <a:latin typeface="Helvetica Neue"/>
                <a:ea typeface="Helvetica Neue"/>
                <a:cs typeface="Helvetica Neue"/>
              </a:defRPr>
            </a:lvl7pPr>
            <a:lvl8pPr algn="l">
              <a:defRPr sz="2025" b="0">
                <a:solidFill>
                  <a:srgbClr val="142D4E"/>
                </a:solidFill>
                <a:latin typeface="Helvetica Neue"/>
                <a:ea typeface="Helvetica Neue"/>
                <a:cs typeface="Helvetica Neue"/>
              </a:defRPr>
            </a:lvl8pPr>
            <a:lvl9pPr algn="l">
              <a:defRPr sz="2025" b="0">
                <a:solidFill>
                  <a:srgbClr val="142D4E"/>
                </a:solidFill>
                <a:latin typeface="Helvetica Neue"/>
                <a:ea typeface="Helvetica Neue"/>
                <a:cs typeface="Helvetica Neue"/>
              </a:defRPr>
            </a:lvl9pPr>
          </a:lstStyle>
          <a:p>
            <a:pPr algn="l">
              <a:defRPr sz="2025" b="0">
                <a:solidFill>
                  <a:srgbClr val="142D4E"/>
                </a:solidFill>
                <a:latin typeface="Helvetica Neue"/>
                <a:ea typeface="Helvetica Neue"/>
                <a:cs typeface="Helvetica Neue"/>
              </a:defRPr>
            </a:pPr>
            <a:r>
              <a:rPr sz="2025" b="0">
                <a:solidFill>
                  <a:srgbClr val="142D4E"/>
                </a:solidFill>
                <a:latin typeface="Helvetica Neue"/>
                <a:ea typeface="Helvetica Neue"/>
                <a:cs typeface="Helvetica Neue"/>
              </a:rPr>
              <a:t>EMA weights supply the saved DDIM-50 sample grids</a:t>
            </a:r>
          </a:p>
        </p:txBody>
      </p:sp>
    </p:spTree>
    <p:extLst>
      <p:ext uri="{BB962C8B-B14F-4D97-AF65-F5344CB8AC3E}">
        <p14:creationId xmlns:p14="http://schemas.microsoft.com/office/powerpoint/2010/main" val="407675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40AD540-1DF7-42C5-8F63-4DBBCAA280CC}"/>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The sanity test learned the noise task</a:t>
            </a:r>
          </a:p>
        </p:txBody>
      </p:sp>
      <p:sp>
        <p:nvSpPr>
          <p:cNvPr id="2" name="Rectangle 1">
            <a:extLst>
              <a:ext uri="{FF2B5EF4-FFF2-40B4-BE49-F238E27FC236}">
                <a16:creationId xmlns:a16="http://schemas.microsoft.com/office/drawing/2014/main" id="{244C929E-025D-400C-AA9A-947BE7A5A2D4}"/>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15</a:t>
            </a:r>
          </a:p>
        </p:txBody>
      </p:sp>
      <p:graphicFrame>
        <p:nvGraphicFramePr>
          <p:cNvPr id="4" name="Chart">
            <a:extLst>
              <a:ext uri="{FF2B5EF4-FFF2-40B4-BE49-F238E27FC236}">
                <a16:creationId xmlns:a16="http://schemas.microsoft.com/office/drawing/2014/main" id="{3F744743-30A4-49AF-B8D0-008B82766FBB}"/>
              </a:ext>
            </a:extLst>
          </p:cNvPr>
          <p:cNvGraphicFramePr/>
          <p:nvPr/>
        </p:nvGraphicFramePr>
        <p:xfrm>
          <a:off x="666750" y="1571625"/>
          <a:ext cx="80962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1360F87E-9779-404D-B886-706D7A8F56A7}"/>
              </a:ext>
            </a:extLst>
          </p:cNvPr>
          <p:cNvSpPr>
            <a:spLocks noGrp="1"/>
          </p:cNvSpPr>
          <p:nvPr/>
        </p:nvSpPr>
        <p:spPr>
          <a:xfrm>
            <a:off x="9144000" y="1714500"/>
            <a:ext cx="2381250" cy="523875"/>
          </a:xfrm>
          <a:prstGeom prst="rect">
            <a:avLst/>
          </a:prstGeom>
          <a:noFill/>
          <a:ln w="0">
            <a:noFill/>
          </a:ln>
        </p:spPr>
        <p:txBody>
          <a:bodyPr lIns="0" tIns="0" rIns="0" bIns="0" anchor="t">
            <a:noAutofit/>
          </a:bodyPr>
          <a:lstStyle>
            <a:defPPr algn="l">
              <a:defRPr sz="2550" b="1">
                <a:solidFill>
                  <a:srgbClr val="007F82"/>
                </a:solidFill>
                <a:latin typeface="Helvetica Neue"/>
                <a:ea typeface="Helvetica Neue"/>
                <a:cs typeface="Helvetica Neue"/>
              </a:defRPr>
            </a:defPPr>
            <a:lvl1pPr algn="l">
              <a:defRPr sz="2550" b="1">
                <a:solidFill>
                  <a:srgbClr val="007F82"/>
                </a:solidFill>
                <a:latin typeface="Helvetica Neue"/>
                <a:ea typeface="Helvetica Neue"/>
                <a:cs typeface="Helvetica Neue"/>
              </a:defRPr>
            </a:lvl1pPr>
            <a:lvl2pPr algn="l">
              <a:defRPr sz="2550" b="1">
                <a:solidFill>
                  <a:srgbClr val="007F82"/>
                </a:solidFill>
                <a:latin typeface="Helvetica Neue"/>
                <a:ea typeface="Helvetica Neue"/>
                <a:cs typeface="Helvetica Neue"/>
              </a:defRPr>
            </a:lvl2pPr>
            <a:lvl3pPr algn="l">
              <a:defRPr sz="2550" b="1">
                <a:solidFill>
                  <a:srgbClr val="007F82"/>
                </a:solidFill>
                <a:latin typeface="Helvetica Neue"/>
                <a:ea typeface="Helvetica Neue"/>
                <a:cs typeface="Helvetica Neue"/>
              </a:defRPr>
            </a:lvl3pPr>
            <a:lvl4pPr algn="l">
              <a:defRPr sz="2550" b="1">
                <a:solidFill>
                  <a:srgbClr val="007F82"/>
                </a:solidFill>
                <a:latin typeface="Helvetica Neue"/>
                <a:ea typeface="Helvetica Neue"/>
                <a:cs typeface="Helvetica Neue"/>
              </a:defRPr>
            </a:lvl4pPr>
            <a:lvl5pPr algn="l">
              <a:defRPr sz="2550" b="1">
                <a:solidFill>
                  <a:srgbClr val="007F82"/>
                </a:solidFill>
                <a:latin typeface="Helvetica Neue"/>
                <a:ea typeface="Helvetica Neue"/>
                <a:cs typeface="Helvetica Neue"/>
              </a:defRPr>
            </a:lvl5pPr>
            <a:lvl6pPr algn="l">
              <a:defRPr sz="2550" b="1">
                <a:solidFill>
                  <a:srgbClr val="007F82"/>
                </a:solidFill>
                <a:latin typeface="Helvetica Neue"/>
                <a:ea typeface="Helvetica Neue"/>
                <a:cs typeface="Helvetica Neue"/>
              </a:defRPr>
            </a:lvl6pPr>
            <a:lvl7pPr algn="l">
              <a:defRPr sz="2550" b="1">
                <a:solidFill>
                  <a:srgbClr val="007F82"/>
                </a:solidFill>
                <a:latin typeface="Helvetica Neue"/>
                <a:ea typeface="Helvetica Neue"/>
                <a:cs typeface="Helvetica Neue"/>
              </a:defRPr>
            </a:lvl7pPr>
            <a:lvl8pPr algn="l">
              <a:defRPr sz="2550" b="1">
                <a:solidFill>
                  <a:srgbClr val="007F82"/>
                </a:solidFill>
                <a:latin typeface="Helvetica Neue"/>
                <a:ea typeface="Helvetica Neue"/>
                <a:cs typeface="Helvetica Neue"/>
              </a:defRPr>
            </a:lvl8pPr>
            <a:lvl9pPr algn="l">
              <a:defRPr sz="2550" b="1">
                <a:solidFill>
                  <a:srgbClr val="007F82"/>
                </a:solidFill>
                <a:latin typeface="Helvetica Neue"/>
                <a:ea typeface="Helvetica Neue"/>
                <a:cs typeface="Helvetica Neue"/>
              </a:defRPr>
            </a:lvl9pPr>
          </a:lstStyle>
          <a:p>
            <a:pPr algn="l">
              <a:defRPr sz="2550" b="1">
                <a:solidFill>
                  <a:srgbClr val="007F82"/>
                </a:solidFill>
                <a:latin typeface="Helvetica Neue"/>
                <a:ea typeface="Helvetica Neue"/>
                <a:cs typeface="Helvetica Neue"/>
              </a:defRPr>
            </a:pPr>
            <a:r>
              <a:rPr sz="2550" b="1">
                <a:solidFill>
                  <a:srgbClr val="007F82"/>
                </a:solidFill>
                <a:latin typeface="Helvetica Neue"/>
                <a:ea typeface="Helvetica Neue"/>
                <a:cs typeface="Helvetica Neue"/>
              </a:rPr>
              <a:t>64 images</a:t>
            </a:r>
          </a:p>
        </p:txBody>
      </p:sp>
      <p:sp>
        <p:nvSpPr>
          <p:cNvPr id="6" name="Rectangle 5">
            <a:extLst>
              <a:ext uri="{FF2B5EF4-FFF2-40B4-BE49-F238E27FC236}">
                <a16:creationId xmlns:a16="http://schemas.microsoft.com/office/drawing/2014/main" id="{9036873A-E360-475A-91D6-4EBB0C7EE92E}"/>
              </a:ext>
            </a:extLst>
          </p:cNvPr>
          <p:cNvSpPr>
            <a:spLocks noGrp="1"/>
          </p:cNvSpPr>
          <p:nvPr/>
        </p:nvSpPr>
        <p:spPr>
          <a:xfrm>
            <a:off x="9144000" y="2476500"/>
            <a:ext cx="2381250" cy="523875"/>
          </a:xfrm>
          <a:prstGeom prst="rect">
            <a:avLst/>
          </a:prstGeom>
          <a:noFill/>
          <a:ln w="0">
            <a:noFill/>
          </a:ln>
        </p:spPr>
        <p:txBody>
          <a:bodyPr lIns="0" tIns="0" rIns="0" bIns="0" anchor="t">
            <a:noAutofit/>
          </a:bodyPr>
          <a:lstStyle>
            <a:defPPr algn="l">
              <a:defRPr sz="2550" b="0">
                <a:solidFill>
                  <a:srgbClr val="142D4E"/>
                </a:solidFill>
                <a:latin typeface="Helvetica Neue"/>
                <a:ea typeface="Helvetica Neue"/>
                <a:cs typeface="Helvetica Neue"/>
              </a:defRPr>
            </a:defPPr>
            <a:lvl1pPr algn="l">
              <a:defRPr sz="2550" b="0">
                <a:solidFill>
                  <a:srgbClr val="142D4E"/>
                </a:solidFill>
                <a:latin typeface="Helvetica Neue"/>
                <a:ea typeface="Helvetica Neue"/>
                <a:cs typeface="Helvetica Neue"/>
              </a:defRPr>
            </a:lvl1pPr>
            <a:lvl2pPr algn="l">
              <a:defRPr sz="2550" b="0">
                <a:solidFill>
                  <a:srgbClr val="142D4E"/>
                </a:solidFill>
                <a:latin typeface="Helvetica Neue"/>
                <a:ea typeface="Helvetica Neue"/>
                <a:cs typeface="Helvetica Neue"/>
              </a:defRPr>
            </a:lvl2pPr>
            <a:lvl3pPr algn="l">
              <a:defRPr sz="2550" b="0">
                <a:solidFill>
                  <a:srgbClr val="142D4E"/>
                </a:solidFill>
                <a:latin typeface="Helvetica Neue"/>
                <a:ea typeface="Helvetica Neue"/>
                <a:cs typeface="Helvetica Neue"/>
              </a:defRPr>
            </a:lvl3pPr>
            <a:lvl4pPr algn="l">
              <a:defRPr sz="2550" b="0">
                <a:solidFill>
                  <a:srgbClr val="142D4E"/>
                </a:solidFill>
                <a:latin typeface="Helvetica Neue"/>
                <a:ea typeface="Helvetica Neue"/>
                <a:cs typeface="Helvetica Neue"/>
              </a:defRPr>
            </a:lvl4pPr>
            <a:lvl5pPr algn="l">
              <a:defRPr sz="2550" b="0">
                <a:solidFill>
                  <a:srgbClr val="142D4E"/>
                </a:solidFill>
                <a:latin typeface="Helvetica Neue"/>
                <a:ea typeface="Helvetica Neue"/>
                <a:cs typeface="Helvetica Neue"/>
              </a:defRPr>
            </a:lvl5pPr>
            <a:lvl6pPr algn="l">
              <a:defRPr sz="2550" b="0">
                <a:solidFill>
                  <a:srgbClr val="142D4E"/>
                </a:solidFill>
                <a:latin typeface="Helvetica Neue"/>
                <a:ea typeface="Helvetica Neue"/>
                <a:cs typeface="Helvetica Neue"/>
              </a:defRPr>
            </a:lvl6pPr>
            <a:lvl7pPr algn="l">
              <a:defRPr sz="2550" b="0">
                <a:solidFill>
                  <a:srgbClr val="142D4E"/>
                </a:solidFill>
                <a:latin typeface="Helvetica Neue"/>
                <a:ea typeface="Helvetica Neue"/>
                <a:cs typeface="Helvetica Neue"/>
              </a:defRPr>
            </a:lvl7pPr>
            <a:lvl8pPr algn="l">
              <a:defRPr sz="2550" b="0">
                <a:solidFill>
                  <a:srgbClr val="142D4E"/>
                </a:solidFill>
                <a:latin typeface="Helvetica Neue"/>
                <a:ea typeface="Helvetica Neue"/>
                <a:cs typeface="Helvetica Neue"/>
              </a:defRPr>
            </a:lvl8pPr>
            <a:lvl9pPr algn="l">
              <a:defRPr sz="2550" b="0">
                <a:solidFill>
                  <a:srgbClr val="142D4E"/>
                </a:solidFill>
                <a:latin typeface="Helvetica Neue"/>
                <a:ea typeface="Helvetica Neue"/>
                <a:cs typeface="Helvetica Neue"/>
              </a:defRPr>
            </a:lvl9pPr>
          </a:lstStyle>
          <a:p>
            <a:pPr algn="l">
              <a:defRPr sz="2550" b="0">
                <a:solidFill>
                  <a:srgbClr val="142D4E"/>
                </a:solidFill>
                <a:latin typeface="Helvetica Neue"/>
                <a:ea typeface="Helvetica Neue"/>
                <a:cs typeface="Helvetica Neue"/>
              </a:defRPr>
            </a:pPr>
            <a:r>
              <a:rPr sz="2550" b="0">
                <a:solidFill>
                  <a:srgbClr val="142D4E"/>
                </a:solidFill>
                <a:latin typeface="Helvetica Neue"/>
                <a:ea typeface="Helvetica Neue"/>
                <a:cs typeface="Helvetica Neue"/>
              </a:rPr>
              <a:t>300 epochs</a:t>
            </a:r>
          </a:p>
        </p:txBody>
      </p:sp>
      <p:sp>
        <p:nvSpPr>
          <p:cNvPr id="7" name="Rectangle 6">
            <a:extLst>
              <a:ext uri="{FF2B5EF4-FFF2-40B4-BE49-F238E27FC236}">
                <a16:creationId xmlns:a16="http://schemas.microsoft.com/office/drawing/2014/main" id="{337119A8-AE03-477D-9642-5281A67B833B}"/>
              </a:ext>
            </a:extLst>
          </p:cNvPr>
          <p:cNvSpPr>
            <a:spLocks noGrp="1"/>
          </p:cNvSpPr>
          <p:nvPr/>
        </p:nvSpPr>
        <p:spPr>
          <a:xfrm>
            <a:off x="9144000" y="3429000"/>
            <a:ext cx="2381250" cy="523875"/>
          </a:xfrm>
          <a:prstGeom prst="rect">
            <a:avLst/>
          </a:prstGeom>
          <a:noFill/>
          <a:ln w="0">
            <a:noFill/>
          </a:ln>
        </p:spPr>
        <p:txBody>
          <a:bodyPr lIns="0" tIns="0" rIns="0" bIns="0" anchor="t">
            <a:noAutofit/>
          </a:bodyPr>
          <a:lstStyle>
            <a:defPPr algn="l">
              <a:defRPr sz="2850" b="0">
                <a:solidFill>
                  <a:srgbClr val="142D4E"/>
                </a:solidFill>
                <a:latin typeface="Helvetica Neue"/>
                <a:ea typeface="Helvetica Neue"/>
                <a:cs typeface="Helvetica Neue"/>
              </a:defRPr>
            </a:defPPr>
            <a:lvl1pPr algn="l">
              <a:defRPr sz="2850" b="0">
                <a:solidFill>
                  <a:srgbClr val="142D4E"/>
                </a:solidFill>
                <a:latin typeface="Helvetica Neue"/>
                <a:ea typeface="Helvetica Neue"/>
                <a:cs typeface="Helvetica Neue"/>
              </a:defRPr>
            </a:lvl1pPr>
            <a:lvl2pPr algn="l">
              <a:defRPr sz="2850" b="0">
                <a:solidFill>
                  <a:srgbClr val="142D4E"/>
                </a:solidFill>
                <a:latin typeface="Helvetica Neue"/>
                <a:ea typeface="Helvetica Neue"/>
                <a:cs typeface="Helvetica Neue"/>
              </a:defRPr>
            </a:lvl2pPr>
            <a:lvl3pPr algn="l">
              <a:defRPr sz="2850" b="0">
                <a:solidFill>
                  <a:srgbClr val="142D4E"/>
                </a:solidFill>
                <a:latin typeface="Helvetica Neue"/>
                <a:ea typeface="Helvetica Neue"/>
                <a:cs typeface="Helvetica Neue"/>
              </a:defRPr>
            </a:lvl3pPr>
            <a:lvl4pPr algn="l">
              <a:defRPr sz="2850" b="0">
                <a:solidFill>
                  <a:srgbClr val="142D4E"/>
                </a:solidFill>
                <a:latin typeface="Helvetica Neue"/>
                <a:ea typeface="Helvetica Neue"/>
                <a:cs typeface="Helvetica Neue"/>
              </a:defRPr>
            </a:lvl4pPr>
            <a:lvl5pPr algn="l">
              <a:defRPr sz="2850" b="0">
                <a:solidFill>
                  <a:srgbClr val="142D4E"/>
                </a:solidFill>
                <a:latin typeface="Helvetica Neue"/>
                <a:ea typeface="Helvetica Neue"/>
                <a:cs typeface="Helvetica Neue"/>
              </a:defRPr>
            </a:lvl5pPr>
            <a:lvl6pPr algn="l">
              <a:defRPr sz="2850" b="0">
                <a:solidFill>
                  <a:srgbClr val="142D4E"/>
                </a:solidFill>
                <a:latin typeface="Helvetica Neue"/>
                <a:ea typeface="Helvetica Neue"/>
                <a:cs typeface="Helvetica Neue"/>
              </a:defRPr>
            </a:lvl6pPr>
            <a:lvl7pPr algn="l">
              <a:defRPr sz="2850" b="0">
                <a:solidFill>
                  <a:srgbClr val="142D4E"/>
                </a:solidFill>
                <a:latin typeface="Helvetica Neue"/>
                <a:ea typeface="Helvetica Neue"/>
                <a:cs typeface="Helvetica Neue"/>
              </a:defRPr>
            </a:lvl7pPr>
            <a:lvl8pPr algn="l">
              <a:defRPr sz="2850" b="0">
                <a:solidFill>
                  <a:srgbClr val="142D4E"/>
                </a:solidFill>
                <a:latin typeface="Helvetica Neue"/>
                <a:ea typeface="Helvetica Neue"/>
                <a:cs typeface="Helvetica Neue"/>
              </a:defRPr>
            </a:lvl8pPr>
            <a:lvl9pPr algn="l">
              <a:defRPr sz="2850" b="0">
                <a:solidFill>
                  <a:srgbClr val="142D4E"/>
                </a:solidFill>
                <a:latin typeface="Helvetica Neue"/>
                <a:ea typeface="Helvetica Neue"/>
                <a:cs typeface="Helvetica Neue"/>
              </a:defRPr>
            </a:lvl9pPr>
          </a:lstStyle>
          <a:p>
            <a:pPr algn="l">
              <a:defRPr sz="2850" b="0">
                <a:solidFill>
                  <a:srgbClr val="142D4E"/>
                </a:solidFill>
                <a:latin typeface="Helvetica Neue"/>
                <a:ea typeface="Helvetica Neue"/>
                <a:cs typeface="Helvetica Neue"/>
              </a:defRPr>
            </a:pPr>
            <a:r>
              <a:rPr sz="2850" b="0">
                <a:solidFill>
                  <a:srgbClr val="142D4E"/>
                </a:solidFill>
                <a:latin typeface="Helvetica Neue"/>
                <a:ea typeface="Helvetica Neue"/>
                <a:cs typeface="Helvetica Neue"/>
              </a:rPr>
              <a:t>1.0895</a:t>
            </a:r>
          </a:p>
        </p:txBody>
      </p:sp>
      <p:sp>
        <p:nvSpPr>
          <p:cNvPr id="8" name="Rectangle 7">
            <a:extLst>
              <a:ext uri="{FF2B5EF4-FFF2-40B4-BE49-F238E27FC236}">
                <a16:creationId xmlns:a16="http://schemas.microsoft.com/office/drawing/2014/main" id="{C18DB5B3-73A7-4EA2-BB32-0E26929C3C2B}"/>
              </a:ext>
            </a:extLst>
          </p:cNvPr>
          <p:cNvSpPr>
            <a:spLocks noGrp="1"/>
          </p:cNvSpPr>
          <p:nvPr/>
        </p:nvSpPr>
        <p:spPr>
          <a:xfrm>
            <a:off x="9144000" y="3952875"/>
            <a:ext cx="2381250" cy="333375"/>
          </a:xfrm>
          <a:prstGeom prst="rect">
            <a:avLst/>
          </a:prstGeom>
          <a:noFill/>
          <a:ln w="0">
            <a:noFill/>
          </a:ln>
        </p:spPr>
        <p:txBody>
          <a:bodyPr lIns="0" tIns="0" rIns="0" bIns="0" anchor="t">
            <a:noAutofit/>
          </a:bodyPr>
          <a:lstStyle>
            <a:defPPr algn="l">
              <a:defRPr sz="1725" b="0">
                <a:solidFill>
                  <a:srgbClr val="53657B"/>
                </a:solidFill>
                <a:latin typeface="Helvetica Neue"/>
                <a:ea typeface="Helvetica Neue"/>
                <a:cs typeface="Helvetica Neue"/>
              </a:defRPr>
            </a:defPPr>
            <a:lvl1pPr algn="l">
              <a:defRPr sz="1725" b="0">
                <a:solidFill>
                  <a:srgbClr val="53657B"/>
                </a:solidFill>
                <a:latin typeface="Helvetica Neue"/>
                <a:ea typeface="Helvetica Neue"/>
                <a:cs typeface="Helvetica Neue"/>
              </a:defRPr>
            </a:lvl1pPr>
            <a:lvl2pPr algn="l">
              <a:defRPr sz="1725" b="0">
                <a:solidFill>
                  <a:srgbClr val="53657B"/>
                </a:solidFill>
                <a:latin typeface="Helvetica Neue"/>
                <a:ea typeface="Helvetica Neue"/>
                <a:cs typeface="Helvetica Neue"/>
              </a:defRPr>
            </a:lvl2pPr>
            <a:lvl3pPr algn="l">
              <a:defRPr sz="1725" b="0">
                <a:solidFill>
                  <a:srgbClr val="53657B"/>
                </a:solidFill>
                <a:latin typeface="Helvetica Neue"/>
                <a:ea typeface="Helvetica Neue"/>
                <a:cs typeface="Helvetica Neue"/>
              </a:defRPr>
            </a:lvl3pPr>
            <a:lvl4pPr algn="l">
              <a:defRPr sz="1725" b="0">
                <a:solidFill>
                  <a:srgbClr val="53657B"/>
                </a:solidFill>
                <a:latin typeface="Helvetica Neue"/>
                <a:ea typeface="Helvetica Neue"/>
                <a:cs typeface="Helvetica Neue"/>
              </a:defRPr>
            </a:lvl4pPr>
            <a:lvl5pPr algn="l">
              <a:defRPr sz="1725" b="0">
                <a:solidFill>
                  <a:srgbClr val="53657B"/>
                </a:solidFill>
                <a:latin typeface="Helvetica Neue"/>
                <a:ea typeface="Helvetica Neue"/>
                <a:cs typeface="Helvetica Neue"/>
              </a:defRPr>
            </a:lvl5pPr>
            <a:lvl6pPr algn="l">
              <a:defRPr sz="1725" b="0">
                <a:solidFill>
                  <a:srgbClr val="53657B"/>
                </a:solidFill>
                <a:latin typeface="Helvetica Neue"/>
                <a:ea typeface="Helvetica Neue"/>
                <a:cs typeface="Helvetica Neue"/>
              </a:defRPr>
            </a:lvl6pPr>
            <a:lvl7pPr algn="l">
              <a:defRPr sz="1725" b="0">
                <a:solidFill>
                  <a:srgbClr val="53657B"/>
                </a:solidFill>
                <a:latin typeface="Helvetica Neue"/>
                <a:ea typeface="Helvetica Neue"/>
                <a:cs typeface="Helvetica Neue"/>
              </a:defRPr>
            </a:lvl7pPr>
            <a:lvl8pPr algn="l">
              <a:defRPr sz="1725" b="0">
                <a:solidFill>
                  <a:srgbClr val="53657B"/>
                </a:solidFill>
                <a:latin typeface="Helvetica Neue"/>
                <a:ea typeface="Helvetica Neue"/>
                <a:cs typeface="Helvetica Neue"/>
              </a:defRPr>
            </a:lvl8pPr>
            <a:lvl9pPr algn="l">
              <a:defRPr sz="1725" b="0">
                <a:solidFill>
                  <a:srgbClr val="53657B"/>
                </a:solidFill>
                <a:latin typeface="Helvetica Neue"/>
                <a:ea typeface="Helvetica Neue"/>
                <a:cs typeface="Helvetica Neue"/>
              </a:defRPr>
            </a:lvl9pPr>
          </a:lstStyle>
          <a:p>
            <a:pPr algn="l">
              <a:defRPr sz="1725" b="0">
                <a:solidFill>
                  <a:srgbClr val="53657B"/>
                </a:solidFill>
                <a:latin typeface="Helvetica Neue"/>
                <a:ea typeface="Helvetica Neue"/>
                <a:cs typeface="Helvetica Neue"/>
              </a:defRPr>
            </a:pPr>
            <a:r>
              <a:rPr sz="1725" b="0">
                <a:solidFill>
                  <a:srgbClr val="53657B"/>
                </a:solidFill>
                <a:latin typeface="Helvetica Neue"/>
                <a:ea typeface="Helvetica Neue"/>
                <a:cs typeface="Helvetica Neue"/>
              </a:rPr>
              <a:t>first epoch</a:t>
            </a:r>
          </a:p>
        </p:txBody>
      </p:sp>
      <p:sp>
        <p:nvSpPr>
          <p:cNvPr id="9" name="Rectangle 8">
            <a:extLst>
              <a:ext uri="{FF2B5EF4-FFF2-40B4-BE49-F238E27FC236}">
                <a16:creationId xmlns:a16="http://schemas.microsoft.com/office/drawing/2014/main" id="{522007A1-2688-4435-8217-172E1710CEDA}"/>
              </a:ext>
            </a:extLst>
          </p:cNvPr>
          <p:cNvSpPr>
            <a:spLocks noGrp="1"/>
          </p:cNvSpPr>
          <p:nvPr/>
        </p:nvSpPr>
        <p:spPr>
          <a:xfrm>
            <a:off x="9144000" y="4572000"/>
            <a:ext cx="2381250" cy="523875"/>
          </a:xfrm>
          <a:prstGeom prst="rect">
            <a:avLst/>
          </a:prstGeom>
          <a:noFill/>
          <a:ln w="0">
            <a:noFill/>
          </a:ln>
        </p:spPr>
        <p:txBody>
          <a:bodyPr lIns="0" tIns="0" rIns="0" bIns="0" anchor="t">
            <a:noAutofit/>
          </a:bodyPr>
          <a:lstStyle>
            <a:defPPr algn="l">
              <a:defRPr sz="2850" b="1">
                <a:solidFill>
                  <a:srgbClr val="007F82"/>
                </a:solidFill>
                <a:latin typeface="Helvetica Neue"/>
                <a:ea typeface="Helvetica Neue"/>
                <a:cs typeface="Helvetica Neue"/>
              </a:defRPr>
            </a:defPPr>
            <a:lvl1pPr algn="l">
              <a:defRPr sz="2850" b="1">
                <a:solidFill>
                  <a:srgbClr val="007F82"/>
                </a:solidFill>
                <a:latin typeface="Helvetica Neue"/>
                <a:ea typeface="Helvetica Neue"/>
                <a:cs typeface="Helvetica Neue"/>
              </a:defRPr>
            </a:lvl1pPr>
            <a:lvl2pPr algn="l">
              <a:defRPr sz="2850" b="1">
                <a:solidFill>
                  <a:srgbClr val="007F82"/>
                </a:solidFill>
                <a:latin typeface="Helvetica Neue"/>
                <a:ea typeface="Helvetica Neue"/>
                <a:cs typeface="Helvetica Neue"/>
              </a:defRPr>
            </a:lvl2pPr>
            <a:lvl3pPr algn="l">
              <a:defRPr sz="2850" b="1">
                <a:solidFill>
                  <a:srgbClr val="007F82"/>
                </a:solidFill>
                <a:latin typeface="Helvetica Neue"/>
                <a:ea typeface="Helvetica Neue"/>
                <a:cs typeface="Helvetica Neue"/>
              </a:defRPr>
            </a:lvl3pPr>
            <a:lvl4pPr algn="l">
              <a:defRPr sz="2850" b="1">
                <a:solidFill>
                  <a:srgbClr val="007F82"/>
                </a:solidFill>
                <a:latin typeface="Helvetica Neue"/>
                <a:ea typeface="Helvetica Neue"/>
                <a:cs typeface="Helvetica Neue"/>
              </a:defRPr>
            </a:lvl4pPr>
            <a:lvl5pPr algn="l">
              <a:defRPr sz="2850" b="1">
                <a:solidFill>
                  <a:srgbClr val="007F82"/>
                </a:solidFill>
                <a:latin typeface="Helvetica Neue"/>
                <a:ea typeface="Helvetica Neue"/>
                <a:cs typeface="Helvetica Neue"/>
              </a:defRPr>
            </a:lvl5pPr>
            <a:lvl6pPr algn="l">
              <a:defRPr sz="2850" b="1">
                <a:solidFill>
                  <a:srgbClr val="007F82"/>
                </a:solidFill>
                <a:latin typeface="Helvetica Neue"/>
                <a:ea typeface="Helvetica Neue"/>
                <a:cs typeface="Helvetica Neue"/>
              </a:defRPr>
            </a:lvl6pPr>
            <a:lvl7pPr algn="l">
              <a:defRPr sz="2850" b="1">
                <a:solidFill>
                  <a:srgbClr val="007F82"/>
                </a:solidFill>
                <a:latin typeface="Helvetica Neue"/>
                <a:ea typeface="Helvetica Neue"/>
                <a:cs typeface="Helvetica Neue"/>
              </a:defRPr>
            </a:lvl7pPr>
            <a:lvl8pPr algn="l">
              <a:defRPr sz="2850" b="1">
                <a:solidFill>
                  <a:srgbClr val="007F82"/>
                </a:solidFill>
                <a:latin typeface="Helvetica Neue"/>
                <a:ea typeface="Helvetica Neue"/>
                <a:cs typeface="Helvetica Neue"/>
              </a:defRPr>
            </a:lvl8pPr>
            <a:lvl9pPr algn="l">
              <a:defRPr sz="2850" b="1">
                <a:solidFill>
                  <a:srgbClr val="007F82"/>
                </a:solidFill>
                <a:latin typeface="Helvetica Neue"/>
                <a:ea typeface="Helvetica Neue"/>
                <a:cs typeface="Helvetica Neue"/>
              </a:defRPr>
            </a:lvl9pPr>
          </a:lstStyle>
          <a:p>
            <a:pPr algn="l">
              <a:defRPr sz="2850" b="1">
                <a:solidFill>
                  <a:srgbClr val="007F82"/>
                </a:solidFill>
                <a:latin typeface="Helvetica Neue"/>
                <a:ea typeface="Helvetica Neue"/>
                <a:cs typeface="Helvetica Neue"/>
              </a:defRPr>
            </a:pPr>
            <a:r>
              <a:rPr sz="2850" b="1">
                <a:solidFill>
                  <a:srgbClr val="007F82"/>
                </a:solidFill>
                <a:latin typeface="Helvetica Neue"/>
                <a:ea typeface="Helvetica Neue"/>
                <a:cs typeface="Helvetica Neue"/>
              </a:rPr>
              <a:t>0.0969</a:t>
            </a:r>
          </a:p>
        </p:txBody>
      </p:sp>
      <p:sp>
        <p:nvSpPr>
          <p:cNvPr id="10" name="Rectangle 9">
            <a:extLst>
              <a:ext uri="{FF2B5EF4-FFF2-40B4-BE49-F238E27FC236}">
                <a16:creationId xmlns:a16="http://schemas.microsoft.com/office/drawing/2014/main" id="{53DD59DB-FE6A-42E0-93C7-2D05039E731B}"/>
              </a:ext>
            </a:extLst>
          </p:cNvPr>
          <p:cNvSpPr>
            <a:spLocks noGrp="1"/>
          </p:cNvSpPr>
          <p:nvPr/>
        </p:nvSpPr>
        <p:spPr>
          <a:xfrm>
            <a:off x="9144000" y="5095875"/>
            <a:ext cx="2381250" cy="333375"/>
          </a:xfrm>
          <a:prstGeom prst="rect">
            <a:avLst/>
          </a:prstGeom>
          <a:noFill/>
          <a:ln w="0">
            <a:noFill/>
          </a:ln>
        </p:spPr>
        <p:txBody>
          <a:bodyPr lIns="0" tIns="0" rIns="0" bIns="0" anchor="t">
            <a:noAutofit/>
          </a:bodyPr>
          <a:lstStyle>
            <a:defPPr algn="l">
              <a:defRPr sz="1725" b="0">
                <a:solidFill>
                  <a:srgbClr val="53657B"/>
                </a:solidFill>
                <a:latin typeface="Helvetica Neue"/>
                <a:ea typeface="Helvetica Neue"/>
                <a:cs typeface="Helvetica Neue"/>
              </a:defRPr>
            </a:defPPr>
            <a:lvl1pPr algn="l">
              <a:defRPr sz="1725" b="0">
                <a:solidFill>
                  <a:srgbClr val="53657B"/>
                </a:solidFill>
                <a:latin typeface="Helvetica Neue"/>
                <a:ea typeface="Helvetica Neue"/>
                <a:cs typeface="Helvetica Neue"/>
              </a:defRPr>
            </a:lvl1pPr>
            <a:lvl2pPr algn="l">
              <a:defRPr sz="1725" b="0">
                <a:solidFill>
                  <a:srgbClr val="53657B"/>
                </a:solidFill>
                <a:latin typeface="Helvetica Neue"/>
                <a:ea typeface="Helvetica Neue"/>
                <a:cs typeface="Helvetica Neue"/>
              </a:defRPr>
            </a:lvl2pPr>
            <a:lvl3pPr algn="l">
              <a:defRPr sz="1725" b="0">
                <a:solidFill>
                  <a:srgbClr val="53657B"/>
                </a:solidFill>
                <a:latin typeface="Helvetica Neue"/>
                <a:ea typeface="Helvetica Neue"/>
                <a:cs typeface="Helvetica Neue"/>
              </a:defRPr>
            </a:lvl3pPr>
            <a:lvl4pPr algn="l">
              <a:defRPr sz="1725" b="0">
                <a:solidFill>
                  <a:srgbClr val="53657B"/>
                </a:solidFill>
                <a:latin typeface="Helvetica Neue"/>
                <a:ea typeface="Helvetica Neue"/>
                <a:cs typeface="Helvetica Neue"/>
              </a:defRPr>
            </a:lvl4pPr>
            <a:lvl5pPr algn="l">
              <a:defRPr sz="1725" b="0">
                <a:solidFill>
                  <a:srgbClr val="53657B"/>
                </a:solidFill>
                <a:latin typeface="Helvetica Neue"/>
                <a:ea typeface="Helvetica Neue"/>
                <a:cs typeface="Helvetica Neue"/>
              </a:defRPr>
            </a:lvl5pPr>
            <a:lvl6pPr algn="l">
              <a:defRPr sz="1725" b="0">
                <a:solidFill>
                  <a:srgbClr val="53657B"/>
                </a:solidFill>
                <a:latin typeface="Helvetica Neue"/>
                <a:ea typeface="Helvetica Neue"/>
                <a:cs typeface="Helvetica Neue"/>
              </a:defRPr>
            </a:lvl6pPr>
            <a:lvl7pPr algn="l">
              <a:defRPr sz="1725" b="0">
                <a:solidFill>
                  <a:srgbClr val="53657B"/>
                </a:solidFill>
                <a:latin typeface="Helvetica Neue"/>
                <a:ea typeface="Helvetica Neue"/>
                <a:cs typeface="Helvetica Neue"/>
              </a:defRPr>
            </a:lvl7pPr>
            <a:lvl8pPr algn="l">
              <a:defRPr sz="1725" b="0">
                <a:solidFill>
                  <a:srgbClr val="53657B"/>
                </a:solidFill>
                <a:latin typeface="Helvetica Neue"/>
                <a:ea typeface="Helvetica Neue"/>
                <a:cs typeface="Helvetica Neue"/>
              </a:defRPr>
            </a:lvl8pPr>
            <a:lvl9pPr algn="l">
              <a:defRPr sz="1725" b="0">
                <a:solidFill>
                  <a:srgbClr val="53657B"/>
                </a:solidFill>
                <a:latin typeface="Helvetica Neue"/>
                <a:ea typeface="Helvetica Neue"/>
                <a:cs typeface="Helvetica Neue"/>
              </a:defRPr>
            </a:lvl9pPr>
          </a:lstStyle>
          <a:p>
            <a:pPr algn="l">
              <a:defRPr sz="1725" b="0">
                <a:solidFill>
                  <a:srgbClr val="53657B"/>
                </a:solidFill>
                <a:latin typeface="Helvetica Neue"/>
                <a:ea typeface="Helvetica Neue"/>
                <a:cs typeface="Helvetica Neue"/>
              </a:defRPr>
            </a:pPr>
            <a:r>
              <a:rPr sz="1725" b="0">
                <a:solidFill>
                  <a:srgbClr val="53657B"/>
                </a:solidFill>
                <a:latin typeface="Helvetica Neue"/>
                <a:ea typeface="Helvetica Neue"/>
                <a:cs typeface="Helvetica Neue"/>
              </a:rPr>
              <a:t>final epoch</a:t>
            </a:r>
          </a:p>
        </p:txBody>
      </p:sp>
      <p:sp>
        <p:nvSpPr>
          <p:cNvPr id="11" name="Rectangle 10">
            <a:extLst>
              <a:ext uri="{FF2B5EF4-FFF2-40B4-BE49-F238E27FC236}">
                <a16:creationId xmlns:a16="http://schemas.microsoft.com/office/drawing/2014/main" id="{08AD3E29-743F-4A0E-AC57-86C0DB7F58D7}"/>
              </a:ext>
            </a:extLst>
          </p:cNvPr>
          <p:cNvSpPr>
            <a:spLocks noGrp="1"/>
          </p:cNvSpPr>
          <p:nvPr/>
        </p:nvSpPr>
        <p:spPr>
          <a:xfrm>
            <a:off x="666750" y="5791200"/>
            <a:ext cx="10668000" cy="476250"/>
          </a:xfrm>
          <a:prstGeom prst="rect">
            <a:avLst/>
          </a:prstGeom>
          <a:noFill/>
          <a:ln w="0">
            <a:noFill/>
          </a:ln>
        </p:spPr>
        <p:txBody>
          <a:bodyPr lIns="0" tIns="0" rIns="0" bIns="0" anchor="t">
            <a:noAutofit/>
          </a:bodyPr>
          <a:lstStyle>
            <a:defPPr algn="l">
              <a:defRPr sz="1875" b="1">
                <a:solidFill>
                  <a:srgbClr val="007F82"/>
                </a:solidFill>
                <a:latin typeface="Helvetica Neue"/>
                <a:ea typeface="Helvetica Neue"/>
                <a:cs typeface="Helvetica Neue"/>
              </a:defRPr>
            </a:defPPr>
            <a:lvl1pPr algn="l">
              <a:defRPr sz="1875" b="1">
                <a:solidFill>
                  <a:srgbClr val="007F82"/>
                </a:solidFill>
                <a:latin typeface="Helvetica Neue"/>
                <a:ea typeface="Helvetica Neue"/>
                <a:cs typeface="Helvetica Neue"/>
              </a:defRPr>
            </a:lvl1pPr>
            <a:lvl2pPr algn="l">
              <a:defRPr sz="1875" b="1">
                <a:solidFill>
                  <a:srgbClr val="007F82"/>
                </a:solidFill>
                <a:latin typeface="Helvetica Neue"/>
                <a:ea typeface="Helvetica Neue"/>
                <a:cs typeface="Helvetica Neue"/>
              </a:defRPr>
            </a:lvl2pPr>
            <a:lvl3pPr algn="l">
              <a:defRPr sz="1875" b="1">
                <a:solidFill>
                  <a:srgbClr val="007F82"/>
                </a:solidFill>
                <a:latin typeface="Helvetica Neue"/>
                <a:ea typeface="Helvetica Neue"/>
                <a:cs typeface="Helvetica Neue"/>
              </a:defRPr>
            </a:lvl3pPr>
            <a:lvl4pPr algn="l">
              <a:defRPr sz="1875" b="1">
                <a:solidFill>
                  <a:srgbClr val="007F82"/>
                </a:solidFill>
                <a:latin typeface="Helvetica Neue"/>
                <a:ea typeface="Helvetica Neue"/>
                <a:cs typeface="Helvetica Neue"/>
              </a:defRPr>
            </a:lvl4pPr>
            <a:lvl5pPr algn="l">
              <a:defRPr sz="1875" b="1">
                <a:solidFill>
                  <a:srgbClr val="007F82"/>
                </a:solidFill>
                <a:latin typeface="Helvetica Neue"/>
                <a:ea typeface="Helvetica Neue"/>
                <a:cs typeface="Helvetica Neue"/>
              </a:defRPr>
            </a:lvl5pPr>
            <a:lvl6pPr algn="l">
              <a:defRPr sz="1875" b="1">
                <a:solidFill>
                  <a:srgbClr val="007F82"/>
                </a:solidFill>
                <a:latin typeface="Helvetica Neue"/>
                <a:ea typeface="Helvetica Neue"/>
                <a:cs typeface="Helvetica Neue"/>
              </a:defRPr>
            </a:lvl6pPr>
            <a:lvl7pPr algn="l">
              <a:defRPr sz="1875" b="1">
                <a:solidFill>
                  <a:srgbClr val="007F82"/>
                </a:solidFill>
                <a:latin typeface="Helvetica Neue"/>
                <a:ea typeface="Helvetica Neue"/>
                <a:cs typeface="Helvetica Neue"/>
              </a:defRPr>
            </a:lvl7pPr>
            <a:lvl8pPr algn="l">
              <a:defRPr sz="1875" b="1">
                <a:solidFill>
                  <a:srgbClr val="007F82"/>
                </a:solidFill>
                <a:latin typeface="Helvetica Neue"/>
                <a:ea typeface="Helvetica Neue"/>
                <a:cs typeface="Helvetica Neue"/>
              </a:defRPr>
            </a:lvl8pPr>
            <a:lvl9pPr algn="l">
              <a:defRPr sz="1875" b="1">
                <a:solidFill>
                  <a:srgbClr val="007F82"/>
                </a:solidFill>
                <a:latin typeface="Helvetica Neue"/>
                <a:ea typeface="Helvetica Neue"/>
                <a:cs typeface="Helvetica Neue"/>
              </a:defRPr>
            </a:lvl9pPr>
          </a:lstStyle>
          <a:p>
            <a:pPr algn="l">
              <a:defRPr sz="1875" b="1">
                <a:solidFill>
                  <a:srgbClr val="007F82"/>
                </a:solidFill>
                <a:latin typeface="Helvetica Neue"/>
                <a:ea typeface="Helvetica Neue"/>
                <a:cs typeface="Helvetica Neue"/>
              </a:defRPr>
            </a:pPr>
            <a:r>
              <a:rPr sz="1875" b="1">
                <a:solidFill>
                  <a:srgbClr val="007F82"/>
                </a:solidFill>
                <a:latin typeface="Helvetica Neue"/>
                <a:ea typeface="Helvetica Neue"/>
                <a:cs typeface="Helvetica Neue"/>
              </a:rPr>
              <a:t>A strong debugging signal. Generalization and visual fidelity remain separate tests</a:t>
            </a:r>
          </a:p>
        </p:txBody>
      </p:sp>
    </p:spTree>
    <p:extLst>
      <p:ext uri="{BB962C8B-B14F-4D97-AF65-F5344CB8AC3E}">
        <p14:creationId xmlns:p14="http://schemas.microsoft.com/office/powerpoint/2010/main" val="1448136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6257EFD-74B0-4669-A554-FC05490B391C}"/>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The main run reduced noise-prediction loss</a:t>
            </a:r>
          </a:p>
        </p:txBody>
      </p:sp>
      <p:sp>
        <p:nvSpPr>
          <p:cNvPr id="2" name="Rectangle 1">
            <a:extLst>
              <a:ext uri="{FF2B5EF4-FFF2-40B4-BE49-F238E27FC236}">
                <a16:creationId xmlns:a16="http://schemas.microsoft.com/office/drawing/2014/main" id="{8BF705B7-4E6E-46A1-8A27-78644FCA34EB}"/>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16</a:t>
            </a:r>
          </a:p>
        </p:txBody>
      </p:sp>
      <p:graphicFrame>
        <p:nvGraphicFramePr>
          <p:cNvPr id="4" name="Chart">
            <a:extLst>
              <a:ext uri="{FF2B5EF4-FFF2-40B4-BE49-F238E27FC236}">
                <a16:creationId xmlns:a16="http://schemas.microsoft.com/office/drawing/2014/main" id="{E5DF2D80-51E6-4E32-B028-10AFC16130FC}"/>
              </a:ext>
            </a:extLst>
          </p:cNvPr>
          <p:cNvGraphicFramePr/>
          <p:nvPr/>
        </p:nvGraphicFramePr>
        <p:xfrm>
          <a:off x="666750" y="1571625"/>
          <a:ext cx="80962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3F10E9DA-1AF7-4576-8447-9D903F0BB1CF}"/>
              </a:ext>
            </a:extLst>
          </p:cNvPr>
          <p:cNvSpPr>
            <a:spLocks noGrp="1"/>
          </p:cNvSpPr>
          <p:nvPr/>
        </p:nvSpPr>
        <p:spPr>
          <a:xfrm>
            <a:off x="9144000" y="1762125"/>
            <a:ext cx="2381250" cy="523875"/>
          </a:xfrm>
          <a:prstGeom prst="rect">
            <a:avLst/>
          </a:prstGeom>
          <a:noFill/>
          <a:ln w="0">
            <a:noFill/>
          </a:ln>
        </p:spPr>
        <p:txBody>
          <a:bodyPr lIns="0" tIns="0" rIns="0" bIns="0" anchor="t">
            <a:noAutofit/>
          </a:bodyPr>
          <a:lstStyle>
            <a:defPPr algn="l">
              <a:defRPr sz="2700" b="1">
                <a:solidFill>
                  <a:srgbClr val="007F82"/>
                </a:solidFill>
                <a:latin typeface="Helvetica Neue"/>
                <a:ea typeface="Helvetica Neue"/>
                <a:cs typeface="Helvetica Neue"/>
              </a:defRPr>
            </a:defPPr>
            <a:lvl1pPr algn="l">
              <a:defRPr sz="2700" b="1">
                <a:solidFill>
                  <a:srgbClr val="007F82"/>
                </a:solidFill>
                <a:latin typeface="Helvetica Neue"/>
                <a:ea typeface="Helvetica Neue"/>
                <a:cs typeface="Helvetica Neue"/>
              </a:defRPr>
            </a:lvl1pPr>
            <a:lvl2pPr algn="l">
              <a:defRPr sz="2700" b="1">
                <a:solidFill>
                  <a:srgbClr val="007F82"/>
                </a:solidFill>
                <a:latin typeface="Helvetica Neue"/>
                <a:ea typeface="Helvetica Neue"/>
                <a:cs typeface="Helvetica Neue"/>
              </a:defRPr>
            </a:lvl2pPr>
            <a:lvl3pPr algn="l">
              <a:defRPr sz="2700" b="1">
                <a:solidFill>
                  <a:srgbClr val="007F82"/>
                </a:solidFill>
                <a:latin typeface="Helvetica Neue"/>
                <a:ea typeface="Helvetica Neue"/>
                <a:cs typeface="Helvetica Neue"/>
              </a:defRPr>
            </a:lvl3pPr>
            <a:lvl4pPr algn="l">
              <a:defRPr sz="2700" b="1">
                <a:solidFill>
                  <a:srgbClr val="007F82"/>
                </a:solidFill>
                <a:latin typeface="Helvetica Neue"/>
                <a:ea typeface="Helvetica Neue"/>
                <a:cs typeface="Helvetica Neue"/>
              </a:defRPr>
            </a:lvl4pPr>
            <a:lvl5pPr algn="l">
              <a:defRPr sz="2700" b="1">
                <a:solidFill>
                  <a:srgbClr val="007F82"/>
                </a:solidFill>
                <a:latin typeface="Helvetica Neue"/>
                <a:ea typeface="Helvetica Neue"/>
                <a:cs typeface="Helvetica Neue"/>
              </a:defRPr>
            </a:lvl5pPr>
            <a:lvl6pPr algn="l">
              <a:defRPr sz="2700" b="1">
                <a:solidFill>
                  <a:srgbClr val="007F82"/>
                </a:solidFill>
                <a:latin typeface="Helvetica Neue"/>
                <a:ea typeface="Helvetica Neue"/>
                <a:cs typeface="Helvetica Neue"/>
              </a:defRPr>
            </a:lvl6pPr>
            <a:lvl7pPr algn="l">
              <a:defRPr sz="2700" b="1">
                <a:solidFill>
                  <a:srgbClr val="007F82"/>
                </a:solidFill>
                <a:latin typeface="Helvetica Neue"/>
                <a:ea typeface="Helvetica Neue"/>
                <a:cs typeface="Helvetica Neue"/>
              </a:defRPr>
            </a:lvl7pPr>
            <a:lvl8pPr algn="l">
              <a:defRPr sz="2700" b="1">
                <a:solidFill>
                  <a:srgbClr val="007F82"/>
                </a:solidFill>
                <a:latin typeface="Helvetica Neue"/>
                <a:ea typeface="Helvetica Neue"/>
                <a:cs typeface="Helvetica Neue"/>
              </a:defRPr>
            </a:lvl8pPr>
            <a:lvl9pPr algn="l">
              <a:defRPr sz="2700" b="1">
                <a:solidFill>
                  <a:srgbClr val="007F82"/>
                </a:solidFill>
                <a:latin typeface="Helvetica Neue"/>
                <a:ea typeface="Helvetica Neue"/>
                <a:cs typeface="Helvetica Neue"/>
              </a:defRPr>
            </a:lvl9pPr>
          </a:lstStyle>
          <a:p>
            <a:pPr algn="l">
              <a:defRPr sz="2700" b="1">
                <a:solidFill>
                  <a:srgbClr val="007F82"/>
                </a:solidFill>
                <a:latin typeface="Helvetica Neue"/>
                <a:ea typeface="Helvetica Neue"/>
                <a:cs typeface="Helvetica Neue"/>
              </a:defRPr>
            </a:pPr>
            <a:r>
              <a:rPr sz="2700" b="1">
                <a:solidFill>
                  <a:srgbClr val="007F82"/>
                </a:solidFill>
                <a:latin typeface="Helvetica Neue"/>
                <a:ea typeface="Helvetica Neue"/>
                <a:cs typeface="Helvetica Neue"/>
              </a:rPr>
              <a:t>18 epochs</a:t>
            </a:r>
          </a:p>
        </p:txBody>
      </p:sp>
      <p:sp>
        <p:nvSpPr>
          <p:cNvPr id="6" name="Rectangle 5">
            <a:extLst>
              <a:ext uri="{FF2B5EF4-FFF2-40B4-BE49-F238E27FC236}">
                <a16:creationId xmlns:a16="http://schemas.microsoft.com/office/drawing/2014/main" id="{78E633EE-DFFA-4675-BCC7-F76A909A2840}"/>
              </a:ext>
            </a:extLst>
          </p:cNvPr>
          <p:cNvSpPr>
            <a:spLocks noGrp="1"/>
          </p:cNvSpPr>
          <p:nvPr/>
        </p:nvSpPr>
        <p:spPr>
          <a:xfrm>
            <a:off x="9144000" y="2762250"/>
            <a:ext cx="2381250" cy="523875"/>
          </a:xfrm>
          <a:prstGeom prst="rect">
            <a:avLst/>
          </a:prstGeom>
          <a:noFill/>
          <a:ln w="0">
            <a:noFill/>
          </a:ln>
        </p:spPr>
        <p:txBody>
          <a:bodyPr lIns="0" tIns="0" rIns="0" bIns="0" anchor="t">
            <a:noAutofit/>
          </a:bodyPr>
          <a:lstStyle>
            <a:defPPr algn="l">
              <a:defRPr sz="2850" b="0">
                <a:solidFill>
                  <a:srgbClr val="142D4E"/>
                </a:solidFill>
                <a:latin typeface="Helvetica Neue"/>
                <a:ea typeface="Helvetica Neue"/>
                <a:cs typeface="Helvetica Neue"/>
              </a:defRPr>
            </a:defPPr>
            <a:lvl1pPr algn="l">
              <a:defRPr sz="2850" b="0">
                <a:solidFill>
                  <a:srgbClr val="142D4E"/>
                </a:solidFill>
                <a:latin typeface="Helvetica Neue"/>
                <a:ea typeface="Helvetica Neue"/>
                <a:cs typeface="Helvetica Neue"/>
              </a:defRPr>
            </a:lvl1pPr>
            <a:lvl2pPr algn="l">
              <a:defRPr sz="2850" b="0">
                <a:solidFill>
                  <a:srgbClr val="142D4E"/>
                </a:solidFill>
                <a:latin typeface="Helvetica Neue"/>
                <a:ea typeface="Helvetica Neue"/>
                <a:cs typeface="Helvetica Neue"/>
              </a:defRPr>
            </a:lvl2pPr>
            <a:lvl3pPr algn="l">
              <a:defRPr sz="2850" b="0">
                <a:solidFill>
                  <a:srgbClr val="142D4E"/>
                </a:solidFill>
                <a:latin typeface="Helvetica Neue"/>
                <a:ea typeface="Helvetica Neue"/>
                <a:cs typeface="Helvetica Neue"/>
              </a:defRPr>
            </a:lvl3pPr>
            <a:lvl4pPr algn="l">
              <a:defRPr sz="2850" b="0">
                <a:solidFill>
                  <a:srgbClr val="142D4E"/>
                </a:solidFill>
                <a:latin typeface="Helvetica Neue"/>
                <a:ea typeface="Helvetica Neue"/>
                <a:cs typeface="Helvetica Neue"/>
              </a:defRPr>
            </a:lvl4pPr>
            <a:lvl5pPr algn="l">
              <a:defRPr sz="2850" b="0">
                <a:solidFill>
                  <a:srgbClr val="142D4E"/>
                </a:solidFill>
                <a:latin typeface="Helvetica Neue"/>
                <a:ea typeface="Helvetica Neue"/>
                <a:cs typeface="Helvetica Neue"/>
              </a:defRPr>
            </a:lvl5pPr>
            <a:lvl6pPr algn="l">
              <a:defRPr sz="2850" b="0">
                <a:solidFill>
                  <a:srgbClr val="142D4E"/>
                </a:solidFill>
                <a:latin typeface="Helvetica Neue"/>
                <a:ea typeface="Helvetica Neue"/>
                <a:cs typeface="Helvetica Neue"/>
              </a:defRPr>
            </a:lvl6pPr>
            <a:lvl7pPr algn="l">
              <a:defRPr sz="2850" b="0">
                <a:solidFill>
                  <a:srgbClr val="142D4E"/>
                </a:solidFill>
                <a:latin typeface="Helvetica Neue"/>
                <a:ea typeface="Helvetica Neue"/>
                <a:cs typeface="Helvetica Neue"/>
              </a:defRPr>
            </a:lvl7pPr>
            <a:lvl8pPr algn="l">
              <a:defRPr sz="2850" b="0">
                <a:solidFill>
                  <a:srgbClr val="142D4E"/>
                </a:solidFill>
                <a:latin typeface="Helvetica Neue"/>
                <a:ea typeface="Helvetica Neue"/>
                <a:cs typeface="Helvetica Neue"/>
              </a:defRPr>
            </a:lvl8pPr>
            <a:lvl9pPr algn="l">
              <a:defRPr sz="2850" b="0">
                <a:solidFill>
                  <a:srgbClr val="142D4E"/>
                </a:solidFill>
                <a:latin typeface="Helvetica Neue"/>
                <a:ea typeface="Helvetica Neue"/>
                <a:cs typeface="Helvetica Neue"/>
              </a:defRPr>
            </a:lvl9pPr>
          </a:lstStyle>
          <a:p>
            <a:pPr algn="l">
              <a:defRPr sz="2850" b="0">
                <a:solidFill>
                  <a:srgbClr val="142D4E"/>
                </a:solidFill>
                <a:latin typeface="Helvetica Neue"/>
                <a:ea typeface="Helvetica Neue"/>
                <a:cs typeface="Helvetica Neue"/>
              </a:defRPr>
            </a:pPr>
            <a:r>
              <a:rPr sz="2850" b="0">
                <a:solidFill>
                  <a:srgbClr val="142D4E"/>
                </a:solidFill>
                <a:latin typeface="Helvetica Neue"/>
                <a:ea typeface="Helvetica Neue"/>
                <a:cs typeface="Helvetica Neue"/>
              </a:rPr>
              <a:t>0.3554</a:t>
            </a:r>
          </a:p>
        </p:txBody>
      </p:sp>
      <p:sp>
        <p:nvSpPr>
          <p:cNvPr id="7" name="Rectangle 6">
            <a:extLst>
              <a:ext uri="{FF2B5EF4-FFF2-40B4-BE49-F238E27FC236}">
                <a16:creationId xmlns:a16="http://schemas.microsoft.com/office/drawing/2014/main" id="{8457DC8E-803A-4384-8278-389D46359319}"/>
              </a:ext>
            </a:extLst>
          </p:cNvPr>
          <p:cNvSpPr>
            <a:spLocks noGrp="1"/>
          </p:cNvSpPr>
          <p:nvPr/>
        </p:nvSpPr>
        <p:spPr>
          <a:xfrm>
            <a:off x="9144000" y="3314700"/>
            <a:ext cx="2381250" cy="333375"/>
          </a:xfrm>
          <a:prstGeom prst="rect">
            <a:avLst/>
          </a:prstGeom>
          <a:noFill/>
          <a:ln w="0">
            <a:noFill/>
          </a:ln>
        </p:spPr>
        <p:txBody>
          <a:bodyPr lIns="0" tIns="0" rIns="0" bIns="0" anchor="t">
            <a:noAutofit/>
          </a:bodyPr>
          <a:lstStyle>
            <a:defPPr algn="l">
              <a:defRPr sz="1725" b="0">
                <a:solidFill>
                  <a:srgbClr val="53657B"/>
                </a:solidFill>
                <a:latin typeface="Helvetica Neue"/>
                <a:ea typeface="Helvetica Neue"/>
                <a:cs typeface="Helvetica Neue"/>
              </a:defRPr>
            </a:defPPr>
            <a:lvl1pPr algn="l">
              <a:defRPr sz="1725" b="0">
                <a:solidFill>
                  <a:srgbClr val="53657B"/>
                </a:solidFill>
                <a:latin typeface="Helvetica Neue"/>
                <a:ea typeface="Helvetica Neue"/>
                <a:cs typeface="Helvetica Neue"/>
              </a:defRPr>
            </a:lvl1pPr>
            <a:lvl2pPr algn="l">
              <a:defRPr sz="1725" b="0">
                <a:solidFill>
                  <a:srgbClr val="53657B"/>
                </a:solidFill>
                <a:latin typeface="Helvetica Neue"/>
                <a:ea typeface="Helvetica Neue"/>
                <a:cs typeface="Helvetica Neue"/>
              </a:defRPr>
            </a:lvl2pPr>
            <a:lvl3pPr algn="l">
              <a:defRPr sz="1725" b="0">
                <a:solidFill>
                  <a:srgbClr val="53657B"/>
                </a:solidFill>
                <a:latin typeface="Helvetica Neue"/>
                <a:ea typeface="Helvetica Neue"/>
                <a:cs typeface="Helvetica Neue"/>
              </a:defRPr>
            </a:lvl3pPr>
            <a:lvl4pPr algn="l">
              <a:defRPr sz="1725" b="0">
                <a:solidFill>
                  <a:srgbClr val="53657B"/>
                </a:solidFill>
                <a:latin typeface="Helvetica Neue"/>
                <a:ea typeface="Helvetica Neue"/>
                <a:cs typeface="Helvetica Neue"/>
              </a:defRPr>
            </a:lvl4pPr>
            <a:lvl5pPr algn="l">
              <a:defRPr sz="1725" b="0">
                <a:solidFill>
                  <a:srgbClr val="53657B"/>
                </a:solidFill>
                <a:latin typeface="Helvetica Neue"/>
                <a:ea typeface="Helvetica Neue"/>
                <a:cs typeface="Helvetica Neue"/>
              </a:defRPr>
            </a:lvl5pPr>
            <a:lvl6pPr algn="l">
              <a:defRPr sz="1725" b="0">
                <a:solidFill>
                  <a:srgbClr val="53657B"/>
                </a:solidFill>
                <a:latin typeface="Helvetica Neue"/>
                <a:ea typeface="Helvetica Neue"/>
                <a:cs typeface="Helvetica Neue"/>
              </a:defRPr>
            </a:lvl6pPr>
            <a:lvl7pPr algn="l">
              <a:defRPr sz="1725" b="0">
                <a:solidFill>
                  <a:srgbClr val="53657B"/>
                </a:solidFill>
                <a:latin typeface="Helvetica Neue"/>
                <a:ea typeface="Helvetica Neue"/>
                <a:cs typeface="Helvetica Neue"/>
              </a:defRPr>
            </a:lvl7pPr>
            <a:lvl8pPr algn="l">
              <a:defRPr sz="1725" b="0">
                <a:solidFill>
                  <a:srgbClr val="53657B"/>
                </a:solidFill>
                <a:latin typeface="Helvetica Neue"/>
                <a:ea typeface="Helvetica Neue"/>
                <a:cs typeface="Helvetica Neue"/>
              </a:defRPr>
            </a:lvl8pPr>
            <a:lvl9pPr algn="l">
              <a:defRPr sz="1725" b="0">
                <a:solidFill>
                  <a:srgbClr val="53657B"/>
                </a:solidFill>
                <a:latin typeface="Helvetica Neue"/>
                <a:ea typeface="Helvetica Neue"/>
                <a:cs typeface="Helvetica Neue"/>
              </a:defRPr>
            </a:lvl9pPr>
          </a:lstStyle>
          <a:p>
            <a:pPr algn="l">
              <a:defRPr sz="1725" b="0">
                <a:solidFill>
                  <a:srgbClr val="53657B"/>
                </a:solidFill>
                <a:latin typeface="Helvetica Neue"/>
                <a:ea typeface="Helvetica Neue"/>
                <a:cs typeface="Helvetica Neue"/>
              </a:defRPr>
            </a:pPr>
            <a:r>
              <a:rPr sz="1725" b="0">
                <a:solidFill>
                  <a:srgbClr val="53657B"/>
                </a:solidFill>
                <a:latin typeface="Helvetica Neue"/>
                <a:ea typeface="Helvetica Neue"/>
                <a:cs typeface="Helvetica Neue"/>
              </a:rPr>
              <a:t>first epoch</a:t>
            </a:r>
          </a:p>
        </p:txBody>
      </p:sp>
      <p:sp>
        <p:nvSpPr>
          <p:cNvPr id="8" name="Rectangle 7">
            <a:extLst>
              <a:ext uri="{FF2B5EF4-FFF2-40B4-BE49-F238E27FC236}">
                <a16:creationId xmlns:a16="http://schemas.microsoft.com/office/drawing/2014/main" id="{352AA480-DB16-4C7A-8693-ED4FB9B052DE}"/>
              </a:ext>
            </a:extLst>
          </p:cNvPr>
          <p:cNvSpPr>
            <a:spLocks noGrp="1"/>
          </p:cNvSpPr>
          <p:nvPr/>
        </p:nvSpPr>
        <p:spPr>
          <a:xfrm>
            <a:off x="9144000" y="4048125"/>
            <a:ext cx="2381250" cy="523875"/>
          </a:xfrm>
          <a:prstGeom prst="rect">
            <a:avLst/>
          </a:prstGeom>
          <a:noFill/>
          <a:ln w="0">
            <a:noFill/>
          </a:ln>
        </p:spPr>
        <p:txBody>
          <a:bodyPr lIns="0" tIns="0" rIns="0" bIns="0" anchor="t">
            <a:noAutofit/>
          </a:bodyPr>
          <a:lstStyle>
            <a:defPPr algn="l">
              <a:defRPr sz="2850" b="1">
                <a:solidFill>
                  <a:srgbClr val="007F82"/>
                </a:solidFill>
                <a:latin typeface="Helvetica Neue"/>
                <a:ea typeface="Helvetica Neue"/>
                <a:cs typeface="Helvetica Neue"/>
              </a:defRPr>
            </a:defPPr>
            <a:lvl1pPr algn="l">
              <a:defRPr sz="2850" b="1">
                <a:solidFill>
                  <a:srgbClr val="007F82"/>
                </a:solidFill>
                <a:latin typeface="Helvetica Neue"/>
                <a:ea typeface="Helvetica Neue"/>
                <a:cs typeface="Helvetica Neue"/>
              </a:defRPr>
            </a:lvl1pPr>
            <a:lvl2pPr algn="l">
              <a:defRPr sz="2850" b="1">
                <a:solidFill>
                  <a:srgbClr val="007F82"/>
                </a:solidFill>
                <a:latin typeface="Helvetica Neue"/>
                <a:ea typeface="Helvetica Neue"/>
                <a:cs typeface="Helvetica Neue"/>
              </a:defRPr>
            </a:lvl2pPr>
            <a:lvl3pPr algn="l">
              <a:defRPr sz="2850" b="1">
                <a:solidFill>
                  <a:srgbClr val="007F82"/>
                </a:solidFill>
                <a:latin typeface="Helvetica Neue"/>
                <a:ea typeface="Helvetica Neue"/>
                <a:cs typeface="Helvetica Neue"/>
              </a:defRPr>
            </a:lvl3pPr>
            <a:lvl4pPr algn="l">
              <a:defRPr sz="2850" b="1">
                <a:solidFill>
                  <a:srgbClr val="007F82"/>
                </a:solidFill>
                <a:latin typeface="Helvetica Neue"/>
                <a:ea typeface="Helvetica Neue"/>
                <a:cs typeface="Helvetica Neue"/>
              </a:defRPr>
            </a:lvl4pPr>
            <a:lvl5pPr algn="l">
              <a:defRPr sz="2850" b="1">
                <a:solidFill>
                  <a:srgbClr val="007F82"/>
                </a:solidFill>
                <a:latin typeface="Helvetica Neue"/>
                <a:ea typeface="Helvetica Neue"/>
                <a:cs typeface="Helvetica Neue"/>
              </a:defRPr>
            </a:lvl5pPr>
            <a:lvl6pPr algn="l">
              <a:defRPr sz="2850" b="1">
                <a:solidFill>
                  <a:srgbClr val="007F82"/>
                </a:solidFill>
                <a:latin typeface="Helvetica Neue"/>
                <a:ea typeface="Helvetica Neue"/>
                <a:cs typeface="Helvetica Neue"/>
              </a:defRPr>
            </a:lvl6pPr>
            <a:lvl7pPr algn="l">
              <a:defRPr sz="2850" b="1">
                <a:solidFill>
                  <a:srgbClr val="007F82"/>
                </a:solidFill>
                <a:latin typeface="Helvetica Neue"/>
                <a:ea typeface="Helvetica Neue"/>
                <a:cs typeface="Helvetica Neue"/>
              </a:defRPr>
            </a:lvl7pPr>
            <a:lvl8pPr algn="l">
              <a:defRPr sz="2850" b="1">
                <a:solidFill>
                  <a:srgbClr val="007F82"/>
                </a:solidFill>
                <a:latin typeface="Helvetica Neue"/>
                <a:ea typeface="Helvetica Neue"/>
                <a:cs typeface="Helvetica Neue"/>
              </a:defRPr>
            </a:lvl8pPr>
            <a:lvl9pPr algn="l">
              <a:defRPr sz="2850" b="1">
                <a:solidFill>
                  <a:srgbClr val="007F82"/>
                </a:solidFill>
                <a:latin typeface="Helvetica Neue"/>
                <a:ea typeface="Helvetica Neue"/>
                <a:cs typeface="Helvetica Neue"/>
              </a:defRPr>
            </a:lvl9pPr>
          </a:lstStyle>
          <a:p>
            <a:pPr algn="l">
              <a:defRPr sz="2850" b="1">
                <a:solidFill>
                  <a:srgbClr val="007F82"/>
                </a:solidFill>
                <a:latin typeface="Helvetica Neue"/>
                <a:ea typeface="Helvetica Neue"/>
                <a:cs typeface="Helvetica Neue"/>
              </a:defRPr>
            </a:pPr>
            <a:r>
              <a:rPr sz="2850" b="1">
                <a:solidFill>
                  <a:srgbClr val="007F82"/>
                </a:solidFill>
                <a:latin typeface="Helvetica Neue"/>
                <a:ea typeface="Helvetica Neue"/>
                <a:cs typeface="Helvetica Neue"/>
              </a:rPr>
              <a:t>0.0636</a:t>
            </a:r>
          </a:p>
        </p:txBody>
      </p:sp>
      <p:sp>
        <p:nvSpPr>
          <p:cNvPr id="9" name="Rectangle 8">
            <a:extLst>
              <a:ext uri="{FF2B5EF4-FFF2-40B4-BE49-F238E27FC236}">
                <a16:creationId xmlns:a16="http://schemas.microsoft.com/office/drawing/2014/main" id="{D3B2EBE3-F927-4228-B956-83F3A815FE40}"/>
              </a:ext>
            </a:extLst>
          </p:cNvPr>
          <p:cNvSpPr>
            <a:spLocks noGrp="1"/>
          </p:cNvSpPr>
          <p:nvPr/>
        </p:nvSpPr>
        <p:spPr>
          <a:xfrm>
            <a:off x="9144000" y="4619625"/>
            <a:ext cx="2381250" cy="333375"/>
          </a:xfrm>
          <a:prstGeom prst="rect">
            <a:avLst/>
          </a:prstGeom>
          <a:noFill/>
          <a:ln w="0">
            <a:noFill/>
          </a:ln>
        </p:spPr>
        <p:txBody>
          <a:bodyPr lIns="0" tIns="0" rIns="0" bIns="0" anchor="t">
            <a:noAutofit/>
          </a:bodyPr>
          <a:lstStyle>
            <a:defPPr algn="l">
              <a:defRPr sz="1725" b="0">
                <a:solidFill>
                  <a:srgbClr val="53657B"/>
                </a:solidFill>
                <a:latin typeface="Helvetica Neue"/>
                <a:ea typeface="Helvetica Neue"/>
                <a:cs typeface="Helvetica Neue"/>
              </a:defRPr>
            </a:defPPr>
            <a:lvl1pPr algn="l">
              <a:defRPr sz="1725" b="0">
                <a:solidFill>
                  <a:srgbClr val="53657B"/>
                </a:solidFill>
                <a:latin typeface="Helvetica Neue"/>
                <a:ea typeface="Helvetica Neue"/>
                <a:cs typeface="Helvetica Neue"/>
              </a:defRPr>
            </a:lvl1pPr>
            <a:lvl2pPr algn="l">
              <a:defRPr sz="1725" b="0">
                <a:solidFill>
                  <a:srgbClr val="53657B"/>
                </a:solidFill>
                <a:latin typeface="Helvetica Neue"/>
                <a:ea typeface="Helvetica Neue"/>
                <a:cs typeface="Helvetica Neue"/>
              </a:defRPr>
            </a:lvl2pPr>
            <a:lvl3pPr algn="l">
              <a:defRPr sz="1725" b="0">
                <a:solidFill>
                  <a:srgbClr val="53657B"/>
                </a:solidFill>
                <a:latin typeface="Helvetica Neue"/>
                <a:ea typeface="Helvetica Neue"/>
                <a:cs typeface="Helvetica Neue"/>
              </a:defRPr>
            </a:lvl3pPr>
            <a:lvl4pPr algn="l">
              <a:defRPr sz="1725" b="0">
                <a:solidFill>
                  <a:srgbClr val="53657B"/>
                </a:solidFill>
                <a:latin typeface="Helvetica Neue"/>
                <a:ea typeface="Helvetica Neue"/>
                <a:cs typeface="Helvetica Neue"/>
              </a:defRPr>
            </a:lvl4pPr>
            <a:lvl5pPr algn="l">
              <a:defRPr sz="1725" b="0">
                <a:solidFill>
                  <a:srgbClr val="53657B"/>
                </a:solidFill>
                <a:latin typeface="Helvetica Neue"/>
                <a:ea typeface="Helvetica Neue"/>
                <a:cs typeface="Helvetica Neue"/>
              </a:defRPr>
            </a:lvl5pPr>
            <a:lvl6pPr algn="l">
              <a:defRPr sz="1725" b="0">
                <a:solidFill>
                  <a:srgbClr val="53657B"/>
                </a:solidFill>
                <a:latin typeface="Helvetica Neue"/>
                <a:ea typeface="Helvetica Neue"/>
                <a:cs typeface="Helvetica Neue"/>
              </a:defRPr>
            </a:lvl6pPr>
            <a:lvl7pPr algn="l">
              <a:defRPr sz="1725" b="0">
                <a:solidFill>
                  <a:srgbClr val="53657B"/>
                </a:solidFill>
                <a:latin typeface="Helvetica Neue"/>
                <a:ea typeface="Helvetica Neue"/>
                <a:cs typeface="Helvetica Neue"/>
              </a:defRPr>
            </a:lvl7pPr>
            <a:lvl8pPr algn="l">
              <a:defRPr sz="1725" b="0">
                <a:solidFill>
                  <a:srgbClr val="53657B"/>
                </a:solidFill>
                <a:latin typeface="Helvetica Neue"/>
                <a:ea typeface="Helvetica Neue"/>
                <a:cs typeface="Helvetica Neue"/>
              </a:defRPr>
            </a:lvl8pPr>
            <a:lvl9pPr algn="l">
              <a:defRPr sz="1725" b="0">
                <a:solidFill>
                  <a:srgbClr val="53657B"/>
                </a:solidFill>
                <a:latin typeface="Helvetica Neue"/>
                <a:ea typeface="Helvetica Neue"/>
                <a:cs typeface="Helvetica Neue"/>
              </a:defRPr>
            </a:lvl9pPr>
          </a:lstStyle>
          <a:p>
            <a:pPr algn="l">
              <a:defRPr sz="1725" b="0">
                <a:solidFill>
                  <a:srgbClr val="53657B"/>
                </a:solidFill>
                <a:latin typeface="Helvetica Neue"/>
                <a:ea typeface="Helvetica Neue"/>
                <a:cs typeface="Helvetica Neue"/>
              </a:defRPr>
            </a:pPr>
            <a:r>
              <a:rPr sz="1725" b="0">
                <a:solidFill>
                  <a:srgbClr val="53657B"/>
                </a:solidFill>
                <a:latin typeface="Helvetica Neue"/>
                <a:ea typeface="Helvetica Neue"/>
                <a:cs typeface="Helvetica Neue"/>
              </a:rPr>
              <a:t>final epoch</a:t>
            </a:r>
          </a:p>
        </p:txBody>
      </p:sp>
      <p:sp>
        <p:nvSpPr>
          <p:cNvPr id="10" name="Rectangle 9">
            <a:extLst>
              <a:ext uri="{FF2B5EF4-FFF2-40B4-BE49-F238E27FC236}">
                <a16:creationId xmlns:a16="http://schemas.microsoft.com/office/drawing/2014/main" id="{5025696E-C898-4478-9472-9A31B8DB714F}"/>
              </a:ext>
            </a:extLst>
          </p:cNvPr>
          <p:cNvSpPr>
            <a:spLocks noGrp="1"/>
          </p:cNvSpPr>
          <p:nvPr/>
        </p:nvSpPr>
        <p:spPr>
          <a:xfrm>
            <a:off x="666750" y="5791200"/>
            <a:ext cx="10668000" cy="476250"/>
          </a:xfrm>
          <a:prstGeom prst="rect">
            <a:avLst/>
          </a:prstGeom>
          <a:noFill/>
          <a:ln w="0">
            <a:noFill/>
          </a:ln>
        </p:spPr>
        <p:txBody>
          <a:bodyPr lIns="0" tIns="0" rIns="0" bIns="0" anchor="t">
            <a:noAutofit/>
          </a:bodyPr>
          <a:lstStyle>
            <a:defPPr algn="l">
              <a:defRPr sz="1875" b="1">
                <a:solidFill>
                  <a:srgbClr val="007F82"/>
                </a:solidFill>
                <a:latin typeface="Helvetica Neue"/>
                <a:ea typeface="Helvetica Neue"/>
                <a:cs typeface="Helvetica Neue"/>
              </a:defRPr>
            </a:defPPr>
            <a:lvl1pPr algn="l">
              <a:defRPr sz="1875" b="1">
                <a:solidFill>
                  <a:srgbClr val="007F82"/>
                </a:solidFill>
                <a:latin typeface="Helvetica Neue"/>
                <a:ea typeface="Helvetica Neue"/>
                <a:cs typeface="Helvetica Neue"/>
              </a:defRPr>
            </a:lvl1pPr>
            <a:lvl2pPr algn="l">
              <a:defRPr sz="1875" b="1">
                <a:solidFill>
                  <a:srgbClr val="007F82"/>
                </a:solidFill>
                <a:latin typeface="Helvetica Neue"/>
                <a:ea typeface="Helvetica Neue"/>
                <a:cs typeface="Helvetica Neue"/>
              </a:defRPr>
            </a:lvl2pPr>
            <a:lvl3pPr algn="l">
              <a:defRPr sz="1875" b="1">
                <a:solidFill>
                  <a:srgbClr val="007F82"/>
                </a:solidFill>
                <a:latin typeface="Helvetica Neue"/>
                <a:ea typeface="Helvetica Neue"/>
                <a:cs typeface="Helvetica Neue"/>
              </a:defRPr>
            </a:lvl3pPr>
            <a:lvl4pPr algn="l">
              <a:defRPr sz="1875" b="1">
                <a:solidFill>
                  <a:srgbClr val="007F82"/>
                </a:solidFill>
                <a:latin typeface="Helvetica Neue"/>
                <a:ea typeface="Helvetica Neue"/>
                <a:cs typeface="Helvetica Neue"/>
              </a:defRPr>
            </a:lvl4pPr>
            <a:lvl5pPr algn="l">
              <a:defRPr sz="1875" b="1">
                <a:solidFill>
                  <a:srgbClr val="007F82"/>
                </a:solidFill>
                <a:latin typeface="Helvetica Neue"/>
                <a:ea typeface="Helvetica Neue"/>
                <a:cs typeface="Helvetica Neue"/>
              </a:defRPr>
            </a:lvl5pPr>
            <a:lvl6pPr algn="l">
              <a:defRPr sz="1875" b="1">
                <a:solidFill>
                  <a:srgbClr val="007F82"/>
                </a:solidFill>
                <a:latin typeface="Helvetica Neue"/>
                <a:ea typeface="Helvetica Neue"/>
                <a:cs typeface="Helvetica Neue"/>
              </a:defRPr>
            </a:lvl6pPr>
            <a:lvl7pPr algn="l">
              <a:defRPr sz="1875" b="1">
                <a:solidFill>
                  <a:srgbClr val="007F82"/>
                </a:solidFill>
                <a:latin typeface="Helvetica Neue"/>
                <a:ea typeface="Helvetica Neue"/>
                <a:cs typeface="Helvetica Neue"/>
              </a:defRPr>
            </a:lvl7pPr>
            <a:lvl8pPr algn="l">
              <a:defRPr sz="1875" b="1">
                <a:solidFill>
                  <a:srgbClr val="007F82"/>
                </a:solidFill>
                <a:latin typeface="Helvetica Neue"/>
                <a:ea typeface="Helvetica Neue"/>
                <a:cs typeface="Helvetica Neue"/>
              </a:defRPr>
            </a:lvl8pPr>
            <a:lvl9pPr algn="l">
              <a:defRPr sz="1875" b="1">
                <a:solidFill>
                  <a:srgbClr val="007F82"/>
                </a:solidFill>
                <a:latin typeface="Helvetica Neue"/>
                <a:ea typeface="Helvetica Neue"/>
                <a:cs typeface="Helvetica Neue"/>
              </a:defRPr>
            </a:lvl9pPr>
          </a:lstStyle>
          <a:p>
            <a:pPr algn="l">
              <a:defRPr sz="1875" b="1">
                <a:solidFill>
                  <a:srgbClr val="007F82"/>
                </a:solidFill>
                <a:latin typeface="Helvetica Neue"/>
                <a:ea typeface="Helvetica Neue"/>
                <a:cs typeface="Helvetica Neue"/>
              </a:defRPr>
            </a:pPr>
            <a:r>
              <a:rPr sz="1875" b="1">
                <a:solidFill>
                  <a:srgbClr val="007F82"/>
                </a:solidFill>
                <a:latin typeface="Helvetica Neue"/>
                <a:ea typeface="Helvetica Neue"/>
                <a:cs typeface="Helvetica Neue"/>
              </a:rPr>
              <a:t>Training MSE fell 82.1%. This does not measure generated-image fidelity</a:t>
            </a:r>
          </a:p>
        </p:txBody>
      </p:sp>
    </p:spTree>
    <p:extLst>
      <p:ext uri="{BB962C8B-B14F-4D97-AF65-F5344CB8AC3E}">
        <p14:creationId xmlns:p14="http://schemas.microsoft.com/office/powerpoint/2010/main" val="779421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CD8CAB2-2436-4933-AD6E-208ABC4A84C2}"/>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Saved samples still show substantial artifacts</a:t>
            </a:r>
          </a:p>
        </p:txBody>
      </p:sp>
      <p:sp>
        <p:nvSpPr>
          <p:cNvPr id="2" name="Rectangle 1">
            <a:extLst>
              <a:ext uri="{FF2B5EF4-FFF2-40B4-BE49-F238E27FC236}">
                <a16:creationId xmlns:a16="http://schemas.microsoft.com/office/drawing/2014/main" id="{B04C495B-318C-4C35-9849-FF0424362552}"/>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17</a:t>
            </a:r>
          </a:p>
        </p:txBody>
      </p:sp>
      <p:sp>
        <p:nvSpPr>
          <p:cNvPr id="4" name="Rectangle 3">
            <a:extLst>
              <a:ext uri="{FF2B5EF4-FFF2-40B4-BE49-F238E27FC236}">
                <a16:creationId xmlns:a16="http://schemas.microsoft.com/office/drawing/2014/main" id="{E38F2C71-7B26-46C7-BC70-BED49CBB1D8D}"/>
              </a:ext>
            </a:extLst>
          </p:cNvPr>
          <p:cNvSpPr>
            <a:spLocks noGrp="1"/>
          </p:cNvSpPr>
          <p:nvPr/>
        </p:nvSpPr>
        <p:spPr>
          <a:xfrm>
            <a:off x="904875" y="1381125"/>
            <a:ext cx="4476750" cy="428625"/>
          </a:xfrm>
          <a:prstGeom prst="rect">
            <a:avLst/>
          </a:prstGeom>
          <a:noFill/>
          <a:ln w="0">
            <a:noFill/>
          </a:ln>
        </p:spPr>
        <p:txBody>
          <a:bodyPr lIns="0" tIns="0" rIns="0" bIns="0" anchor="t">
            <a:noAutofit/>
          </a:bodyPr>
          <a:lstStyle>
            <a:defPPr algn="l">
              <a:defRPr sz="2250" b="1">
                <a:solidFill>
                  <a:srgbClr val="142D4E"/>
                </a:solidFill>
                <a:latin typeface="Helvetica Neue"/>
                <a:ea typeface="Helvetica Neue"/>
                <a:cs typeface="Helvetica Neue"/>
              </a:defRPr>
            </a:defPPr>
            <a:lvl1pPr algn="l">
              <a:defRPr sz="2250" b="1">
                <a:solidFill>
                  <a:srgbClr val="142D4E"/>
                </a:solidFill>
                <a:latin typeface="Helvetica Neue"/>
                <a:ea typeface="Helvetica Neue"/>
                <a:cs typeface="Helvetica Neue"/>
              </a:defRPr>
            </a:lvl1pPr>
            <a:lvl2pPr algn="l">
              <a:defRPr sz="2250" b="1">
                <a:solidFill>
                  <a:srgbClr val="142D4E"/>
                </a:solidFill>
                <a:latin typeface="Helvetica Neue"/>
                <a:ea typeface="Helvetica Neue"/>
                <a:cs typeface="Helvetica Neue"/>
              </a:defRPr>
            </a:lvl2pPr>
            <a:lvl3pPr algn="l">
              <a:defRPr sz="2250" b="1">
                <a:solidFill>
                  <a:srgbClr val="142D4E"/>
                </a:solidFill>
                <a:latin typeface="Helvetica Neue"/>
                <a:ea typeface="Helvetica Neue"/>
                <a:cs typeface="Helvetica Neue"/>
              </a:defRPr>
            </a:lvl3pPr>
            <a:lvl4pPr algn="l">
              <a:defRPr sz="2250" b="1">
                <a:solidFill>
                  <a:srgbClr val="142D4E"/>
                </a:solidFill>
                <a:latin typeface="Helvetica Neue"/>
                <a:ea typeface="Helvetica Neue"/>
                <a:cs typeface="Helvetica Neue"/>
              </a:defRPr>
            </a:lvl4pPr>
            <a:lvl5pPr algn="l">
              <a:defRPr sz="2250" b="1">
                <a:solidFill>
                  <a:srgbClr val="142D4E"/>
                </a:solidFill>
                <a:latin typeface="Helvetica Neue"/>
                <a:ea typeface="Helvetica Neue"/>
                <a:cs typeface="Helvetica Neue"/>
              </a:defRPr>
            </a:lvl5pPr>
            <a:lvl6pPr algn="l">
              <a:defRPr sz="2250" b="1">
                <a:solidFill>
                  <a:srgbClr val="142D4E"/>
                </a:solidFill>
                <a:latin typeface="Helvetica Neue"/>
                <a:ea typeface="Helvetica Neue"/>
                <a:cs typeface="Helvetica Neue"/>
              </a:defRPr>
            </a:lvl6pPr>
            <a:lvl7pPr algn="l">
              <a:defRPr sz="2250" b="1">
                <a:solidFill>
                  <a:srgbClr val="142D4E"/>
                </a:solidFill>
                <a:latin typeface="Helvetica Neue"/>
                <a:ea typeface="Helvetica Neue"/>
                <a:cs typeface="Helvetica Neue"/>
              </a:defRPr>
            </a:lvl7pPr>
            <a:lvl8pPr algn="l">
              <a:defRPr sz="2250" b="1">
                <a:solidFill>
                  <a:srgbClr val="142D4E"/>
                </a:solidFill>
                <a:latin typeface="Helvetica Neue"/>
                <a:ea typeface="Helvetica Neue"/>
                <a:cs typeface="Helvetica Neue"/>
              </a:defRPr>
            </a:lvl8pPr>
            <a:lvl9pPr algn="l">
              <a:defRPr sz="2250" b="1">
                <a:solidFill>
                  <a:srgbClr val="142D4E"/>
                </a:solidFill>
                <a:latin typeface="Helvetica Neue"/>
                <a:ea typeface="Helvetica Neue"/>
                <a:cs typeface="Helvetica Neue"/>
              </a:defRPr>
            </a:lvl9pPr>
          </a:lstStyle>
          <a:p>
            <a:pPr algn="l">
              <a:defRPr sz="2250" b="1">
                <a:solidFill>
                  <a:srgbClr val="142D4E"/>
                </a:solidFill>
                <a:latin typeface="Helvetica Neue"/>
                <a:ea typeface="Helvetica Neue"/>
                <a:cs typeface="Helvetica Neue"/>
              </a:defRPr>
            </a:pPr>
            <a:r>
              <a:rPr sz="2250" b="1">
                <a:solidFill>
                  <a:srgbClr val="142D4E"/>
                </a:solidFill>
                <a:latin typeface="Helvetica Neue"/>
                <a:ea typeface="Helvetica Neue"/>
                <a:cs typeface="Helvetica Neue"/>
              </a:rPr>
              <a:t>Epoch 5</a:t>
            </a:r>
          </a:p>
        </p:txBody>
      </p:sp>
      <p:sp>
        <p:nvSpPr>
          <p:cNvPr id="5" name="Rectangle 4">
            <a:extLst>
              <a:ext uri="{FF2B5EF4-FFF2-40B4-BE49-F238E27FC236}">
                <a16:creationId xmlns:a16="http://schemas.microsoft.com/office/drawing/2014/main" id="{97D4B93C-721B-45B6-B5C8-0537B7095B02}"/>
              </a:ext>
            </a:extLst>
          </p:cNvPr>
          <p:cNvSpPr>
            <a:spLocks noGrp="1"/>
          </p:cNvSpPr>
          <p:nvPr/>
        </p:nvSpPr>
        <p:spPr>
          <a:xfrm>
            <a:off x="6715125" y="1381125"/>
            <a:ext cx="4476750" cy="428625"/>
          </a:xfrm>
          <a:prstGeom prst="rect">
            <a:avLst/>
          </a:prstGeom>
          <a:noFill/>
          <a:ln w="0">
            <a:noFill/>
          </a:ln>
        </p:spPr>
        <p:txBody>
          <a:bodyPr lIns="0" tIns="0" rIns="0" bIns="0" anchor="t">
            <a:noAutofit/>
          </a:bodyPr>
          <a:lstStyle>
            <a:defPPr algn="l">
              <a:defRPr sz="2250" b="1">
                <a:solidFill>
                  <a:srgbClr val="142D4E"/>
                </a:solidFill>
                <a:latin typeface="Helvetica Neue"/>
                <a:ea typeface="Helvetica Neue"/>
                <a:cs typeface="Helvetica Neue"/>
              </a:defRPr>
            </a:defPPr>
            <a:lvl1pPr algn="l">
              <a:defRPr sz="2250" b="1">
                <a:solidFill>
                  <a:srgbClr val="142D4E"/>
                </a:solidFill>
                <a:latin typeface="Helvetica Neue"/>
                <a:ea typeface="Helvetica Neue"/>
                <a:cs typeface="Helvetica Neue"/>
              </a:defRPr>
            </a:lvl1pPr>
            <a:lvl2pPr algn="l">
              <a:defRPr sz="2250" b="1">
                <a:solidFill>
                  <a:srgbClr val="142D4E"/>
                </a:solidFill>
                <a:latin typeface="Helvetica Neue"/>
                <a:ea typeface="Helvetica Neue"/>
                <a:cs typeface="Helvetica Neue"/>
              </a:defRPr>
            </a:lvl2pPr>
            <a:lvl3pPr algn="l">
              <a:defRPr sz="2250" b="1">
                <a:solidFill>
                  <a:srgbClr val="142D4E"/>
                </a:solidFill>
                <a:latin typeface="Helvetica Neue"/>
                <a:ea typeface="Helvetica Neue"/>
                <a:cs typeface="Helvetica Neue"/>
              </a:defRPr>
            </a:lvl3pPr>
            <a:lvl4pPr algn="l">
              <a:defRPr sz="2250" b="1">
                <a:solidFill>
                  <a:srgbClr val="142D4E"/>
                </a:solidFill>
                <a:latin typeface="Helvetica Neue"/>
                <a:ea typeface="Helvetica Neue"/>
                <a:cs typeface="Helvetica Neue"/>
              </a:defRPr>
            </a:lvl4pPr>
            <a:lvl5pPr algn="l">
              <a:defRPr sz="2250" b="1">
                <a:solidFill>
                  <a:srgbClr val="142D4E"/>
                </a:solidFill>
                <a:latin typeface="Helvetica Neue"/>
                <a:ea typeface="Helvetica Neue"/>
                <a:cs typeface="Helvetica Neue"/>
              </a:defRPr>
            </a:lvl5pPr>
            <a:lvl6pPr algn="l">
              <a:defRPr sz="2250" b="1">
                <a:solidFill>
                  <a:srgbClr val="142D4E"/>
                </a:solidFill>
                <a:latin typeface="Helvetica Neue"/>
                <a:ea typeface="Helvetica Neue"/>
                <a:cs typeface="Helvetica Neue"/>
              </a:defRPr>
            </a:lvl6pPr>
            <a:lvl7pPr algn="l">
              <a:defRPr sz="2250" b="1">
                <a:solidFill>
                  <a:srgbClr val="142D4E"/>
                </a:solidFill>
                <a:latin typeface="Helvetica Neue"/>
                <a:ea typeface="Helvetica Neue"/>
                <a:cs typeface="Helvetica Neue"/>
              </a:defRPr>
            </a:lvl7pPr>
            <a:lvl8pPr algn="l">
              <a:defRPr sz="2250" b="1">
                <a:solidFill>
                  <a:srgbClr val="142D4E"/>
                </a:solidFill>
                <a:latin typeface="Helvetica Neue"/>
                <a:ea typeface="Helvetica Neue"/>
                <a:cs typeface="Helvetica Neue"/>
              </a:defRPr>
            </a:lvl8pPr>
            <a:lvl9pPr algn="l">
              <a:defRPr sz="2250" b="1">
                <a:solidFill>
                  <a:srgbClr val="142D4E"/>
                </a:solidFill>
                <a:latin typeface="Helvetica Neue"/>
                <a:ea typeface="Helvetica Neue"/>
                <a:cs typeface="Helvetica Neue"/>
              </a:defRPr>
            </a:lvl9pPr>
          </a:lstStyle>
          <a:p>
            <a:pPr algn="l">
              <a:defRPr sz="2250" b="1">
                <a:solidFill>
                  <a:srgbClr val="142D4E"/>
                </a:solidFill>
                <a:latin typeface="Helvetica Neue"/>
                <a:ea typeface="Helvetica Neue"/>
                <a:cs typeface="Helvetica Neue"/>
              </a:defRPr>
            </a:pPr>
            <a:r>
              <a:rPr sz="2250" b="1">
                <a:solidFill>
                  <a:srgbClr val="142D4E"/>
                </a:solidFill>
                <a:latin typeface="Helvetica Neue"/>
                <a:ea typeface="Helvetica Neue"/>
                <a:cs typeface="Helvetica Neue"/>
              </a:rPr>
              <a:t>Epoch 18</a:t>
            </a:r>
          </a:p>
        </p:txBody>
      </p:sp>
      <p:pic>
        <p:nvPicPr>
          <p:cNvPr id="6" name="Picture 5">
            <a:extLst>
              <a:ext uri="{FF2B5EF4-FFF2-40B4-BE49-F238E27FC236}">
                <a16:creationId xmlns:a16="http://schemas.microsoft.com/office/drawing/2014/main" id="{79D08A50-C055-4497-BE8A-48BBEE26EAAA}"/>
              </a:ext>
            </a:extLst>
          </p:cNvPr>
          <p:cNvPicPr>
            <a:picLocks noChangeAspect="1"/>
          </p:cNvPicPr>
          <p:nvPr/>
        </p:nvPicPr>
        <p:blipFill>
          <a:blip r:embed="rId3"/>
          <a:stretch/>
        </p:blipFill>
        <p:spPr>
          <a:xfrm>
            <a:off x="1047750" y="1905000"/>
            <a:ext cx="3619500" cy="3619500"/>
          </a:xfrm>
          <a:prstGeom prst="rect">
            <a:avLst/>
          </a:prstGeom>
        </p:spPr>
      </p:pic>
      <p:pic>
        <p:nvPicPr>
          <p:cNvPr id="7" name="Picture 6">
            <a:extLst>
              <a:ext uri="{FF2B5EF4-FFF2-40B4-BE49-F238E27FC236}">
                <a16:creationId xmlns:a16="http://schemas.microsoft.com/office/drawing/2014/main" id="{BACA11EE-F121-4D3C-82D6-0CCC18649E65}"/>
              </a:ext>
            </a:extLst>
          </p:cNvPr>
          <p:cNvPicPr>
            <a:picLocks noChangeAspect="1"/>
          </p:cNvPicPr>
          <p:nvPr/>
        </p:nvPicPr>
        <p:blipFill>
          <a:blip r:embed="rId4"/>
          <a:stretch/>
        </p:blipFill>
        <p:spPr>
          <a:xfrm>
            <a:off x="6858000" y="1905000"/>
            <a:ext cx="3619500" cy="3619500"/>
          </a:xfrm>
          <a:prstGeom prst="rect">
            <a:avLst/>
          </a:prstGeom>
        </p:spPr>
      </p:pic>
      <p:sp>
        <p:nvSpPr>
          <p:cNvPr id="8" name="Rectangle 7">
            <a:extLst>
              <a:ext uri="{FF2B5EF4-FFF2-40B4-BE49-F238E27FC236}">
                <a16:creationId xmlns:a16="http://schemas.microsoft.com/office/drawing/2014/main" id="{434817D9-94D4-4908-A97B-B7ABE0C9FC36}"/>
              </a:ext>
            </a:extLst>
          </p:cNvPr>
          <p:cNvSpPr>
            <a:spLocks noGrp="1"/>
          </p:cNvSpPr>
          <p:nvPr/>
        </p:nvSpPr>
        <p:spPr>
          <a:xfrm>
            <a:off x="666750" y="5791200"/>
            <a:ext cx="10668000" cy="476250"/>
          </a:xfrm>
          <a:prstGeom prst="rect">
            <a:avLst/>
          </a:prstGeom>
          <a:noFill/>
          <a:ln w="0">
            <a:noFill/>
          </a:ln>
        </p:spPr>
        <p:txBody>
          <a:bodyPr lIns="0" tIns="0" rIns="0" bIns="0" anchor="t">
            <a:noAutofit/>
          </a:bodyPr>
          <a:lstStyle>
            <a:defPPr algn="l">
              <a:defRPr sz="1875" b="1">
                <a:solidFill>
                  <a:srgbClr val="007F82"/>
                </a:solidFill>
                <a:latin typeface="Helvetica Neue"/>
                <a:ea typeface="Helvetica Neue"/>
                <a:cs typeface="Helvetica Neue"/>
              </a:defRPr>
            </a:defPPr>
            <a:lvl1pPr algn="l">
              <a:defRPr sz="1875" b="1">
                <a:solidFill>
                  <a:srgbClr val="007F82"/>
                </a:solidFill>
                <a:latin typeface="Helvetica Neue"/>
                <a:ea typeface="Helvetica Neue"/>
                <a:cs typeface="Helvetica Neue"/>
              </a:defRPr>
            </a:lvl1pPr>
            <a:lvl2pPr algn="l">
              <a:defRPr sz="1875" b="1">
                <a:solidFill>
                  <a:srgbClr val="007F82"/>
                </a:solidFill>
                <a:latin typeface="Helvetica Neue"/>
                <a:ea typeface="Helvetica Neue"/>
                <a:cs typeface="Helvetica Neue"/>
              </a:defRPr>
            </a:lvl2pPr>
            <a:lvl3pPr algn="l">
              <a:defRPr sz="1875" b="1">
                <a:solidFill>
                  <a:srgbClr val="007F82"/>
                </a:solidFill>
                <a:latin typeface="Helvetica Neue"/>
                <a:ea typeface="Helvetica Neue"/>
                <a:cs typeface="Helvetica Neue"/>
              </a:defRPr>
            </a:lvl3pPr>
            <a:lvl4pPr algn="l">
              <a:defRPr sz="1875" b="1">
                <a:solidFill>
                  <a:srgbClr val="007F82"/>
                </a:solidFill>
                <a:latin typeface="Helvetica Neue"/>
                <a:ea typeface="Helvetica Neue"/>
                <a:cs typeface="Helvetica Neue"/>
              </a:defRPr>
            </a:lvl4pPr>
            <a:lvl5pPr algn="l">
              <a:defRPr sz="1875" b="1">
                <a:solidFill>
                  <a:srgbClr val="007F82"/>
                </a:solidFill>
                <a:latin typeface="Helvetica Neue"/>
                <a:ea typeface="Helvetica Neue"/>
                <a:cs typeface="Helvetica Neue"/>
              </a:defRPr>
            </a:lvl5pPr>
            <a:lvl6pPr algn="l">
              <a:defRPr sz="1875" b="1">
                <a:solidFill>
                  <a:srgbClr val="007F82"/>
                </a:solidFill>
                <a:latin typeface="Helvetica Neue"/>
                <a:ea typeface="Helvetica Neue"/>
                <a:cs typeface="Helvetica Neue"/>
              </a:defRPr>
            </a:lvl6pPr>
            <a:lvl7pPr algn="l">
              <a:defRPr sz="1875" b="1">
                <a:solidFill>
                  <a:srgbClr val="007F82"/>
                </a:solidFill>
                <a:latin typeface="Helvetica Neue"/>
                <a:ea typeface="Helvetica Neue"/>
                <a:cs typeface="Helvetica Neue"/>
              </a:defRPr>
            </a:lvl7pPr>
            <a:lvl8pPr algn="l">
              <a:defRPr sz="1875" b="1">
                <a:solidFill>
                  <a:srgbClr val="007F82"/>
                </a:solidFill>
                <a:latin typeface="Helvetica Neue"/>
                <a:ea typeface="Helvetica Neue"/>
                <a:cs typeface="Helvetica Neue"/>
              </a:defRPr>
            </a:lvl8pPr>
            <a:lvl9pPr algn="l">
              <a:defRPr sz="1875" b="1">
                <a:solidFill>
                  <a:srgbClr val="007F82"/>
                </a:solidFill>
                <a:latin typeface="Helvetica Neue"/>
                <a:ea typeface="Helvetica Neue"/>
                <a:cs typeface="Helvetica Neue"/>
              </a:defRPr>
            </a:lvl9pPr>
          </a:lstStyle>
          <a:p>
            <a:pPr algn="l">
              <a:defRPr sz="1875" b="1">
                <a:solidFill>
                  <a:srgbClr val="007F82"/>
                </a:solidFill>
                <a:latin typeface="Helvetica Neue"/>
                <a:ea typeface="Helvetica Neue"/>
                <a:cs typeface="Helvetica Neue"/>
              </a:defRPr>
            </a:pPr>
            <a:r>
              <a:rPr sz="1875" b="1">
                <a:solidFill>
                  <a:srgbClr val="007F82"/>
                </a:solidFill>
                <a:latin typeface="Helvetica Neue"/>
                <a:ea typeface="Helvetica Neue"/>
                <a:cs typeface="Helvetica Neue"/>
              </a:rPr>
              <a:t>EMA, DDIM-50 logging path. Colour and texture appear, but object structure is weak</a:t>
            </a:r>
          </a:p>
        </p:txBody>
      </p:sp>
    </p:spTree>
    <p:extLst>
      <p:ext uri="{BB962C8B-B14F-4D97-AF65-F5344CB8AC3E}">
        <p14:creationId xmlns:p14="http://schemas.microsoft.com/office/powerpoint/2010/main" val="995460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C308C18-99D4-4D63-9F63-4E40F42AF99F}"/>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DDPM and DDIM sampling</a:t>
            </a:r>
          </a:p>
        </p:txBody>
      </p:sp>
      <p:sp>
        <p:nvSpPr>
          <p:cNvPr id="2" name="Rectangle 1">
            <a:extLst>
              <a:ext uri="{FF2B5EF4-FFF2-40B4-BE49-F238E27FC236}">
                <a16:creationId xmlns:a16="http://schemas.microsoft.com/office/drawing/2014/main" id="{5D227801-58CD-46B2-BB78-7E03692F6CA9}"/>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18</a:t>
            </a:r>
          </a:p>
        </p:txBody>
      </p:sp>
      <p:graphicFrame>
        <p:nvGraphicFramePr>
          <p:cNvPr id="4" name="Table 3">
            <a:extLst>
              <a:ext uri="{FF2B5EF4-FFF2-40B4-BE49-F238E27FC236}">
                <a16:creationId xmlns:a16="http://schemas.microsoft.com/office/drawing/2014/main" id="{CD40C4EA-6727-4A97-9F42-C2EB66ECED37}"/>
              </a:ext>
            </a:extLst>
          </p:cNvPr>
          <p:cNvGraphicFramePr/>
          <p:nvPr/>
        </p:nvGraphicFramePr>
        <p:xfrm>
          <a:off x="666750" y="1666875"/>
          <a:ext cx="10858500" cy="3143250"/>
        </p:xfrm>
        <a:graphic>
          <a:graphicData uri="http://schemas.openxmlformats.org/drawingml/2006/table">
            <a:tbl>
              <a:tblPr/>
              <a:tblGrid>
                <a:gridCol w="3143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628650">
                <a:tc>
                  <a:txBody>
                    <a:bodyPr/>
                    <a:lstStyle/>
                    <a:p>
                      <a:r>
                        <a:rPr sz="1725" b="1">
                          <a:solidFill>
                            <a:srgbClr val="FFFFFF"/>
                          </a:solidFill>
                          <a:latin typeface="Helvetica Neue"/>
                          <a:ea typeface="Helvetica Neue"/>
                          <a:cs typeface="Helvetica Neue"/>
                        </a:rPr>
                        <a:t>Aspect</a:t>
                      </a:r>
                    </a:p>
                  </a:txBody>
                  <a:tcPr anchor="ctr">
                    <a:lnL w="9525">
                      <a:solidFill>
                        <a:srgbClr val="D4DEE8"/>
                      </a:solidFill>
                      <a:prstDash val="soli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tc>
                  <a:txBody>
                    <a:bodyPr/>
                    <a:lstStyle/>
                    <a:p>
                      <a:r>
                        <a:rPr sz="1725" b="1">
                          <a:solidFill>
                            <a:srgbClr val="FFFFFF"/>
                          </a:solidFill>
                          <a:latin typeface="Helvetica Neue"/>
                          <a:ea typeface="Helvetica Neue"/>
                          <a:cs typeface="Helvetica Neue"/>
                        </a:rPr>
                        <a:t>DDPM</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tc>
                  <a:txBody>
                    <a:bodyPr/>
                    <a:lstStyle/>
                    <a:p>
                      <a:r>
                        <a:rPr sz="1725" b="1">
                          <a:solidFill>
                            <a:srgbClr val="FFFFFF"/>
                          </a:solidFill>
                          <a:latin typeface="Helvetica Neue"/>
                          <a:ea typeface="Helvetica Neue"/>
                          <a:cs typeface="Helvetica Neue"/>
                        </a:rPr>
                        <a:t>DDIM</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extLst>
                  <a:ext uri="{0D108BD9-81ED-4DB2-BD59-A6C34878D82A}">
                    <a16:rowId xmlns:a16="http://schemas.microsoft.com/office/drawing/2014/main" val="10000"/>
                  </a:ext>
                </a:extLst>
              </a:tr>
              <a:tr h="628650">
                <a:tc>
                  <a:txBody>
                    <a:bodyPr/>
                    <a:lstStyle/>
                    <a:p>
                      <a:r>
                        <a:rPr sz="1725" b="0">
                          <a:solidFill>
                            <a:srgbClr val="142D4E"/>
                          </a:solidFill>
                          <a:latin typeface="Helvetica Neue"/>
                          <a:ea typeface="Helvetica Neue"/>
                          <a:cs typeface="Helvetica Neue"/>
                        </a:rPr>
                        <a:t>Denoising path</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All 1,000 timesteps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Subset of timesteps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extLst>
                  <a:ext uri="{0D108BD9-81ED-4DB2-BD59-A6C34878D82A}">
                    <a16:rowId xmlns:a16="http://schemas.microsoft.com/office/drawing/2014/main" val="10001"/>
                  </a:ext>
                </a:extLst>
              </a:tr>
              <a:tr h="628650">
                <a:tc>
                  <a:txBody>
                    <a:bodyPr/>
                    <a:lstStyle/>
                    <a:p>
                      <a:r>
                        <a:rPr sz="1725" b="0">
                          <a:solidFill>
                            <a:srgbClr val="142D4E"/>
                          </a:solidFill>
                          <a:latin typeface="Helvetica Neue"/>
                          <a:ea typeface="Helvetica Neue"/>
                          <a:cs typeface="Helvetica Neue"/>
                        </a:rPr>
                        <a:t>Randomness</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Posterior noise during sampling</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η = 0 for deterministic trajectory</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extLst>
                  <a:ext uri="{0D108BD9-81ED-4DB2-BD59-A6C34878D82A}">
                    <a16:rowId xmlns:a16="http://schemas.microsoft.com/office/drawing/2014/main" val="10002"/>
                  </a:ext>
                </a:extLst>
              </a:tr>
              <a:tr h="628650">
                <a:tc>
                  <a:txBody>
                    <a:bodyPr/>
                    <a:lstStyle/>
                    <a:p>
                      <a:r>
                        <a:rPr sz="1725" b="0">
                          <a:solidFill>
                            <a:srgbClr val="142D4E"/>
                          </a:solidFill>
                          <a:latin typeface="Helvetica Neue"/>
                          <a:ea typeface="Helvetica Neue"/>
                          <a:cs typeface="Helvetica Neue"/>
                        </a:rPr>
                        <a:t>Saved grid setting</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No retained DDPM grid</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EMA, 50 steps during logging</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extLst>
                  <a:ext uri="{0D108BD9-81ED-4DB2-BD59-A6C34878D82A}">
                    <a16:rowId xmlns:a16="http://schemas.microsoft.com/office/drawing/2014/main" val="10003"/>
                  </a:ext>
                </a:extLst>
              </a:tr>
              <a:tr h="628650">
                <a:tc>
                  <a:txBody>
                    <a:bodyPr/>
                    <a:lstStyle/>
                    <a:p>
                      <a:r>
                        <a:rPr sz="1725" b="0">
                          <a:solidFill>
                            <a:srgbClr val="142D4E"/>
                          </a:solidFill>
                          <a:latin typeface="Helvetica Neue"/>
                          <a:ea typeface="Helvetica Neue"/>
                          <a:cs typeface="Helvetica Neue"/>
                        </a:rPr>
                        <a:t>Quality and runtime comparison</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No saved metric result</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No saved timing / metric sweep</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4E93418E-743A-4B59-AF69-87C81EAA048C}"/>
              </a:ext>
            </a:extLst>
          </p:cNvPr>
          <p:cNvSpPr>
            <a:spLocks noGrp="1"/>
          </p:cNvSpPr>
          <p:nvPr/>
        </p:nvSpPr>
        <p:spPr>
          <a:xfrm>
            <a:off x="666750" y="5791200"/>
            <a:ext cx="10668000" cy="476250"/>
          </a:xfrm>
          <a:prstGeom prst="rect">
            <a:avLst/>
          </a:prstGeom>
          <a:noFill/>
          <a:ln w="0">
            <a:noFill/>
          </a:ln>
        </p:spPr>
        <p:txBody>
          <a:bodyPr lIns="0" tIns="0" rIns="0" bIns="0" anchor="t">
            <a:noAutofit/>
          </a:bodyPr>
          <a:lstStyle>
            <a:defPPr algn="l">
              <a:defRPr sz="1875" b="1">
                <a:solidFill>
                  <a:srgbClr val="007F82"/>
                </a:solidFill>
                <a:latin typeface="Helvetica Neue"/>
                <a:ea typeface="Helvetica Neue"/>
                <a:cs typeface="Helvetica Neue"/>
              </a:defRPr>
            </a:defPPr>
            <a:lvl1pPr algn="l">
              <a:defRPr sz="1875" b="1">
                <a:solidFill>
                  <a:srgbClr val="007F82"/>
                </a:solidFill>
                <a:latin typeface="Helvetica Neue"/>
                <a:ea typeface="Helvetica Neue"/>
                <a:cs typeface="Helvetica Neue"/>
              </a:defRPr>
            </a:lvl1pPr>
            <a:lvl2pPr algn="l">
              <a:defRPr sz="1875" b="1">
                <a:solidFill>
                  <a:srgbClr val="007F82"/>
                </a:solidFill>
                <a:latin typeface="Helvetica Neue"/>
                <a:ea typeface="Helvetica Neue"/>
                <a:cs typeface="Helvetica Neue"/>
              </a:defRPr>
            </a:lvl2pPr>
            <a:lvl3pPr algn="l">
              <a:defRPr sz="1875" b="1">
                <a:solidFill>
                  <a:srgbClr val="007F82"/>
                </a:solidFill>
                <a:latin typeface="Helvetica Neue"/>
                <a:ea typeface="Helvetica Neue"/>
                <a:cs typeface="Helvetica Neue"/>
              </a:defRPr>
            </a:lvl3pPr>
            <a:lvl4pPr algn="l">
              <a:defRPr sz="1875" b="1">
                <a:solidFill>
                  <a:srgbClr val="007F82"/>
                </a:solidFill>
                <a:latin typeface="Helvetica Neue"/>
                <a:ea typeface="Helvetica Neue"/>
                <a:cs typeface="Helvetica Neue"/>
              </a:defRPr>
            </a:lvl4pPr>
            <a:lvl5pPr algn="l">
              <a:defRPr sz="1875" b="1">
                <a:solidFill>
                  <a:srgbClr val="007F82"/>
                </a:solidFill>
                <a:latin typeface="Helvetica Neue"/>
                <a:ea typeface="Helvetica Neue"/>
                <a:cs typeface="Helvetica Neue"/>
              </a:defRPr>
            </a:lvl5pPr>
            <a:lvl6pPr algn="l">
              <a:defRPr sz="1875" b="1">
                <a:solidFill>
                  <a:srgbClr val="007F82"/>
                </a:solidFill>
                <a:latin typeface="Helvetica Neue"/>
                <a:ea typeface="Helvetica Neue"/>
                <a:cs typeface="Helvetica Neue"/>
              </a:defRPr>
            </a:lvl6pPr>
            <a:lvl7pPr algn="l">
              <a:defRPr sz="1875" b="1">
                <a:solidFill>
                  <a:srgbClr val="007F82"/>
                </a:solidFill>
                <a:latin typeface="Helvetica Neue"/>
                <a:ea typeface="Helvetica Neue"/>
                <a:cs typeface="Helvetica Neue"/>
              </a:defRPr>
            </a:lvl7pPr>
            <a:lvl8pPr algn="l">
              <a:defRPr sz="1875" b="1">
                <a:solidFill>
                  <a:srgbClr val="007F82"/>
                </a:solidFill>
                <a:latin typeface="Helvetica Neue"/>
                <a:ea typeface="Helvetica Neue"/>
                <a:cs typeface="Helvetica Neue"/>
              </a:defRPr>
            </a:lvl8pPr>
            <a:lvl9pPr algn="l">
              <a:defRPr sz="1875" b="1">
                <a:solidFill>
                  <a:srgbClr val="007F82"/>
                </a:solidFill>
                <a:latin typeface="Helvetica Neue"/>
                <a:ea typeface="Helvetica Neue"/>
                <a:cs typeface="Helvetica Neue"/>
              </a:defRPr>
            </a:lvl9pPr>
          </a:lstStyle>
          <a:p>
            <a:pPr algn="l">
              <a:defRPr sz="1875" b="1">
                <a:solidFill>
                  <a:srgbClr val="007F82"/>
                </a:solidFill>
                <a:latin typeface="Helvetica Neue"/>
                <a:ea typeface="Helvetica Neue"/>
                <a:cs typeface="Helvetica Neue"/>
              </a:defRPr>
            </a:pPr>
            <a:r>
              <a:rPr sz="1875" b="1">
                <a:solidFill>
                  <a:srgbClr val="007F82"/>
                </a:solidFill>
                <a:latin typeface="Helvetica Neue"/>
                <a:ea typeface="Helvetica Neue"/>
                <a:cs typeface="Helvetica Neue"/>
              </a:rPr>
              <a:t>DDIM-50 uses 20× fewer model calls. Actual speed and quality need measurement</a:t>
            </a:r>
          </a:p>
        </p:txBody>
      </p:sp>
    </p:spTree>
    <p:extLst>
      <p:ext uri="{BB962C8B-B14F-4D97-AF65-F5344CB8AC3E}">
        <p14:creationId xmlns:p14="http://schemas.microsoft.com/office/powerpoint/2010/main" val="808941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BDA8770-A8B3-4A3A-9452-13E13FF1676A}"/>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Evaluation protocol and missing measurements</a:t>
            </a:r>
          </a:p>
        </p:txBody>
      </p:sp>
      <p:sp>
        <p:nvSpPr>
          <p:cNvPr id="2" name="Rectangle 1">
            <a:extLst>
              <a:ext uri="{FF2B5EF4-FFF2-40B4-BE49-F238E27FC236}">
                <a16:creationId xmlns:a16="http://schemas.microsoft.com/office/drawing/2014/main" id="{15946472-3880-4311-BB26-195DEA49FC10}"/>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19</a:t>
            </a:r>
          </a:p>
        </p:txBody>
      </p:sp>
      <p:graphicFrame>
        <p:nvGraphicFramePr>
          <p:cNvPr id="4" name="Table 3">
            <a:extLst>
              <a:ext uri="{FF2B5EF4-FFF2-40B4-BE49-F238E27FC236}">
                <a16:creationId xmlns:a16="http://schemas.microsoft.com/office/drawing/2014/main" id="{982BBDAB-079E-4A7C-80E0-0ACB48555290}"/>
              </a:ext>
            </a:extLst>
          </p:cNvPr>
          <p:cNvGraphicFramePr/>
          <p:nvPr/>
        </p:nvGraphicFramePr>
        <p:xfrm>
          <a:off x="666750" y="1666875"/>
          <a:ext cx="10858500" cy="3333750"/>
        </p:xfrm>
        <a:graphic>
          <a:graphicData uri="http://schemas.openxmlformats.org/drawingml/2006/table">
            <a:tbl>
              <a:tblPr/>
              <a:tblGrid>
                <a:gridCol w="3143250">
                  <a:extLst>
                    <a:ext uri="{9D8B030D-6E8A-4147-A177-3AD203B41FA5}">
                      <a16:colId xmlns:a16="http://schemas.microsoft.com/office/drawing/2014/main" val="20000"/>
                    </a:ext>
                  </a:extLst>
                </a:gridCol>
                <a:gridCol w="561975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tblGrid>
              <a:tr h="666750">
                <a:tc>
                  <a:txBody>
                    <a:bodyPr/>
                    <a:lstStyle/>
                    <a:p>
                      <a:r>
                        <a:rPr sz="1725" b="1">
                          <a:solidFill>
                            <a:srgbClr val="FFFFFF"/>
                          </a:solidFill>
                          <a:latin typeface="Helvetica Neue"/>
                          <a:ea typeface="Helvetica Neue"/>
                          <a:cs typeface="Helvetica Neue"/>
                        </a:rPr>
                        <a:t>Metric</a:t>
                      </a:r>
                    </a:p>
                  </a:txBody>
                  <a:tcPr anchor="ctr">
                    <a:lnL w="9525">
                      <a:solidFill>
                        <a:srgbClr val="D4DEE8"/>
                      </a:solidFill>
                      <a:prstDash val="soli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tc>
                  <a:txBody>
                    <a:bodyPr/>
                    <a:lstStyle/>
                    <a:p>
                      <a:r>
                        <a:rPr sz="1725" b="1">
                          <a:solidFill>
                            <a:srgbClr val="FFFFFF"/>
                          </a:solidFill>
                          <a:latin typeface="Helvetica Neue"/>
                          <a:ea typeface="Helvetica Neue"/>
                          <a:cs typeface="Helvetica Neue"/>
                        </a:rPr>
                        <a:t>Question it addresses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tc>
                  <a:txBody>
                    <a:bodyPr/>
                    <a:lstStyle/>
                    <a:p>
                      <a:r>
                        <a:rPr sz="1725" b="1">
                          <a:solidFill>
                            <a:srgbClr val="FFFFFF"/>
                          </a:solidFill>
                          <a:latin typeface="Helvetica Neue"/>
                          <a:ea typeface="Helvetica Neue"/>
                          <a:cs typeface="Helvetica Neue"/>
                        </a:rPr>
                        <a:t>Saved result</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extLst>
                  <a:ext uri="{0D108BD9-81ED-4DB2-BD59-A6C34878D82A}">
                    <a16:rowId xmlns:a16="http://schemas.microsoft.com/office/drawing/2014/main" val="10000"/>
                  </a:ext>
                </a:extLst>
              </a:tr>
              <a:tr h="666750">
                <a:tc>
                  <a:txBody>
                    <a:bodyPr/>
                    <a:lstStyle/>
                    <a:p>
                      <a:r>
                        <a:rPr sz="1725" b="0">
                          <a:solidFill>
                            <a:srgbClr val="142D4E"/>
                          </a:solidFill>
                          <a:latin typeface="Helvetica Neue"/>
                          <a:ea typeface="Helvetica Neue"/>
                          <a:cs typeface="Helvetica Neue"/>
                        </a:rPr>
                        <a:t>FID, lower is better</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How closely do feature distributions match?</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Not available</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extLst>
                  <a:ext uri="{0D108BD9-81ED-4DB2-BD59-A6C34878D82A}">
                    <a16:rowId xmlns:a16="http://schemas.microsoft.com/office/drawing/2014/main" val="10001"/>
                  </a:ext>
                </a:extLst>
              </a:tr>
              <a:tr h="666750">
                <a:tc>
                  <a:txBody>
                    <a:bodyPr/>
                    <a:lstStyle/>
                    <a:p>
                      <a:r>
                        <a:rPr sz="1725" b="0">
                          <a:solidFill>
                            <a:srgbClr val="142D4E"/>
                          </a:solidFill>
                          <a:latin typeface="Helvetica Neue"/>
                          <a:ea typeface="Helvetica Neue"/>
                          <a:cs typeface="Helvetica Neue"/>
                        </a:rPr>
                        <a:t>Inception Score</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Are generated class predictions confident and varied?</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Not available</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extLst>
                  <a:ext uri="{0D108BD9-81ED-4DB2-BD59-A6C34878D82A}">
                    <a16:rowId xmlns:a16="http://schemas.microsoft.com/office/drawing/2014/main" val="10002"/>
                  </a:ext>
                </a:extLst>
              </a:tr>
              <a:tr h="666750">
                <a:tc>
                  <a:txBody>
                    <a:bodyPr/>
                    <a:lstStyle/>
                    <a:p>
                      <a:r>
                        <a:rPr sz="1725" b="0">
                          <a:solidFill>
                            <a:srgbClr val="142D4E"/>
                          </a:solidFill>
                          <a:latin typeface="Helvetica Neue"/>
                          <a:ea typeface="Helvetica Neue"/>
                          <a:cs typeface="Helvetica Neue"/>
                        </a:rPr>
                        <a:t>Generative precision / recall</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Sample fidelity and coverage of real content</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Not available</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extLst>
                  <a:ext uri="{0D108BD9-81ED-4DB2-BD59-A6C34878D82A}">
                    <a16:rowId xmlns:a16="http://schemas.microsoft.com/office/drawing/2014/main" val="10003"/>
                  </a:ext>
                </a:extLst>
              </a:tr>
              <a:tr h="666750">
                <a:tc>
                  <a:txBody>
                    <a:bodyPr/>
                    <a:lstStyle/>
                    <a:p>
                      <a:r>
                        <a:rPr sz="1725" b="0">
                          <a:solidFill>
                            <a:srgbClr val="142D4E"/>
                          </a:solidFill>
                          <a:latin typeface="Helvetica Neue"/>
                          <a:ea typeface="Helvetica Neue"/>
                          <a:cs typeface="Helvetica Neue"/>
                        </a:rPr>
                        <a:t>Generation time</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What is the measured sampling cost?</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Not available</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EFD7464A-0532-4ED2-97F6-52CBFBA54506}"/>
              </a:ext>
            </a:extLst>
          </p:cNvPr>
          <p:cNvSpPr>
            <a:spLocks noGrp="1"/>
          </p:cNvSpPr>
          <p:nvPr/>
        </p:nvSpPr>
        <p:spPr>
          <a:xfrm>
            <a:off x="666750" y="5791200"/>
            <a:ext cx="10668000" cy="476250"/>
          </a:xfrm>
          <a:prstGeom prst="rect">
            <a:avLst/>
          </a:prstGeom>
          <a:noFill/>
          <a:ln w="0">
            <a:noFill/>
          </a:ln>
        </p:spPr>
        <p:txBody>
          <a:bodyPr lIns="0" tIns="0" rIns="0" bIns="0" anchor="t">
            <a:noAutofit/>
          </a:bodyPr>
          <a:lstStyle>
            <a:defPPr algn="l">
              <a:defRPr sz="1875" b="1">
                <a:solidFill>
                  <a:srgbClr val="007F82"/>
                </a:solidFill>
                <a:latin typeface="Helvetica Neue"/>
                <a:ea typeface="Helvetica Neue"/>
                <a:cs typeface="Helvetica Neue"/>
              </a:defRPr>
            </a:defPPr>
            <a:lvl1pPr algn="l">
              <a:defRPr sz="1875" b="1">
                <a:solidFill>
                  <a:srgbClr val="007F82"/>
                </a:solidFill>
                <a:latin typeface="Helvetica Neue"/>
                <a:ea typeface="Helvetica Neue"/>
                <a:cs typeface="Helvetica Neue"/>
              </a:defRPr>
            </a:lvl1pPr>
            <a:lvl2pPr algn="l">
              <a:defRPr sz="1875" b="1">
                <a:solidFill>
                  <a:srgbClr val="007F82"/>
                </a:solidFill>
                <a:latin typeface="Helvetica Neue"/>
                <a:ea typeface="Helvetica Neue"/>
                <a:cs typeface="Helvetica Neue"/>
              </a:defRPr>
            </a:lvl2pPr>
            <a:lvl3pPr algn="l">
              <a:defRPr sz="1875" b="1">
                <a:solidFill>
                  <a:srgbClr val="007F82"/>
                </a:solidFill>
                <a:latin typeface="Helvetica Neue"/>
                <a:ea typeface="Helvetica Neue"/>
                <a:cs typeface="Helvetica Neue"/>
              </a:defRPr>
            </a:lvl3pPr>
            <a:lvl4pPr algn="l">
              <a:defRPr sz="1875" b="1">
                <a:solidFill>
                  <a:srgbClr val="007F82"/>
                </a:solidFill>
                <a:latin typeface="Helvetica Neue"/>
                <a:ea typeface="Helvetica Neue"/>
                <a:cs typeface="Helvetica Neue"/>
              </a:defRPr>
            </a:lvl4pPr>
            <a:lvl5pPr algn="l">
              <a:defRPr sz="1875" b="1">
                <a:solidFill>
                  <a:srgbClr val="007F82"/>
                </a:solidFill>
                <a:latin typeface="Helvetica Neue"/>
                <a:ea typeface="Helvetica Neue"/>
                <a:cs typeface="Helvetica Neue"/>
              </a:defRPr>
            </a:lvl5pPr>
            <a:lvl6pPr algn="l">
              <a:defRPr sz="1875" b="1">
                <a:solidFill>
                  <a:srgbClr val="007F82"/>
                </a:solidFill>
                <a:latin typeface="Helvetica Neue"/>
                <a:ea typeface="Helvetica Neue"/>
                <a:cs typeface="Helvetica Neue"/>
              </a:defRPr>
            </a:lvl6pPr>
            <a:lvl7pPr algn="l">
              <a:defRPr sz="1875" b="1">
                <a:solidFill>
                  <a:srgbClr val="007F82"/>
                </a:solidFill>
                <a:latin typeface="Helvetica Neue"/>
                <a:ea typeface="Helvetica Neue"/>
                <a:cs typeface="Helvetica Neue"/>
              </a:defRPr>
            </a:lvl7pPr>
            <a:lvl8pPr algn="l">
              <a:defRPr sz="1875" b="1">
                <a:solidFill>
                  <a:srgbClr val="007F82"/>
                </a:solidFill>
                <a:latin typeface="Helvetica Neue"/>
                <a:ea typeface="Helvetica Neue"/>
                <a:cs typeface="Helvetica Neue"/>
              </a:defRPr>
            </a:lvl8pPr>
            <a:lvl9pPr algn="l">
              <a:defRPr sz="1875" b="1">
                <a:solidFill>
                  <a:srgbClr val="007F82"/>
                </a:solidFill>
                <a:latin typeface="Helvetica Neue"/>
                <a:ea typeface="Helvetica Neue"/>
                <a:cs typeface="Helvetica Neue"/>
              </a:defRPr>
            </a:lvl9pPr>
          </a:lstStyle>
          <a:p>
            <a:pPr algn="l">
              <a:defRPr sz="1875" b="1">
                <a:solidFill>
                  <a:srgbClr val="007F82"/>
                </a:solidFill>
                <a:latin typeface="Helvetica Neue"/>
                <a:ea typeface="Helvetica Neue"/>
                <a:cs typeface="Helvetica Neue"/>
              </a:defRPr>
            </a:pPr>
            <a:r>
              <a:rPr sz="1875" b="1">
                <a:solidFill>
                  <a:srgbClr val="007F82"/>
                </a:solidFill>
                <a:latin typeface="Helvetica Neue"/>
                <a:ea typeface="Helvetica Neue"/>
                <a:cs typeface="Helvetica Neue"/>
              </a:rPr>
              <a:t>Planned protocol: 2,500 generated images against 2,500 reference images</a:t>
            </a:r>
          </a:p>
        </p:txBody>
      </p:sp>
    </p:spTree>
    <p:extLst>
      <p:ext uri="{BB962C8B-B14F-4D97-AF65-F5344CB8AC3E}">
        <p14:creationId xmlns:p14="http://schemas.microsoft.com/office/powerpoint/2010/main" val="1599171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610980A-8AF8-4B10-9D93-A48B63AECFB5}"/>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Model comparisons remain unverified</a:t>
            </a:r>
          </a:p>
        </p:txBody>
      </p:sp>
      <p:sp>
        <p:nvSpPr>
          <p:cNvPr id="2" name="Rectangle 1">
            <a:extLst>
              <a:ext uri="{FF2B5EF4-FFF2-40B4-BE49-F238E27FC236}">
                <a16:creationId xmlns:a16="http://schemas.microsoft.com/office/drawing/2014/main" id="{3C73B46C-16D0-469F-A40A-229D8BF6A6C7}"/>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20</a:t>
            </a:r>
          </a:p>
        </p:txBody>
      </p:sp>
      <p:graphicFrame>
        <p:nvGraphicFramePr>
          <p:cNvPr id="4" name="Table 3">
            <a:extLst>
              <a:ext uri="{FF2B5EF4-FFF2-40B4-BE49-F238E27FC236}">
                <a16:creationId xmlns:a16="http://schemas.microsoft.com/office/drawing/2014/main" id="{5AFF74A5-26C0-45F9-BCFF-6A35BDF85DDC}"/>
              </a:ext>
            </a:extLst>
          </p:cNvPr>
          <p:cNvGraphicFramePr/>
          <p:nvPr/>
        </p:nvGraphicFramePr>
        <p:xfrm>
          <a:off x="666750" y="1666875"/>
          <a:ext cx="10858500" cy="3286125"/>
        </p:xfrm>
        <a:graphic>
          <a:graphicData uri="http://schemas.openxmlformats.org/drawingml/2006/table">
            <a:tbl>
              <a:tblPr/>
              <a:tblGrid>
                <a:gridCol w="352425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657225">
                <a:tc>
                  <a:txBody>
                    <a:bodyPr/>
                    <a:lstStyle/>
                    <a:p>
                      <a:r>
                        <a:rPr sz="1725" b="1">
                          <a:solidFill>
                            <a:srgbClr val="FFFFFF"/>
                          </a:solidFill>
                          <a:latin typeface="Helvetica Neue"/>
                          <a:ea typeface="Helvetica Neue"/>
                          <a:cs typeface="Helvetica Neue"/>
                        </a:rPr>
                        <a:t>Experiment</a:t>
                      </a:r>
                    </a:p>
                  </a:txBody>
                  <a:tcPr anchor="ctr">
                    <a:lnL w="9525">
                      <a:solidFill>
                        <a:srgbClr val="D4DEE8"/>
                      </a:solidFill>
                      <a:prstDash val="soli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tc>
                  <a:txBody>
                    <a:bodyPr/>
                    <a:lstStyle/>
                    <a:p>
                      <a:r>
                        <a:rPr sz="1725" b="1">
                          <a:solidFill>
                            <a:srgbClr val="FFFFFF"/>
                          </a:solidFill>
                          <a:latin typeface="Helvetica Neue"/>
                          <a:ea typeface="Helvetica Neue"/>
                          <a:cs typeface="Helvetica Neue"/>
                        </a:rPr>
                        <a:t>Implementation status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tc>
                  <a:txBody>
                    <a:bodyPr/>
                    <a:lstStyle/>
                    <a:p>
                      <a:r>
                        <a:rPr sz="1725" b="1">
                          <a:solidFill>
                            <a:srgbClr val="FFFFFF"/>
                          </a:solidFill>
                          <a:latin typeface="Helvetica Neue"/>
                          <a:ea typeface="Helvetica Neue"/>
                          <a:cs typeface="Helvetica Neue"/>
                        </a:rPr>
                        <a:t>Saved evidence</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extLst>
                  <a:ext uri="{0D108BD9-81ED-4DB2-BD59-A6C34878D82A}">
                    <a16:rowId xmlns:a16="http://schemas.microsoft.com/office/drawing/2014/main" val="10000"/>
                  </a:ext>
                </a:extLst>
              </a:tr>
              <a:tr h="657225">
                <a:tc>
                  <a:txBody>
                    <a:bodyPr/>
                    <a:lstStyle/>
                    <a:p>
                      <a:r>
                        <a:rPr sz="1725" b="0">
                          <a:solidFill>
                            <a:srgbClr val="142D4E"/>
                          </a:solidFill>
                          <a:latin typeface="Helvetica Neue"/>
                          <a:ea typeface="Helvetica Neue"/>
                          <a:cs typeface="Helvetica Neue"/>
                        </a:rPr>
                        <a:t>Cosine + attention</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Primary unconditional configuration</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18-epoch checkpoint and grids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extLst>
                  <a:ext uri="{0D108BD9-81ED-4DB2-BD59-A6C34878D82A}">
                    <a16:rowId xmlns:a16="http://schemas.microsoft.com/office/drawing/2014/main" val="10001"/>
                  </a:ext>
                </a:extLst>
              </a:tr>
              <a:tr h="657225">
                <a:tc>
                  <a:txBody>
                    <a:bodyPr/>
                    <a:lstStyle/>
                    <a:p>
                      <a:r>
                        <a:rPr sz="1725" b="0">
                          <a:solidFill>
                            <a:srgbClr val="142D4E"/>
                          </a:solidFill>
                          <a:latin typeface="Helvetica Neue"/>
                          <a:ea typeface="Helvetica Neue"/>
                          <a:cs typeface="Helvetica Neue"/>
                        </a:rPr>
                        <a:t>Linear / no-attention ablations</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Code present, RUN_ABLATIONS=False</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No comparison checkpoints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extLst>
                  <a:ext uri="{0D108BD9-81ED-4DB2-BD59-A6C34878D82A}">
                    <a16:rowId xmlns:a16="http://schemas.microsoft.com/office/drawing/2014/main" val="10002"/>
                  </a:ext>
                </a:extLst>
              </a:tr>
              <a:tr h="657225">
                <a:tc>
                  <a:txBody>
                    <a:bodyPr/>
                    <a:lstStyle/>
                    <a:p>
                      <a:r>
                        <a:rPr sz="1725" b="0">
                          <a:solidFill>
                            <a:srgbClr val="142D4E"/>
                          </a:solidFill>
                          <a:latin typeface="Helvetica Neue"/>
                          <a:ea typeface="Helvetica Neue"/>
                          <a:cs typeface="Helvetica Neue"/>
                        </a:rPr>
                        <a:t>AE / VAE / DCGAN</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Training and sampling code present</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No retained trained outputs or scores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extLst>
                  <a:ext uri="{0D108BD9-81ED-4DB2-BD59-A6C34878D82A}">
                    <a16:rowId xmlns:a16="http://schemas.microsoft.com/office/drawing/2014/main" val="10003"/>
                  </a:ext>
                </a:extLst>
              </a:tr>
              <a:tr h="657225">
                <a:tc>
                  <a:txBody>
                    <a:bodyPr/>
                    <a:lstStyle/>
                    <a:p>
                      <a:r>
                        <a:rPr sz="1725" b="0">
                          <a:solidFill>
                            <a:srgbClr val="142D4E"/>
                          </a:solidFill>
                          <a:latin typeface="Helvetica Neue"/>
                          <a:ea typeface="Helvetica Neue"/>
                          <a:cs typeface="Helvetica Neue"/>
                        </a:rPr>
                        <a:t>Classifier-free guidance</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Optional, RUN_CFG=False</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No conditional checkpoint</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6A3A47A2-A6EA-480A-B50E-5E35FF31B8C2}"/>
              </a:ext>
            </a:extLst>
          </p:cNvPr>
          <p:cNvSpPr>
            <a:spLocks noGrp="1"/>
          </p:cNvSpPr>
          <p:nvPr/>
        </p:nvSpPr>
        <p:spPr>
          <a:xfrm>
            <a:off x="666750" y="5791200"/>
            <a:ext cx="10668000" cy="476250"/>
          </a:xfrm>
          <a:prstGeom prst="rect">
            <a:avLst/>
          </a:prstGeom>
          <a:noFill/>
          <a:ln w="0">
            <a:noFill/>
          </a:ln>
        </p:spPr>
        <p:txBody>
          <a:bodyPr lIns="0" tIns="0" rIns="0" bIns="0" anchor="t">
            <a:noAutofit/>
          </a:bodyPr>
          <a:lstStyle>
            <a:defPPr algn="l">
              <a:defRPr sz="1875" b="1">
                <a:solidFill>
                  <a:srgbClr val="007F82"/>
                </a:solidFill>
                <a:latin typeface="Helvetica Neue"/>
                <a:ea typeface="Helvetica Neue"/>
                <a:cs typeface="Helvetica Neue"/>
              </a:defRPr>
            </a:defPPr>
            <a:lvl1pPr algn="l">
              <a:defRPr sz="1875" b="1">
                <a:solidFill>
                  <a:srgbClr val="007F82"/>
                </a:solidFill>
                <a:latin typeface="Helvetica Neue"/>
                <a:ea typeface="Helvetica Neue"/>
                <a:cs typeface="Helvetica Neue"/>
              </a:defRPr>
            </a:lvl1pPr>
            <a:lvl2pPr algn="l">
              <a:defRPr sz="1875" b="1">
                <a:solidFill>
                  <a:srgbClr val="007F82"/>
                </a:solidFill>
                <a:latin typeface="Helvetica Neue"/>
                <a:ea typeface="Helvetica Neue"/>
                <a:cs typeface="Helvetica Neue"/>
              </a:defRPr>
            </a:lvl2pPr>
            <a:lvl3pPr algn="l">
              <a:defRPr sz="1875" b="1">
                <a:solidFill>
                  <a:srgbClr val="007F82"/>
                </a:solidFill>
                <a:latin typeface="Helvetica Neue"/>
                <a:ea typeface="Helvetica Neue"/>
                <a:cs typeface="Helvetica Neue"/>
              </a:defRPr>
            </a:lvl3pPr>
            <a:lvl4pPr algn="l">
              <a:defRPr sz="1875" b="1">
                <a:solidFill>
                  <a:srgbClr val="007F82"/>
                </a:solidFill>
                <a:latin typeface="Helvetica Neue"/>
                <a:ea typeface="Helvetica Neue"/>
                <a:cs typeface="Helvetica Neue"/>
              </a:defRPr>
            </a:lvl4pPr>
            <a:lvl5pPr algn="l">
              <a:defRPr sz="1875" b="1">
                <a:solidFill>
                  <a:srgbClr val="007F82"/>
                </a:solidFill>
                <a:latin typeface="Helvetica Neue"/>
                <a:ea typeface="Helvetica Neue"/>
                <a:cs typeface="Helvetica Neue"/>
              </a:defRPr>
            </a:lvl5pPr>
            <a:lvl6pPr algn="l">
              <a:defRPr sz="1875" b="1">
                <a:solidFill>
                  <a:srgbClr val="007F82"/>
                </a:solidFill>
                <a:latin typeface="Helvetica Neue"/>
                <a:ea typeface="Helvetica Neue"/>
                <a:cs typeface="Helvetica Neue"/>
              </a:defRPr>
            </a:lvl6pPr>
            <a:lvl7pPr algn="l">
              <a:defRPr sz="1875" b="1">
                <a:solidFill>
                  <a:srgbClr val="007F82"/>
                </a:solidFill>
                <a:latin typeface="Helvetica Neue"/>
                <a:ea typeface="Helvetica Neue"/>
                <a:cs typeface="Helvetica Neue"/>
              </a:defRPr>
            </a:lvl7pPr>
            <a:lvl8pPr algn="l">
              <a:defRPr sz="1875" b="1">
                <a:solidFill>
                  <a:srgbClr val="007F82"/>
                </a:solidFill>
                <a:latin typeface="Helvetica Neue"/>
                <a:ea typeface="Helvetica Neue"/>
                <a:cs typeface="Helvetica Neue"/>
              </a:defRPr>
            </a:lvl8pPr>
            <a:lvl9pPr algn="l">
              <a:defRPr sz="1875" b="1">
                <a:solidFill>
                  <a:srgbClr val="007F82"/>
                </a:solidFill>
                <a:latin typeface="Helvetica Neue"/>
                <a:ea typeface="Helvetica Neue"/>
                <a:cs typeface="Helvetica Neue"/>
              </a:defRPr>
            </a:lvl9pPr>
          </a:lstStyle>
          <a:p>
            <a:pPr algn="l">
              <a:defRPr sz="1875" b="1">
                <a:solidFill>
                  <a:srgbClr val="007F82"/>
                </a:solidFill>
                <a:latin typeface="Helvetica Neue"/>
                <a:ea typeface="Helvetica Neue"/>
                <a:cs typeface="Helvetica Neue"/>
              </a:defRPr>
            </a:pPr>
            <a:r>
              <a:rPr sz="1875" b="1">
                <a:solidFill>
                  <a:srgbClr val="007F82"/>
                </a:solidFill>
                <a:latin typeface="Helvetica Neue"/>
                <a:ea typeface="Helvetica Neue"/>
                <a:cs typeface="Helvetica Neue"/>
              </a:rPr>
              <a:t>No comparative winner can be selected from the supplied evidence</a:t>
            </a:r>
          </a:p>
        </p:txBody>
      </p:sp>
    </p:spTree>
    <p:extLst>
      <p:ext uri="{BB962C8B-B14F-4D97-AF65-F5344CB8AC3E}">
        <p14:creationId xmlns:p14="http://schemas.microsoft.com/office/powerpoint/2010/main" val="356464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E2FE8A1-1C38-49E4-B122-0A9E645A7097}"/>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Current delivery is a local notebook</a:t>
            </a:r>
          </a:p>
        </p:txBody>
      </p:sp>
      <p:sp>
        <p:nvSpPr>
          <p:cNvPr id="2" name="Rectangle 1">
            <a:extLst>
              <a:ext uri="{FF2B5EF4-FFF2-40B4-BE49-F238E27FC236}">
                <a16:creationId xmlns:a16="http://schemas.microsoft.com/office/drawing/2014/main" id="{CDE29F8C-A27D-4F59-9463-7E05CAF8A0A8}"/>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21</a:t>
            </a:r>
          </a:p>
        </p:txBody>
      </p:sp>
      <p:sp>
        <p:nvSpPr>
          <p:cNvPr id="4" name="Rectangle 3">
            <a:extLst>
              <a:ext uri="{FF2B5EF4-FFF2-40B4-BE49-F238E27FC236}">
                <a16:creationId xmlns:a16="http://schemas.microsoft.com/office/drawing/2014/main" id="{A9FD6B9B-F3E7-4B68-AAB0-D73EC2263DFB}"/>
              </a:ext>
            </a:extLst>
          </p:cNvPr>
          <p:cNvSpPr>
            <a:spLocks noGrp="1"/>
          </p:cNvSpPr>
          <p:nvPr/>
        </p:nvSpPr>
        <p:spPr>
          <a:xfrm>
            <a:off x="666750" y="1619250"/>
            <a:ext cx="228600" cy="457200"/>
          </a:xfrm>
          <a:prstGeom prst="rect">
            <a:avLst/>
          </a:prstGeom>
          <a:noFill/>
          <a:ln w="0">
            <a:noFill/>
          </a:ln>
        </p:spPr>
        <p:txBody>
          <a:bodyPr lIns="0" tIns="0" rIns="0" bIns="0" anchor="t">
            <a:noAutofit/>
          </a:bodyPr>
          <a:lstStyle>
            <a:defPPr algn="l">
              <a:defRPr sz="2100" b="1">
                <a:solidFill>
                  <a:srgbClr val="007F82"/>
                </a:solidFill>
                <a:latin typeface="Helvetica Neue"/>
                <a:ea typeface="Helvetica Neue"/>
                <a:cs typeface="Helvetica Neue"/>
              </a:defRPr>
            </a:defPPr>
            <a:lvl1pPr algn="l">
              <a:defRPr sz="2100" b="1">
                <a:solidFill>
                  <a:srgbClr val="007F82"/>
                </a:solidFill>
                <a:latin typeface="Helvetica Neue"/>
                <a:ea typeface="Helvetica Neue"/>
                <a:cs typeface="Helvetica Neue"/>
              </a:defRPr>
            </a:lvl1pPr>
            <a:lvl2pPr algn="l">
              <a:defRPr sz="2100" b="1">
                <a:solidFill>
                  <a:srgbClr val="007F82"/>
                </a:solidFill>
                <a:latin typeface="Helvetica Neue"/>
                <a:ea typeface="Helvetica Neue"/>
                <a:cs typeface="Helvetica Neue"/>
              </a:defRPr>
            </a:lvl2pPr>
            <a:lvl3pPr algn="l">
              <a:defRPr sz="2100" b="1">
                <a:solidFill>
                  <a:srgbClr val="007F82"/>
                </a:solidFill>
                <a:latin typeface="Helvetica Neue"/>
                <a:ea typeface="Helvetica Neue"/>
                <a:cs typeface="Helvetica Neue"/>
              </a:defRPr>
            </a:lvl3pPr>
            <a:lvl4pPr algn="l">
              <a:defRPr sz="2100" b="1">
                <a:solidFill>
                  <a:srgbClr val="007F82"/>
                </a:solidFill>
                <a:latin typeface="Helvetica Neue"/>
                <a:ea typeface="Helvetica Neue"/>
                <a:cs typeface="Helvetica Neue"/>
              </a:defRPr>
            </a:lvl4pPr>
            <a:lvl5pPr algn="l">
              <a:defRPr sz="2100" b="1">
                <a:solidFill>
                  <a:srgbClr val="007F82"/>
                </a:solidFill>
                <a:latin typeface="Helvetica Neue"/>
                <a:ea typeface="Helvetica Neue"/>
                <a:cs typeface="Helvetica Neue"/>
              </a:defRPr>
            </a:lvl5pPr>
            <a:lvl6pPr algn="l">
              <a:defRPr sz="2100" b="1">
                <a:solidFill>
                  <a:srgbClr val="007F82"/>
                </a:solidFill>
                <a:latin typeface="Helvetica Neue"/>
                <a:ea typeface="Helvetica Neue"/>
                <a:cs typeface="Helvetica Neue"/>
              </a:defRPr>
            </a:lvl6pPr>
            <a:lvl7pPr algn="l">
              <a:defRPr sz="2100" b="1">
                <a:solidFill>
                  <a:srgbClr val="007F82"/>
                </a:solidFill>
                <a:latin typeface="Helvetica Neue"/>
                <a:ea typeface="Helvetica Neue"/>
                <a:cs typeface="Helvetica Neue"/>
              </a:defRPr>
            </a:lvl7pPr>
            <a:lvl8pPr algn="l">
              <a:defRPr sz="2100" b="1">
                <a:solidFill>
                  <a:srgbClr val="007F82"/>
                </a:solidFill>
                <a:latin typeface="Helvetica Neue"/>
                <a:ea typeface="Helvetica Neue"/>
                <a:cs typeface="Helvetica Neue"/>
              </a:defRPr>
            </a:lvl8pPr>
            <a:lvl9pPr algn="l">
              <a:defRPr sz="2100" b="1">
                <a:solidFill>
                  <a:srgbClr val="007F82"/>
                </a:solidFill>
                <a:latin typeface="Helvetica Neue"/>
                <a:ea typeface="Helvetica Neue"/>
                <a:cs typeface="Helvetica Neue"/>
              </a:defRPr>
            </a:lvl9pPr>
          </a:lstStyle>
          <a:p>
            <a:pPr algn="l">
              <a:defRPr sz="2100" b="1">
                <a:solidFill>
                  <a:srgbClr val="007F82"/>
                </a:solidFill>
                <a:latin typeface="Helvetica Neue"/>
                <a:ea typeface="Helvetica Neue"/>
                <a:cs typeface="Helvetica Neue"/>
              </a:defRPr>
            </a:pPr>
            <a:r>
              <a:rPr sz="2100" b="1">
                <a:solidFill>
                  <a:srgbClr val="007F82"/>
                </a:solidFill>
                <a:latin typeface="Helvetica Neue"/>
                <a:ea typeface="Helvetica Neue"/>
                <a:cs typeface="Helvetica Neue"/>
              </a:rPr>
              <a:t>•</a:t>
            </a:r>
          </a:p>
        </p:txBody>
      </p:sp>
      <p:sp>
        <p:nvSpPr>
          <p:cNvPr id="5" name="Rectangle 4">
            <a:extLst>
              <a:ext uri="{FF2B5EF4-FFF2-40B4-BE49-F238E27FC236}">
                <a16:creationId xmlns:a16="http://schemas.microsoft.com/office/drawing/2014/main" id="{5ED0AFF8-79FF-40F6-B0F7-895CC52F31A1}"/>
              </a:ext>
            </a:extLst>
          </p:cNvPr>
          <p:cNvSpPr>
            <a:spLocks noGrp="1"/>
          </p:cNvSpPr>
          <p:nvPr/>
        </p:nvSpPr>
        <p:spPr>
          <a:xfrm>
            <a:off x="1000125" y="1619250"/>
            <a:ext cx="10334625" cy="723900"/>
          </a:xfrm>
          <a:prstGeom prst="rect">
            <a:avLst/>
          </a:prstGeom>
          <a:noFill/>
          <a:ln w="0">
            <a:noFill/>
          </a:ln>
        </p:spPr>
        <p:txBody>
          <a:bodyPr lIns="0" tIns="0" rIns="0" bIns="0" anchor="t">
            <a:noAutofit/>
          </a:bodyPr>
          <a:lstStyle>
            <a:defPPr algn="l">
              <a:defRPr sz="2100" b="0">
                <a:solidFill>
                  <a:srgbClr val="142D4E"/>
                </a:solidFill>
                <a:latin typeface="Helvetica Neue"/>
                <a:ea typeface="Helvetica Neue"/>
                <a:cs typeface="Helvetica Neue"/>
              </a:defRPr>
            </a:defPPr>
            <a:lvl1pPr algn="l">
              <a:defRPr sz="2100" b="0">
                <a:solidFill>
                  <a:srgbClr val="142D4E"/>
                </a:solidFill>
                <a:latin typeface="Helvetica Neue"/>
                <a:ea typeface="Helvetica Neue"/>
                <a:cs typeface="Helvetica Neue"/>
              </a:defRPr>
            </a:lvl1pPr>
            <a:lvl2pPr algn="l">
              <a:defRPr sz="2100" b="0">
                <a:solidFill>
                  <a:srgbClr val="142D4E"/>
                </a:solidFill>
                <a:latin typeface="Helvetica Neue"/>
                <a:ea typeface="Helvetica Neue"/>
                <a:cs typeface="Helvetica Neue"/>
              </a:defRPr>
            </a:lvl2pPr>
            <a:lvl3pPr algn="l">
              <a:defRPr sz="2100" b="0">
                <a:solidFill>
                  <a:srgbClr val="142D4E"/>
                </a:solidFill>
                <a:latin typeface="Helvetica Neue"/>
                <a:ea typeface="Helvetica Neue"/>
                <a:cs typeface="Helvetica Neue"/>
              </a:defRPr>
            </a:lvl3pPr>
            <a:lvl4pPr algn="l">
              <a:defRPr sz="2100" b="0">
                <a:solidFill>
                  <a:srgbClr val="142D4E"/>
                </a:solidFill>
                <a:latin typeface="Helvetica Neue"/>
                <a:ea typeface="Helvetica Neue"/>
                <a:cs typeface="Helvetica Neue"/>
              </a:defRPr>
            </a:lvl4pPr>
            <a:lvl5pPr algn="l">
              <a:defRPr sz="2100" b="0">
                <a:solidFill>
                  <a:srgbClr val="142D4E"/>
                </a:solidFill>
                <a:latin typeface="Helvetica Neue"/>
                <a:ea typeface="Helvetica Neue"/>
                <a:cs typeface="Helvetica Neue"/>
              </a:defRPr>
            </a:lvl5pPr>
            <a:lvl6pPr algn="l">
              <a:defRPr sz="2100" b="0">
                <a:solidFill>
                  <a:srgbClr val="142D4E"/>
                </a:solidFill>
                <a:latin typeface="Helvetica Neue"/>
                <a:ea typeface="Helvetica Neue"/>
                <a:cs typeface="Helvetica Neue"/>
              </a:defRPr>
            </a:lvl6pPr>
            <a:lvl7pPr algn="l">
              <a:defRPr sz="2100" b="0">
                <a:solidFill>
                  <a:srgbClr val="142D4E"/>
                </a:solidFill>
                <a:latin typeface="Helvetica Neue"/>
                <a:ea typeface="Helvetica Neue"/>
                <a:cs typeface="Helvetica Neue"/>
              </a:defRPr>
            </a:lvl7pPr>
            <a:lvl8pPr algn="l">
              <a:defRPr sz="2100" b="0">
                <a:solidFill>
                  <a:srgbClr val="142D4E"/>
                </a:solidFill>
                <a:latin typeface="Helvetica Neue"/>
                <a:ea typeface="Helvetica Neue"/>
                <a:cs typeface="Helvetica Neue"/>
              </a:defRPr>
            </a:lvl8pPr>
            <a:lvl9pPr algn="l">
              <a:defRPr sz="2100" b="0">
                <a:solidFill>
                  <a:srgbClr val="142D4E"/>
                </a:solidFill>
                <a:latin typeface="Helvetica Neue"/>
                <a:ea typeface="Helvetica Neue"/>
                <a:cs typeface="Helvetica Neue"/>
              </a:defRPr>
            </a:lvl9pPr>
          </a:lstStyle>
          <a:p>
            <a:pPr algn="l">
              <a:defRPr sz="2100" b="0">
                <a:solidFill>
                  <a:srgbClr val="142D4E"/>
                </a:solidFill>
                <a:latin typeface="Helvetica Neue"/>
                <a:ea typeface="Helvetica Neue"/>
                <a:cs typeface="Helvetica Neue"/>
              </a:defRPr>
            </a:pPr>
            <a:r>
              <a:rPr sz="2100" b="0">
                <a:solidFill>
                  <a:srgbClr val="142D4E"/>
                </a:solidFill>
                <a:latin typeface="Helvetica Neue"/>
                <a:ea typeface="Helvetica Neue"/>
                <a:cs typeface="Helvetica Neue"/>
              </a:rPr>
              <a:t>Jupyter notebook provides training, sampling and evaluation code</a:t>
            </a:r>
          </a:p>
        </p:txBody>
      </p:sp>
      <p:sp>
        <p:nvSpPr>
          <p:cNvPr id="6" name="Rectangle 5">
            <a:extLst>
              <a:ext uri="{FF2B5EF4-FFF2-40B4-BE49-F238E27FC236}">
                <a16:creationId xmlns:a16="http://schemas.microsoft.com/office/drawing/2014/main" id="{D2427CD6-848C-4374-868B-27A7073A5EE9}"/>
              </a:ext>
            </a:extLst>
          </p:cNvPr>
          <p:cNvSpPr>
            <a:spLocks noGrp="1"/>
          </p:cNvSpPr>
          <p:nvPr/>
        </p:nvSpPr>
        <p:spPr>
          <a:xfrm>
            <a:off x="666750" y="2571750"/>
            <a:ext cx="228600" cy="457200"/>
          </a:xfrm>
          <a:prstGeom prst="rect">
            <a:avLst/>
          </a:prstGeom>
          <a:noFill/>
          <a:ln w="0">
            <a:noFill/>
          </a:ln>
        </p:spPr>
        <p:txBody>
          <a:bodyPr lIns="0" tIns="0" rIns="0" bIns="0" anchor="t">
            <a:noAutofit/>
          </a:bodyPr>
          <a:lstStyle>
            <a:defPPr algn="l">
              <a:defRPr sz="2100" b="1">
                <a:solidFill>
                  <a:srgbClr val="007F82"/>
                </a:solidFill>
                <a:latin typeface="Helvetica Neue"/>
                <a:ea typeface="Helvetica Neue"/>
                <a:cs typeface="Helvetica Neue"/>
              </a:defRPr>
            </a:defPPr>
            <a:lvl1pPr algn="l">
              <a:defRPr sz="2100" b="1">
                <a:solidFill>
                  <a:srgbClr val="007F82"/>
                </a:solidFill>
                <a:latin typeface="Helvetica Neue"/>
                <a:ea typeface="Helvetica Neue"/>
                <a:cs typeface="Helvetica Neue"/>
              </a:defRPr>
            </a:lvl1pPr>
            <a:lvl2pPr algn="l">
              <a:defRPr sz="2100" b="1">
                <a:solidFill>
                  <a:srgbClr val="007F82"/>
                </a:solidFill>
                <a:latin typeface="Helvetica Neue"/>
                <a:ea typeface="Helvetica Neue"/>
                <a:cs typeface="Helvetica Neue"/>
              </a:defRPr>
            </a:lvl2pPr>
            <a:lvl3pPr algn="l">
              <a:defRPr sz="2100" b="1">
                <a:solidFill>
                  <a:srgbClr val="007F82"/>
                </a:solidFill>
                <a:latin typeface="Helvetica Neue"/>
                <a:ea typeface="Helvetica Neue"/>
                <a:cs typeface="Helvetica Neue"/>
              </a:defRPr>
            </a:lvl3pPr>
            <a:lvl4pPr algn="l">
              <a:defRPr sz="2100" b="1">
                <a:solidFill>
                  <a:srgbClr val="007F82"/>
                </a:solidFill>
                <a:latin typeface="Helvetica Neue"/>
                <a:ea typeface="Helvetica Neue"/>
                <a:cs typeface="Helvetica Neue"/>
              </a:defRPr>
            </a:lvl4pPr>
            <a:lvl5pPr algn="l">
              <a:defRPr sz="2100" b="1">
                <a:solidFill>
                  <a:srgbClr val="007F82"/>
                </a:solidFill>
                <a:latin typeface="Helvetica Neue"/>
                <a:ea typeface="Helvetica Neue"/>
                <a:cs typeface="Helvetica Neue"/>
              </a:defRPr>
            </a:lvl5pPr>
            <a:lvl6pPr algn="l">
              <a:defRPr sz="2100" b="1">
                <a:solidFill>
                  <a:srgbClr val="007F82"/>
                </a:solidFill>
                <a:latin typeface="Helvetica Neue"/>
                <a:ea typeface="Helvetica Neue"/>
                <a:cs typeface="Helvetica Neue"/>
              </a:defRPr>
            </a:lvl6pPr>
            <a:lvl7pPr algn="l">
              <a:defRPr sz="2100" b="1">
                <a:solidFill>
                  <a:srgbClr val="007F82"/>
                </a:solidFill>
                <a:latin typeface="Helvetica Neue"/>
                <a:ea typeface="Helvetica Neue"/>
                <a:cs typeface="Helvetica Neue"/>
              </a:defRPr>
            </a:lvl7pPr>
            <a:lvl8pPr algn="l">
              <a:defRPr sz="2100" b="1">
                <a:solidFill>
                  <a:srgbClr val="007F82"/>
                </a:solidFill>
                <a:latin typeface="Helvetica Neue"/>
                <a:ea typeface="Helvetica Neue"/>
                <a:cs typeface="Helvetica Neue"/>
              </a:defRPr>
            </a:lvl8pPr>
            <a:lvl9pPr algn="l">
              <a:defRPr sz="2100" b="1">
                <a:solidFill>
                  <a:srgbClr val="007F82"/>
                </a:solidFill>
                <a:latin typeface="Helvetica Neue"/>
                <a:ea typeface="Helvetica Neue"/>
                <a:cs typeface="Helvetica Neue"/>
              </a:defRPr>
            </a:lvl9pPr>
          </a:lstStyle>
          <a:p>
            <a:pPr algn="l">
              <a:defRPr sz="2100" b="1">
                <a:solidFill>
                  <a:srgbClr val="007F82"/>
                </a:solidFill>
                <a:latin typeface="Helvetica Neue"/>
                <a:ea typeface="Helvetica Neue"/>
                <a:cs typeface="Helvetica Neue"/>
              </a:defRPr>
            </a:pPr>
            <a:r>
              <a:rPr sz="2100" b="1">
                <a:solidFill>
                  <a:srgbClr val="007F82"/>
                </a:solidFill>
                <a:latin typeface="Helvetica Neue"/>
                <a:ea typeface="Helvetica Neue"/>
                <a:cs typeface="Helvetica Neue"/>
              </a:rPr>
              <a:t>•</a:t>
            </a:r>
          </a:p>
        </p:txBody>
      </p:sp>
      <p:sp>
        <p:nvSpPr>
          <p:cNvPr id="7" name="Rectangle 6">
            <a:extLst>
              <a:ext uri="{FF2B5EF4-FFF2-40B4-BE49-F238E27FC236}">
                <a16:creationId xmlns:a16="http://schemas.microsoft.com/office/drawing/2014/main" id="{4CC46301-5ECA-4C84-AD98-6B12BB49D47E}"/>
              </a:ext>
            </a:extLst>
          </p:cNvPr>
          <p:cNvSpPr>
            <a:spLocks noGrp="1"/>
          </p:cNvSpPr>
          <p:nvPr/>
        </p:nvSpPr>
        <p:spPr>
          <a:xfrm>
            <a:off x="1000125" y="2571750"/>
            <a:ext cx="10334625" cy="723900"/>
          </a:xfrm>
          <a:prstGeom prst="rect">
            <a:avLst/>
          </a:prstGeom>
          <a:noFill/>
          <a:ln w="0">
            <a:noFill/>
          </a:ln>
        </p:spPr>
        <p:txBody>
          <a:bodyPr lIns="0" tIns="0" rIns="0" bIns="0" anchor="t">
            <a:noAutofit/>
          </a:bodyPr>
          <a:lstStyle>
            <a:defPPr algn="l">
              <a:defRPr sz="2100" b="0">
                <a:solidFill>
                  <a:srgbClr val="142D4E"/>
                </a:solidFill>
                <a:latin typeface="Helvetica Neue"/>
                <a:ea typeface="Helvetica Neue"/>
                <a:cs typeface="Helvetica Neue"/>
              </a:defRPr>
            </a:defPPr>
            <a:lvl1pPr algn="l">
              <a:defRPr sz="2100" b="0">
                <a:solidFill>
                  <a:srgbClr val="142D4E"/>
                </a:solidFill>
                <a:latin typeface="Helvetica Neue"/>
                <a:ea typeface="Helvetica Neue"/>
                <a:cs typeface="Helvetica Neue"/>
              </a:defRPr>
            </a:lvl1pPr>
            <a:lvl2pPr algn="l">
              <a:defRPr sz="2100" b="0">
                <a:solidFill>
                  <a:srgbClr val="142D4E"/>
                </a:solidFill>
                <a:latin typeface="Helvetica Neue"/>
                <a:ea typeface="Helvetica Neue"/>
                <a:cs typeface="Helvetica Neue"/>
              </a:defRPr>
            </a:lvl2pPr>
            <a:lvl3pPr algn="l">
              <a:defRPr sz="2100" b="0">
                <a:solidFill>
                  <a:srgbClr val="142D4E"/>
                </a:solidFill>
                <a:latin typeface="Helvetica Neue"/>
                <a:ea typeface="Helvetica Neue"/>
                <a:cs typeface="Helvetica Neue"/>
              </a:defRPr>
            </a:lvl3pPr>
            <a:lvl4pPr algn="l">
              <a:defRPr sz="2100" b="0">
                <a:solidFill>
                  <a:srgbClr val="142D4E"/>
                </a:solidFill>
                <a:latin typeface="Helvetica Neue"/>
                <a:ea typeface="Helvetica Neue"/>
                <a:cs typeface="Helvetica Neue"/>
              </a:defRPr>
            </a:lvl4pPr>
            <a:lvl5pPr algn="l">
              <a:defRPr sz="2100" b="0">
                <a:solidFill>
                  <a:srgbClr val="142D4E"/>
                </a:solidFill>
                <a:latin typeface="Helvetica Neue"/>
                <a:ea typeface="Helvetica Neue"/>
                <a:cs typeface="Helvetica Neue"/>
              </a:defRPr>
            </a:lvl5pPr>
            <a:lvl6pPr algn="l">
              <a:defRPr sz="2100" b="0">
                <a:solidFill>
                  <a:srgbClr val="142D4E"/>
                </a:solidFill>
                <a:latin typeface="Helvetica Neue"/>
                <a:ea typeface="Helvetica Neue"/>
                <a:cs typeface="Helvetica Neue"/>
              </a:defRPr>
            </a:lvl6pPr>
            <a:lvl7pPr algn="l">
              <a:defRPr sz="2100" b="0">
                <a:solidFill>
                  <a:srgbClr val="142D4E"/>
                </a:solidFill>
                <a:latin typeface="Helvetica Neue"/>
                <a:ea typeface="Helvetica Neue"/>
                <a:cs typeface="Helvetica Neue"/>
              </a:defRPr>
            </a:lvl7pPr>
            <a:lvl8pPr algn="l">
              <a:defRPr sz="2100" b="0">
                <a:solidFill>
                  <a:srgbClr val="142D4E"/>
                </a:solidFill>
                <a:latin typeface="Helvetica Neue"/>
                <a:ea typeface="Helvetica Neue"/>
                <a:cs typeface="Helvetica Neue"/>
              </a:defRPr>
            </a:lvl8pPr>
            <a:lvl9pPr algn="l">
              <a:defRPr sz="2100" b="0">
                <a:solidFill>
                  <a:srgbClr val="142D4E"/>
                </a:solidFill>
                <a:latin typeface="Helvetica Neue"/>
                <a:ea typeface="Helvetica Neue"/>
                <a:cs typeface="Helvetica Neue"/>
              </a:defRPr>
            </a:lvl9pPr>
          </a:lstStyle>
          <a:p>
            <a:pPr algn="l">
              <a:defRPr sz="2100" b="0">
                <a:solidFill>
                  <a:srgbClr val="142D4E"/>
                </a:solidFill>
                <a:latin typeface="Helvetica Neue"/>
                <a:ea typeface="Helvetica Neue"/>
                <a:cs typeface="Helvetica Neue"/>
              </a:defRPr>
            </a:pPr>
            <a:r>
              <a:rPr sz="2100" b="0">
                <a:solidFill>
                  <a:srgbClr val="142D4E"/>
                </a:solidFill>
                <a:latin typeface="Helvetica Neue"/>
                <a:ea typeface="Helvetica Neue"/>
                <a:cs typeface="Helvetica Neue"/>
              </a:rPr>
              <a:t>Final checkpoint stores raw and EMA weights plus training history</a:t>
            </a:r>
          </a:p>
        </p:txBody>
      </p:sp>
      <p:sp>
        <p:nvSpPr>
          <p:cNvPr id="8" name="Rectangle 7">
            <a:extLst>
              <a:ext uri="{FF2B5EF4-FFF2-40B4-BE49-F238E27FC236}">
                <a16:creationId xmlns:a16="http://schemas.microsoft.com/office/drawing/2014/main" id="{775C3184-C318-443D-A37E-649A6A1E3FC7}"/>
              </a:ext>
            </a:extLst>
          </p:cNvPr>
          <p:cNvSpPr>
            <a:spLocks noGrp="1"/>
          </p:cNvSpPr>
          <p:nvPr/>
        </p:nvSpPr>
        <p:spPr>
          <a:xfrm>
            <a:off x="666750" y="3524250"/>
            <a:ext cx="228600" cy="457200"/>
          </a:xfrm>
          <a:prstGeom prst="rect">
            <a:avLst/>
          </a:prstGeom>
          <a:noFill/>
          <a:ln w="0">
            <a:noFill/>
          </a:ln>
        </p:spPr>
        <p:txBody>
          <a:bodyPr lIns="0" tIns="0" rIns="0" bIns="0" anchor="t">
            <a:noAutofit/>
          </a:bodyPr>
          <a:lstStyle>
            <a:defPPr algn="l">
              <a:defRPr sz="2100" b="1">
                <a:solidFill>
                  <a:srgbClr val="007F82"/>
                </a:solidFill>
                <a:latin typeface="Helvetica Neue"/>
                <a:ea typeface="Helvetica Neue"/>
                <a:cs typeface="Helvetica Neue"/>
              </a:defRPr>
            </a:defPPr>
            <a:lvl1pPr algn="l">
              <a:defRPr sz="2100" b="1">
                <a:solidFill>
                  <a:srgbClr val="007F82"/>
                </a:solidFill>
                <a:latin typeface="Helvetica Neue"/>
                <a:ea typeface="Helvetica Neue"/>
                <a:cs typeface="Helvetica Neue"/>
              </a:defRPr>
            </a:lvl1pPr>
            <a:lvl2pPr algn="l">
              <a:defRPr sz="2100" b="1">
                <a:solidFill>
                  <a:srgbClr val="007F82"/>
                </a:solidFill>
                <a:latin typeface="Helvetica Neue"/>
                <a:ea typeface="Helvetica Neue"/>
                <a:cs typeface="Helvetica Neue"/>
              </a:defRPr>
            </a:lvl2pPr>
            <a:lvl3pPr algn="l">
              <a:defRPr sz="2100" b="1">
                <a:solidFill>
                  <a:srgbClr val="007F82"/>
                </a:solidFill>
                <a:latin typeface="Helvetica Neue"/>
                <a:ea typeface="Helvetica Neue"/>
                <a:cs typeface="Helvetica Neue"/>
              </a:defRPr>
            </a:lvl3pPr>
            <a:lvl4pPr algn="l">
              <a:defRPr sz="2100" b="1">
                <a:solidFill>
                  <a:srgbClr val="007F82"/>
                </a:solidFill>
                <a:latin typeface="Helvetica Neue"/>
                <a:ea typeface="Helvetica Neue"/>
                <a:cs typeface="Helvetica Neue"/>
              </a:defRPr>
            </a:lvl4pPr>
            <a:lvl5pPr algn="l">
              <a:defRPr sz="2100" b="1">
                <a:solidFill>
                  <a:srgbClr val="007F82"/>
                </a:solidFill>
                <a:latin typeface="Helvetica Neue"/>
                <a:ea typeface="Helvetica Neue"/>
                <a:cs typeface="Helvetica Neue"/>
              </a:defRPr>
            </a:lvl5pPr>
            <a:lvl6pPr algn="l">
              <a:defRPr sz="2100" b="1">
                <a:solidFill>
                  <a:srgbClr val="007F82"/>
                </a:solidFill>
                <a:latin typeface="Helvetica Neue"/>
                <a:ea typeface="Helvetica Neue"/>
                <a:cs typeface="Helvetica Neue"/>
              </a:defRPr>
            </a:lvl6pPr>
            <a:lvl7pPr algn="l">
              <a:defRPr sz="2100" b="1">
                <a:solidFill>
                  <a:srgbClr val="007F82"/>
                </a:solidFill>
                <a:latin typeface="Helvetica Neue"/>
                <a:ea typeface="Helvetica Neue"/>
                <a:cs typeface="Helvetica Neue"/>
              </a:defRPr>
            </a:lvl7pPr>
            <a:lvl8pPr algn="l">
              <a:defRPr sz="2100" b="1">
                <a:solidFill>
                  <a:srgbClr val="007F82"/>
                </a:solidFill>
                <a:latin typeface="Helvetica Neue"/>
                <a:ea typeface="Helvetica Neue"/>
                <a:cs typeface="Helvetica Neue"/>
              </a:defRPr>
            </a:lvl8pPr>
            <a:lvl9pPr algn="l">
              <a:defRPr sz="2100" b="1">
                <a:solidFill>
                  <a:srgbClr val="007F82"/>
                </a:solidFill>
                <a:latin typeface="Helvetica Neue"/>
                <a:ea typeface="Helvetica Neue"/>
                <a:cs typeface="Helvetica Neue"/>
              </a:defRPr>
            </a:lvl9pPr>
          </a:lstStyle>
          <a:p>
            <a:pPr algn="l">
              <a:defRPr sz="2100" b="1">
                <a:solidFill>
                  <a:srgbClr val="007F82"/>
                </a:solidFill>
                <a:latin typeface="Helvetica Neue"/>
                <a:ea typeface="Helvetica Neue"/>
                <a:cs typeface="Helvetica Neue"/>
              </a:defRPr>
            </a:pPr>
            <a:r>
              <a:rPr sz="2100" b="1">
                <a:solidFill>
                  <a:srgbClr val="007F82"/>
                </a:solidFill>
                <a:latin typeface="Helvetica Neue"/>
                <a:ea typeface="Helvetica Neue"/>
                <a:cs typeface="Helvetica Neue"/>
              </a:rPr>
              <a:t>•</a:t>
            </a:r>
          </a:p>
        </p:txBody>
      </p:sp>
      <p:sp>
        <p:nvSpPr>
          <p:cNvPr id="9" name="Rectangle 8">
            <a:extLst>
              <a:ext uri="{FF2B5EF4-FFF2-40B4-BE49-F238E27FC236}">
                <a16:creationId xmlns:a16="http://schemas.microsoft.com/office/drawing/2014/main" id="{C5B14AD8-B7FB-4619-93EE-936F8B107D6E}"/>
              </a:ext>
            </a:extLst>
          </p:cNvPr>
          <p:cNvSpPr>
            <a:spLocks noGrp="1"/>
          </p:cNvSpPr>
          <p:nvPr/>
        </p:nvSpPr>
        <p:spPr>
          <a:xfrm>
            <a:off x="1000125" y="3524250"/>
            <a:ext cx="10334625" cy="723900"/>
          </a:xfrm>
          <a:prstGeom prst="rect">
            <a:avLst/>
          </a:prstGeom>
          <a:noFill/>
          <a:ln w="0">
            <a:noFill/>
          </a:ln>
        </p:spPr>
        <p:txBody>
          <a:bodyPr lIns="0" tIns="0" rIns="0" bIns="0" anchor="t">
            <a:noAutofit/>
          </a:bodyPr>
          <a:lstStyle>
            <a:defPPr algn="l">
              <a:defRPr sz="2100" b="0">
                <a:solidFill>
                  <a:srgbClr val="142D4E"/>
                </a:solidFill>
                <a:latin typeface="Helvetica Neue"/>
                <a:ea typeface="Helvetica Neue"/>
                <a:cs typeface="Helvetica Neue"/>
              </a:defRPr>
            </a:defPPr>
            <a:lvl1pPr algn="l">
              <a:defRPr sz="2100" b="0">
                <a:solidFill>
                  <a:srgbClr val="142D4E"/>
                </a:solidFill>
                <a:latin typeface="Helvetica Neue"/>
                <a:ea typeface="Helvetica Neue"/>
                <a:cs typeface="Helvetica Neue"/>
              </a:defRPr>
            </a:lvl1pPr>
            <a:lvl2pPr algn="l">
              <a:defRPr sz="2100" b="0">
                <a:solidFill>
                  <a:srgbClr val="142D4E"/>
                </a:solidFill>
                <a:latin typeface="Helvetica Neue"/>
                <a:ea typeface="Helvetica Neue"/>
                <a:cs typeface="Helvetica Neue"/>
              </a:defRPr>
            </a:lvl2pPr>
            <a:lvl3pPr algn="l">
              <a:defRPr sz="2100" b="0">
                <a:solidFill>
                  <a:srgbClr val="142D4E"/>
                </a:solidFill>
                <a:latin typeface="Helvetica Neue"/>
                <a:ea typeface="Helvetica Neue"/>
                <a:cs typeface="Helvetica Neue"/>
              </a:defRPr>
            </a:lvl3pPr>
            <a:lvl4pPr algn="l">
              <a:defRPr sz="2100" b="0">
                <a:solidFill>
                  <a:srgbClr val="142D4E"/>
                </a:solidFill>
                <a:latin typeface="Helvetica Neue"/>
                <a:ea typeface="Helvetica Neue"/>
                <a:cs typeface="Helvetica Neue"/>
              </a:defRPr>
            </a:lvl4pPr>
            <a:lvl5pPr algn="l">
              <a:defRPr sz="2100" b="0">
                <a:solidFill>
                  <a:srgbClr val="142D4E"/>
                </a:solidFill>
                <a:latin typeface="Helvetica Neue"/>
                <a:ea typeface="Helvetica Neue"/>
                <a:cs typeface="Helvetica Neue"/>
              </a:defRPr>
            </a:lvl5pPr>
            <a:lvl6pPr algn="l">
              <a:defRPr sz="2100" b="0">
                <a:solidFill>
                  <a:srgbClr val="142D4E"/>
                </a:solidFill>
                <a:latin typeface="Helvetica Neue"/>
                <a:ea typeface="Helvetica Neue"/>
                <a:cs typeface="Helvetica Neue"/>
              </a:defRPr>
            </a:lvl6pPr>
            <a:lvl7pPr algn="l">
              <a:defRPr sz="2100" b="0">
                <a:solidFill>
                  <a:srgbClr val="142D4E"/>
                </a:solidFill>
                <a:latin typeface="Helvetica Neue"/>
                <a:ea typeface="Helvetica Neue"/>
                <a:cs typeface="Helvetica Neue"/>
              </a:defRPr>
            </a:lvl7pPr>
            <a:lvl8pPr algn="l">
              <a:defRPr sz="2100" b="0">
                <a:solidFill>
                  <a:srgbClr val="142D4E"/>
                </a:solidFill>
                <a:latin typeface="Helvetica Neue"/>
                <a:ea typeface="Helvetica Neue"/>
                <a:cs typeface="Helvetica Neue"/>
              </a:defRPr>
            </a:lvl8pPr>
            <a:lvl9pPr algn="l">
              <a:defRPr sz="2100" b="0">
                <a:solidFill>
                  <a:srgbClr val="142D4E"/>
                </a:solidFill>
                <a:latin typeface="Helvetica Neue"/>
                <a:ea typeface="Helvetica Neue"/>
                <a:cs typeface="Helvetica Neue"/>
              </a:defRPr>
            </a:lvl9pPr>
          </a:lstStyle>
          <a:p>
            <a:pPr algn="l">
              <a:defRPr sz="2100" b="0">
                <a:solidFill>
                  <a:srgbClr val="142D4E"/>
                </a:solidFill>
                <a:latin typeface="Helvetica Neue"/>
                <a:ea typeface="Helvetica Neue"/>
                <a:cs typeface="Helvetica Neue"/>
              </a:defRPr>
            </a:pPr>
            <a:r>
              <a:rPr sz="2100" b="0">
                <a:solidFill>
                  <a:srgbClr val="142D4E"/>
                </a:solidFill>
                <a:latin typeface="Helvetica Neue"/>
                <a:ea typeface="Helvetica Neue"/>
                <a:cs typeface="Helvetica Neue"/>
              </a:rPr>
              <a:t>Resume checkpoint adds optimizer state, epoch and step count</a:t>
            </a:r>
          </a:p>
        </p:txBody>
      </p:sp>
      <p:sp>
        <p:nvSpPr>
          <p:cNvPr id="10" name="Rectangle 9">
            <a:extLst>
              <a:ext uri="{FF2B5EF4-FFF2-40B4-BE49-F238E27FC236}">
                <a16:creationId xmlns:a16="http://schemas.microsoft.com/office/drawing/2014/main" id="{D27C858A-DD5A-4810-B41D-B5721F36E958}"/>
              </a:ext>
            </a:extLst>
          </p:cNvPr>
          <p:cNvSpPr>
            <a:spLocks noGrp="1"/>
          </p:cNvSpPr>
          <p:nvPr/>
        </p:nvSpPr>
        <p:spPr>
          <a:xfrm>
            <a:off x="666750" y="4476750"/>
            <a:ext cx="228600" cy="457200"/>
          </a:xfrm>
          <a:prstGeom prst="rect">
            <a:avLst/>
          </a:prstGeom>
          <a:noFill/>
          <a:ln w="0">
            <a:noFill/>
          </a:ln>
        </p:spPr>
        <p:txBody>
          <a:bodyPr lIns="0" tIns="0" rIns="0" bIns="0" anchor="t">
            <a:noAutofit/>
          </a:bodyPr>
          <a:lstStyle>
            <a:defPPr algn="l">
              <a:defRPr sz="2100" b="1">
                <a:solidFill>
                  <a:srgbClr val="007F82"/>
                </a:solidFill>
                <a:latin typeface="Helvetica Neue"/>
                <a:ea typeface="Helvetica Neue"/>
                <a:cs typeface="Helvetica Neue"/>
              </a:defRPr>
            </a:defPPr>
            <a:lvl1pPr algn="l">
              <a:defRPr sz="2100" b="1">
                <a:solidFill>
                  <a:srgbClr val="007F82"/>
                </a:solidFill>
                <a:latin typeface="Helvetica Neue"/>
                <a:ea typeface="Helvetica Neue"/>
                <a:cs typeface="Helvetica Neue"/>
              </a:defRPr>
            </a:lvl1pPr>
            <a:lvl2pPr algn="l">
              <a:defRPr sz="2100" b="1">
                <a:solidFill>
                  <a:srgbClr val="007F82"/>
                </a:solidFill>
                <a:latin typeface="Helvetica Neue"/>
                <a:ea typeface="Helvetica Neue"/>
                <a:cs typeface="Helvetica Neue"/>
              </a:defRPr>
            </a:lvl2pPr>
            <a:lvl3pPr algn="l">
              <a:defRPr sz="2100" b="1">
                <a:solidFill>
                  <a:srgbClr val="007F82"/>
                </a:solidFill>
                <a:latin typeface="Helvetica Neue"/>
                <a:ea typeface="Helvetica Neue"/>
                <a:cs typeface="Helvetica Neue"/>
              </a:defRPr>
            </a:lvl3pPr>
            <a:lvl4pPr algn="l">
              <a:defRPr sz="2100" b="1">
                <a:solidFill>
                  <a:srgbClr val="007F82"/>
                </a:solidFill>
                <a:latin typeface="Helvetica Neue"/>
                <a:ea typeface="Helvetica Neue"/>
                <a:cs typeface="Helvetica Neue"/>
              </a:defRPr>
            </a:lvl4pPr>
            <a:lvl5pPr algn="l">
              <a:defRPr sz="2100" b="1">
                <a:solidFill>
                  <a:srgbClr val="007F82"/>
                </a:solidFill>
                <a:latin typeface="Helvetica Neue"/>
                <a:ea typeface="Helvetica Neue"/>
                <a:cs typeface="Helvetica Neue"/>
              </a:defRPr>
            </a:lvl5pPr>
            <a:lvl6pPr algn="l">
              <a:defRPr sz="2100" b="1">
                <a:solidFill>
                  <a:srgbClr val="007F82"/>
                </a:solidFill>
                <a:latin typeface="Helvetica Neue"/>
                <a:ea typeface="Helvetica Neue"/>
                <a:cs typeface="Helvetica Neue"/>
              </a:defRPr>
            </a:lvl6pPr>
            <a:lvl7pPr algn="l">
              <a:defRPr sz="2100" b="1">
                <a:solidFill>
                  <a:srgbClr val="007F82"/>
                </a:solidFill>
                <a:latin typeface="Helvetica Neue"/>
                <a:ea typeface="Helvetica Neue"/>
                <a:cs typeface="Helvetica Neue"/>
              </a:defRPr>
            </a:lvl7pPr>
            <a:lvl8pPr algn="l">
              <a:defRPr sz="2100" b="1">
                <a:solidFill>
                  <a:srgbClr val="007F82"/>
                </a:solidFill>
                <a:latin typeface="Helvetica Neue"/>
                <a:ea typeface="Helvetica Neue"/>
                <a:cs typeface="Helvetica Neue"/>
              </a:defRPr>
            </a:lvl8pPr>
            <a:lvl9pPr algn="l">
              <a:defRPr sz="2100" b="1">
                <a:solidFill>
                  <a:srgbClr val="007F82"/>
                </a:solidFill>
                <a:latin typeface="Helvetica Neue"/>
                <a:ea typeface="Helvetica Neue"/>
                <a:cs typeface="Helvetica Neue"/>
              </a:defRPr>
            </a:lvl9pPr>
          </a:lstStyle>
          <a:p>
            <a:pPr algn="l">
              <a:defRPr sz="2100" b="1">
                <a:solidFill>
                  <a:srgbClr val="007F82"/>
                </a:solidFill>
                <a:latin typeface="Helvetica Neue"/>
                <a:ea typeface="Helvetica Neue"/>
                <a:cs typeface="Helvetica Neue"/>
              </a:defRPr>
            </a:pPr>
            <a:r>
              <a:rPr sz="2100" b="1">
                <a:solidFill>
                  <a:srgbClr val="007F82"/>
                </a:solidFill>
                <a:latin typeface="Helvetica Neue"/>
                <a:ea typeface="Helvetica Neue"/>
                <a:cs typeface="Helvetica Neue"/>
              </a:rPr>
              <a:t>•</a:t>
            </a:r>
          </a:p>
        </p:txBody>
      </p:sp>
      <p:sp>
        <p:nvSpPr>
          <p:cNvPr id="11" name="Rectangle 10">
            <a:extLst>
              <a:ext uri="{FF2B5EF4-FFF2-40B4-BE49-F238E27FC236}">
                <a16:creationId xmlns:a16="http://schemas.microsoft.com/office/drawing/2014/main" id="{A008A3E3-2F78-4578-8E00-68120CC28004}"/>
              </a:ext>
            </a:extLst>
          </p:cNvPr>
          <p:cNvSpPr>
            <a:spLocks noGrp="1"/>
          </p:cNvSpPr>
          <p:nvPr/>
        </p:nvSpPr>
        <p:spPr>
          <a:xfrm>
            <a:off x="1000125" y="4476750"/>
            <a:ext cx="10334625" cy="723900"/>
          </a:xfrm>
          <a:prstGeom prst="rect">
            <a:avLst/>
          </a:prstGeom>
          <a:noFill/>
          <a:ln w="0">
            <a:noFill/>
          </a:ln>
        </p:spPr>
        <p:txBody>
          <a:bodyPr lIns="0" tIns="0" rIns="0" bIns="0" anchor="t">
            <a:noAutofit/>
          </a:bodyPr>
          <a:lstStyle>
            <a:defPPr algn="l">
              <a:defRPr sz="2100" b="0">
                <a:solidFill>
                  <a:srgbClr val="142D4E"/>
                </a:solidFill>
                <a:latin typeface="Helvetica Neue"/>
                <a:ea typeface="Helvetica Neue"/>
                <a:cs typeface="Helvetica Neue"/>
              </a:defRPr>
            </a:defPPr>
            <a:lvl1pPr algn="l">
              <a:defRPr sz="2100" b="0">
                <a:solidFill>
                  <a:srgbClr val="142D4E"/>
                </a:solidFill>
                <a:latin typeface="Helvetica Neue"/>
                <a:ea typeface="Helvetica Neue"/>
                <a:cs typeface="Helvetica Neue"/>
              </a:defRPr>
            </a:lvl1pPr>
            <a:lvl2pPr algn="l">
              <a:defRPr sz="2100" b="0">
                <a:solidFill>
                  <a:srgbClr val="142D4E"/>
                </a:solidFill>
                <a:latin typeface="Helvetica Neue"/>
                <a:ea typeface="Helvetica Neue"/>
                <a:cs typeface="Helvetica Neue"/>
              </a:defRPr>
            </a:lvl2pPr>
            <a:lvl3pPr algn="l">
              <a:defRPr sz="2100" b="0">
                <a:solidFill>
                  <a:srgbClr val="142D4E"/>
                </a:solidFill>
                <a:latin typeface="Helvetica Neue"/>
                <a:ea typeface="Helvetica Neue"/>
                <a:cs typeface="Helvetica Neue"/>
              </a:defRPr>
            </a:lvl3pPr>
            <a:lvl4pPr algn="l">
              <a:defRPr sz="2100" b="0">
                <a:solidFill>
                  <a:srgbClr val="142D4E"/>
                </a:solidFill>
                <a:latin typeface="Helvetica Neue"/>
                <a:ea typeface="Helvetica Neue"/>
                <a:cs typeface="Helvetica Neue"/>
              </a:defRPr>
            </a:lvl4pPr>
            <a:lvl5pPr algn="l">
              <a:defRPr sz="2100" b="0">
                <a:solidFill>
                  <a:srgbClr val="142D4E"/>
                </a:solidFill>
                <a:latin typeface="Helvetica Neue"/>
                <a:ea typeface="Helvetica Neue"/>
                <a:cs typeface="Helvetica Neue"/>
              </a:defRPr>
            </a:lvl5pPr>
            <a:lvl6pPr algn="l">
              <a:defRPr sz="2100" b="0">
                <a:solidFill>
                  <a:srgbClr val="142D4E"/>
                </a:solidFill>
                <a:latin typeface="Helvetica Neue"/>
                <a:ea typeface="Helvetica Neue"/>
                <a:cs typeface="Helvetica Neue"/>
              </a:defRPr>
            </a:lvl6pPr>
            <a:lvl7pPr algn="l">
              <a:defRPr sz="2100" b="0">
                <a:solidFill>
                  <a:srgbClr val="142D4E"/>
                </a:solidFill>
                <a:latin typeface="Helvetica Neue"/>
                <a:ea typeface="Helvetica Neue"/>
                <a:cs typeface="Helvetica Neue"/>
              </a:defRPr>
            </a:lvl7pPr>
            <a:lvl8pPr algn="l">
              <a:defRPr sz="2100" b="0">
                <a:solidFill>
                  <a:srgbClr val="142D4E"/>
                </a:solidFill>
                <a:latin typeface="Helvetica Neue"/>
                <a:ea typeface="Helvetica Neue"/>
                <a:cs typeface="Helvetica Neue"/>
              </a:defRPr>
            </a:lvl8pPr>
            <a:lvl9pPr algn="l">
              <a:defRPr sz="2100" b="0">
                <a:solidFill>
                  <a:srgbClr val="142D4E"/>
                </a:solidFill>
                <a:latin typeface="Helvetica Neue"/>
                <a:ea typeface="Helvetica Neue"/>
                <a:cs typeface="Helvetica Neue"/>
              </a:defRPr>
            </a:lvl9pPr>
          </a:lstStyle>
          <a:p>
            <a:pPr algn="l">
              <a:defRPr sz="2100" b="0">
                <a:solidFill>
                  <a:srgbClr val="142D4E"/>
                </a:solidFill>
                <a:latin typeface="Helvetica Neue"/>
                <a:ea typeface="Helvetica Neue"/>
                <a:cs typeface="Helvetica Neue"/>
              </a:defRPr>
            </a:pPr>
            <a:r>
              <a:rPr sz="2100" b="0">
                <a:solidFill>
                  <a:srgbClr val="142D4E"/>
                </a:solidFill>
                <a:latin typeface="Helvetica Neue"/>
                <a:ea typeface="Helvetica Neue"/>
                <a:cs typeface="Helvetica Neue"/>
              </a:rPr>
              <a:t>Main-model loading requires the saved 32-channel architecture</a:t>
            </a:r>
          </a:p>
        </p:txBody>
      </p:sp>
      <p:sp>
        <p:nvSpPr>
          <p:cNvPr id="12" name="Rectangle 11">
            <a:extLst>
              <a:ext uri="{FF2B5EF4-FFF2-40B4-BE49-F238E27FC236}">
                <a16:creationId xmlns:a16="http://schemas.microsoft.com/office/drawing/2014/main" id="{43B7DF09-BDD9-4834-AF87-DAB13E989FEA}"/>
              </a:ext>
            </a:extLst>
          </p:cNvPr>
          <p:cNvSpPr>
            <a:spLocks noGrp="1"/>
          </p:cNvSpPr>
          <p:nvPr/>
        </p:nvSpPr>
        <p:spPr>
          <a:xfrm>
            <a:off x="666750" y="5791200"/>
            <a:ext cx="10668000" cy="476250"/>
          </a:xfrm>
          <a:prstGeom prst="rect">
            <a:avLst/>
          </a:prstGeom>
          <a:noFill/>
          <a:ln w="0">
            <a:noFill/>
          </a:ln>
        </p:spPr>
        <p:txBody>
          <a:bodyPr lIns="0" tIns="0" rIns="0" bIns="0" anchor="t">
            <a:noAutofit/>
          </a:bodyPr>
          <a:lstStyle>
            <a:defPPr algn="l">
              <a:defRPr sz="1875" b="1">
                <a:solidFill>
                  <a:srgbClr val="A65F13"/>
                </a:solidFill>
                <a:latin typeface="Helvetica Neue"/>
                <a:ea typeface="Helvetica Neue"/>
                <a:cs typeface="Helvetica Neue"/>
              </a:defRPr>
            </a:defPPr>
            <a:lvl1pPr algn="l">
              <a:defRPr sz="1875" b="1">
                <a:solidFill>
                  <a:srgbClr val="A65F13"/>
                </a:solidFill>
                <a:latin typeface="Helvetica Neue"/>
                <a:ea typeface="Helvetica Neue"/>
                <a:cs typeface="Helvetica Neue"/>
              </a:defRPr>
            </a:lvl1pPr>
            <a:lvl2pPr algn="l">
              <a:defRPr sz="1875" b="1">
                <a:solidFill>
                  <a:srgbClr val="A65F13"/>
                </a:solidFill>
                <a:latin typeface="Helvetica Neue"/>
                <a:ea typeface="Helvetica Neue"/>
                <a:cs typeface="Helvetica Neue"/>
              </a:defRPr>
            </a:lvl2pPr>
            <a:lvl3pPr algn="l">
              <a:defRPr sz="1875" b="1">
                <a:solidFill>
                  <a:srgbClr val="A65F13"/>
                </a:solidFill>
                <a:latin typeface="Helvetica Neue"/>
                <a:ea typeface="Helvetica Neue"/>
                <a:cs typeface="Helvetica Neue"/>
              </a:defRPr>
            </a:lvl3pPr>
            <a:lvl4pPr algn="l">
              <a:defRPr sz="1875" b="1">
                <a:solidFill>
                  <a:srgbClr val="A65F13"/>
                </a:solidFill>
                <a:latin typeface="Helvetica Neue"/>
                <a:ea typeface="Helvetica Neue"/>
                <a:cs typeface="Helvetica Neue"/>
              </a:defRPr>
            </a:lvl4pPr>
            <a:lvl5pPr algn="l">
              <a:defRPr sz="1875" b="1">
                <a:solidFill>
                  <a:srgbClr val="A65F13"/>
                </a:solidFill>
                <a:latin typeface="Helvetica Neue"/>
                <a:ea typeface="Helvetica Neue"/>
                <a:cs typeface="Helvetica Neue"/>
              </a:defRPr>
            </a:lvl5pPr>
            <a:lvl6pPr algn="l">
              <a:defRPr sz="1875" b="1">
                <a:solidFill>
                  <a:srgbClr val="A65F13"/>
                </a:solidFill>
                <a:latin typeface="Helvetica Neue"/>
                <a:ea typeface="Helvetica Neue"/>
                <a:cs typeface="Helvetica Neue"/>
              </a:defRPr>
            </a:lvl6pPr>
            <a:lvl7pPr algn="l">
              <a:defRPr sz="1875" b="1">
                <a:solidFill>
                  <a:srgbClr val="A65F13"/>
                </a:solidFill>
                <a:latin typeface="Helvetica Neue"/>
                <a:ea typeface="Helvetica Neue"/>
                <a:cs typeface="Helvetica Neue"/>
              </a:defRPr>
            </a:lvl7pPr>
            <a:lvl8pPr algn="l">
              <a:defRPr sz="1875" b="1">
                <a:solidFill>
                  <a:srgbClr val="A65F13"/>
                </a:solidFill>
                <a:latin typeface="Helvetica Neue"/>
                <a:ea typeface="Helvetica Neue"/>
                <a:cs typeface="Helvetica Neue"/>
              </a:defRPr>
            </a:lvl8pPr>
            <a:lvl9pPr algn="l">
              <a:defRPr sz="1875" b="1">
                <a:solidFill>
                  <a:srgbClr val="A65F13"/>
                </a:solidFill>
                <a:latin typeface="Helvetica Neue"/>
                <a:ea typeface="Helvetica Neue"/>
                <a:cs typeface="Helvetica Neue"/>
              </a:defRPr>
            </a:lvl9pPr>
          </a:lstStyle>
          <a:p>
            <a:pPr algn="l">
              <a:defRPr sz="1875" b="1">
                <a:solidFill>
                  <a:srgbClr val="A65F13"/>
                </a:solidFill>
                <a:latin typeface="Helvetica Neue"/>
                <a:ea typeface="Helvetica Neue"/>
                <a:cs typeface="Helvetica Neue"/>
              </a:defRPr>
            </a:pPr>
            <a:r>
              <a:rPr sz="1875" b="1">
                <a:solidFill>
                  <a:srgbClr val="A65F13"/>
                </a:solidFill>
                <a:latin typeface="Helvetica Neue"/>
                <a:ea typeface="Helvetica Neue"/>
                <a:cs typeface="Helvetica Neue"/>
              </a:rPr>
              <a:t>No Streamlit application or production endpoint is documented</a:t>
            </a:r>
          </a:p>
        </p:txBody>
      </p:sp>
    </p:spTree>
    <p:extLst>
      <p:ext uri="{BB962C8B-B14F-4D97-AF65-F5344CB8AC3E}">
        <p14:creationId xmlns:p14="http://schemas.microsoft.com/office/powerpoint/2010/main" val="926606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cxnSp>
        <p:nvCxnSpPr>
          <p:cNvPr id="18" name="Straight Arrow Connector 17">
            <a:extLst>
              <a:ext uri="{FF2B5EF4-FFF2-40B4-BE49-F238E27FC236}">
                <a16:creationId xmlns:a16="http://schemas.microsoft.com/office/drawing/2014/main" id="{17175EBB-DFDC-49EB-8057-097549A2FA6D}"/>
              </a:ext>
            </a:extLst>
          </p:cNvPr>
          <p:cNvCxnSpPr>
            <a:stCxn id="7" idx="2"/>
            <a:endCxn id="13" idx="0"/>
          </p:cNvCxnSpPr>
          <p:nvPr/>
        </p:nvCxnSpPr>
        <p:spPr>
          <a:xfrm flipH="1">
            <a:off x="4572000" y="2428875"/>
            <a:ext cx="5953125" cy="1905000"/>
          </a:xfrm>
          <a:prstGeom prst="straightConnector1">
            <a:avLst/>
          </a:prstGeom>
          <a:ln w="19050">
            <a:solidFill>
              <a:srgbClr val="007F82"/>
            </a:solidFill>
            <a:prstDash val="solid"/>
            <a:tailEnd type="triangle" w="med" len="med"/>
          </a:ln>
        </p:spPr>
      </p:cxnSp>
      <p:cxnSp>
        <p:nvCxnSpPr>
          <p:cNvPr id="17" name="Straight Arrow Connector 16">
            <a:extLst>
              <a:ext uri="{FF2B5EF4-FFF2-40B4-BE49-F238E27FC236}">
                <a16:creationId xmlns:a16="http://schemas.microsoft.com/office/drawing/2014/main" id="{17D7D05E-741F-4597-95BD-6D80590C555B}"/>
              </a:ext>
            </a:extLst>
          </p:cNvPr>
          <p:cNvCxnSpPr>
            <a:stCxn id="14" idx="3"/>
            <a:endCxn id="15" idx="1"/>
          </p:cNvCxnSpPr>
          <p:nvPr/>
        </p:nvCxnSpPr>
        <p:spPr>
          <a:xfrm>
            <a:off x="8620125" y="4786313"/>
            <a:ext cx="809625" cy="0"/>
          </a:xfrm>
          <a:prstGeom prst="straightConnector1">
            <a:avLst/>
          </a:prstGeom>
          <a:ln w="19050">
            <a:solidFill>
              <a:srgbClr val="007F82"/>
            </a:solidFill>
            <a:prstDash val="dash"/>
            <a:tailEnd type="triangle" w="med" len="med"/>
          </a:ln>
        </p:spPr>
      </p:cxnSp>
      <p:cxnSp>
        <p:nvCxnSpPr>
          <p:cNvPr id="16" name="Straight Arrow Connector 15">
            <a:extLst>
              <a:ext uri="{FF2B5EF4-FFF2-40B4-BE49-F238E27FC236}">
                <a16:creationId xmlns:a16="http://schemas.microsoft.com/office/drawing/2014/main" id="{DFCC2F04-94C9-43F5-913F-F329F2B50A00}"/>
              </a:ext>
            </a:extLst>
          </p:cNvPr>
          <p:cNvCxnSpPr>
            <a:stCxn id="13" idx="3"/>
            <a:endCxn id="14" idx="1"/>
          </p:cNvCxnSpPr>
          <p:nvPr/>
        </p:nvCxnSpPr>
        <p:spPr>
          <a:xfrm>
            <a:off x="5667375" y="4786313"/>
            <a:ext cx="762000" cy="0"/>
          </a:xfrm>
          <a:prstGeom prst="straightConnector1">
            <a:avLst/>
          </a:prstGeom>
          <a:ln w="19050">
            <a:solidFill>
              <a:srgbClr val="007F82"/>
            </a:solidFill>
            <a:prstDash val="solid"/>
            <a:tailEnd type="triangle" w="med" len="med"/>
          </a:ln>
        </p:spPr>
      </p:cxnSp>
      <p:cxnSp>
        <p:nvCxnSpPr>
          <p:cNvPr id="12" name="Straight Arrow Connector 11">
            <a:extLst>
              <a:ext uri="{FF2B5EF4-FFF2-40B4-BE49-F238E27FC236}">
                <a16:creationId xmlns:a16="http://schemas.microsoft.com/office/drawing/2014/main" id="{BCEBEC61-7F60-4476-BFEA-3DBD87D64711}"/>
              </a:ext>
            </a:extLst>
          </p:cNvPr>
          <p:cNvCxnSpPr>
            <a:stCxn id="4" idx="2"/>
            <a:endCxn id="11" idx="0"/>
          </p:cNvCxnSpPr>
          <p:nvPr/>
        </p:nvCxnSpPr>
        <p:spPr>
          <a:xfrm>
            <a:off x="1666875" y="2428875"/>
            <a:ext cx="0" cy="1905000"/>
          </a:xfrm>
          <a:prstGeom prst="straightConnector1">
            <a:avLst/>
          </a:prstGeom>
          <a:ln w="19050">
            <a:solidFill>
              <a:srgbClr val="007F82"/>
            </a:solidFill>
            <a:prstDash val="solid"/>
            <a:tailEnd type="triangle" w="med" len="med"/>
          </a:ln>
        </p:spPr>
      </p:cxnSp>
      <p:cxnSp>
        <p:nvCxnSpPr>
          <p:cNvPr id="10" name="Straight Arrow Connector 9">
            <a:extLst>
              <a:ext uri="{FF2B5EF4-FFF2-40B4-BE49-F238E27FC236}">
                <a16:creationId xmlns:a16="http://schemas.microsoft.com/office/drawing/2014/main" id="{2AEE7F19-839A-4C93-9BF2-38A7E7420CBE}"/>
              </a:ext>
            </a:extLst>
          </p:cNvPr>
          <p:cNvCxnSpPr>
            <a:stCxn id="6" idx="3"/>
            <a:endCxn id="7" idx="1"/>
          </p:cNvCxnSpPr>
          <p:nvPr/>
        </p:nvCxnSpPr>
        <p:spPr>
          <a:xfrm>
            <a:off x="8620125" y="2024063"/>
            <a:ext cx="809625" cy="0"/>
          </a:xfrm>
          <a:prstGeom prst="straightConnector1">
            <a:avLst/>
          </a:prstGeom>
          <a:ln w="19050">
            <a:solidFill>
              <a:srgbClr val="007F82"/>
            </a:solidFill>
            <a:prstDash val="solid"/>
            <a:tailEnd type="triangle" w="med" len="med"/>
          </a:ln>
        </p:spPr>
      </p:cxnSp>
      <p:cxnSp>
        <p:nvCxnSpPr>
          <p:cNvPr id="9" name="Straight Arrow Connector 8">
            <a:extLst>
              <a:ext uri="{FF2B5EF4-FFF2-40B4-BE49-F238E27FC236}">
                <a16:creationId xmlns:a16="http://schemas.microsoft.com/office/drawing/2014/main" id="{07EFE255-1C81-4D90-B82D-8F3A747C9A07}"/>
              </a:ext>
            </a:extLst>
          </p:cNvPr>
          <p:cNvCxnSpPr>
            <a:stCxn id="5" idx="3"/>
            <a:endCxn id="6" idx="1"/>
          </p:cNvCxnSpPr>
          <p:nvPr/>
        </p:nvCxnSpPr>
        <p:spPr>
          <a:xfrm>
            <a:off x="5667375" y="2024063"/>
            <a:ext cx="762000" cy="0"/>
          </a:xfrm>
          <a:prstGeom prst="straightConnector1">
            <a:avLst/>
          </a:prstGeom>
          <a:ln w="19050">
            <a:solidFill>
              <a:srgbClr val="007F82"/>
            </a:solidFill>
            <a:prstDash val="solid"/>
            <a:tailEnd type="triangle" w="med" len="med"/>
          </a:ln>
        </p:spPr>
      </p:cxnSp>
      <p:cxnSp>
        <p:nvCxnSpPr>
          <p:cNvPr id="8" name="Straight Arrow Connector 7">
            <a:extLst>
              <a:ext uri="{FF2B5EF4-FFF2-40B4-BE49-F238E27FC236}">
                <a16:creationId xmlns:a16="http://schemas.microsoft.com/office/drawing/2014/main" id="{FE79FA7E-F51C-4558-9CD4-14D34AD5E40B}"/>
              </a:ext>
            </a:extLst>
          </p:cNvPr>
          <p:cNvCxnSpPr>
            <a:stCxn id="4" idx="3"/>
            <a:endCxn id="5" idx="1"/>
          </p:cNvCxnSpPr>
          <p:nvPr/>
        </p:nvCxnSpPr>
        <p:spPr>
          <a:xfrm>
            <a:off x="2714625" y="2024063"/>
            <a:ext cx="762000" cy="0"/>
          </a:xfrm>
          <a:prstGeom prst="straightConnector1">
            <a:avLst/>
          </a:prstGeom>
          <a:ln w="19050">
            <a:solidFill>
              <a:srgbClr val="007F82"/>
            </a:solidFill>
            <a:prstDash val="solid"/>
            <a:tailEnd type="triangle" w="med" len="med"/>
          </a:ln>
        </p:spPr>
      </p:cxnSp>
      <p:sp>
        <p:nvSpPr>
          <p:cNvPr id="20" name="Rectangle 19">
            <a:extLst>
              <a:ext uri="{FF2B5EF4-FFF2-40B4-BE49-F238E27FC236}">
                <a16:creationId xmlns:a16="http://schemas.microsoft.com/office/drawing/2014/main" id="{8EF80F2E-F597-498F-93DF-EB042E7C3F1C}"/>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End-to-end data and model flow</a:t>
            </a:r>
          </a:p>
        </p:txBody>
      </p:sp>
      <p:sp>
        <p:nvSpPr>
          <p:cNvPr id="2" name="Rectangle 1">
            <a:extLst>
              <a:ext uri="{FF2B5EF4-FFF2-40B4-BE49-F238E27FC236}">
                <a16:creationId xmlns:a16="http://schemas.microsoft.com/office/drawing/2014/main" id="{B6FF4746-7929-44FF-BC27-AA938D4D820A}"/>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22</a:t>
            </a:r>
          </a:p>
        </p:txBody>
      </p:sp>
      <p:sp>
        <p:nvSpPr>
          <p:cNvPr id="4" name="Rectangle 3">
            <a:extLst>
              <a:ext uri="{FF2B5EF4-FFF2-40B4-BE49-F238E27FC236}">
                <a16:creationId xmlns:a16="http://schemas.microsoft.com/office/drawing/2014/main" id="{CE7FDDB7-0D71-498C-8A60-A23B128E21F8}"/>
              </a:ext>
            </a:extLst>
          </p:cNvPr>
          <p:cNvSpPr>
            <a:spLocks noGrp="1"/>
          </p:cNvSpPr>
          <p:nvPr/>
        </p:nvSpPr>
        <p:spPr>
          <a:xfrm>
            <a:off x="619125" y="1619250"/>
            <a:ext cx="2095500" cy="80962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CIFAR-10</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50,000 images</a:t>
            </a:r>
          </a:p>
        </p:txBody>
      </p:sp>
      <p:sp>
        <p:nvSpPr>
          <p:cNvPr id="5" name="Rectangle 4">
            <a:extLst>
              <a:ext uri="{FF2B5EF4-FFF2-40B4-BE49-F238E27FC236}">
                <a16:creationId xmlns:a16="http://schemas.microsoft.com/office/drawing/2014/main" id="{0CB3BE8C-E3B4-4F6F-BA98-4A4D266D6788}"/>
              </a:ext>
            </a:extLst>
          </p:cNvPr>
          <p:cNvSpPr>
            <a:spLocks noGrp="1"/>
          </p:cNvSpPr>
          <p:nvPr/>
        </p:nvSpPr>
        <p:spPr>
          <a:xfrm>
            <a:off x="3476625" y="1619250"/>
            <a:ext cx="2190750" cy="80962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47,500 train</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scale and flip</a:t>
            </a:r>
          </a:p>
        </p:txBody>
      </p:sp>
      <p:sp>
        <p:nvSpPr>
          <p:cNvPr id="6" name="Rectangle 5">
            <a:extLst>
              <a:ext uri="{FF2B5EF4-FFF2-40B4-BE49-F238E27FC236}">
                <a16:creationId xmlns:a16="http://schemas.microsoft.com/office/drawing/2014/main" id="{40ECB1D9-D9E8-4C34-860A-33B7C315AA1D}"/>
              </a:ext>
            </a:extLst>
          </p:cNvPr>
          <p:cNvSpPr>
            <a:spLocks noGrp="1"/>
          </p:cNvSpPr>
          <p:nvPr/>
        </p:nvSpPr>
        <p:spPr>
          <a:xfrm>
            <a:off x="6429375" y="1619250"/>
            <a:ext cx="2190750" cy="80962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Noise + timestep</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training task</a:t>
            </a:r>
          </a:p>
        </p:txBody>
      </p:sp>
      <p:sp>
        <p:nvSpPr>
          <p:cNvPr id="7" name="Rectangle 6">
            <a:extLst>
              <a:ext uri="{FF2B5EF4-FFF2-40B4-BE49-F238E27FC236}">
                <a16:creationId xmlns:a16="http://schemas.microsoft.com/office/drawing/2014/main" id="{0E0054C4-223C-4DF1-911B-3C334D00841D}"/>
              </a:ext>
            </a:extLst>
          </p:cNvPr>
          <p:cNvSpPr>
            <a:spLocks noGrp="1"/>
          </p:cNvSpPr>
          <p:nvPr/>
        </p:nvSpPr>
        <p:spPr>
          <a:xfrm>
            <a:off x="9429750" y="1619250"/>
            <a:ext cx="2190750" cy="80962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U-Net + EMA</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checkpoints</a:t>
            </a:r>
          </a:p>
        </p:txBody>
      </p:sp>
      <p:sp>
        <p:nvSpPr>
          <p:cNvPr id="11" name="Rectangle 10">
            <a:extLst>
              <a:ext uri="{FF2B5EF4-FFF2-40B4-BE49-F238E27FC236}">
                <a16:creationId xmlns:a16="http://schemas.microsoft.com/office/drawing/2014/main" id="{D8CE7684-4FC9-40EE-96F1-871D40C59EB4}"/>
              </a:ext>
            </a:extLst>
          </p:cNvPr>
          <p:cNvSpPr>
            <a:spLocks noGrp="1"/>
          </p:cNvSpPr>
          <p:nvPr/>
        </p:nvSpPr>
        <p:spPr>
          <a:xfrm>
            <a:off x="619125" y="4333875"/>
            <a:ext cx="2095500" cy="90487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2,500 real</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reference PNGs</a:t>
            </a:r>
          </a:p>
        </p:txBody>
      </p:sp>
      <p:sp>
        <p:nvSpPr>
          <p:cNvPr id="13" name="Rectangle 12">
            <a:extLst>
              <a:ext uri="{FF2B5EF4-FFF2-40B4-BE49-F238E27FC236}">
                <a16:creationId xmlns:a16="http://schemas.microsoft.com/office/drawing/2014/main" id="{CF374BC8-DA24-4B28-BFEC-6A9D3C1C0E64}"/>
              </a:ext>
            </a:extLst>
          </p:cNvPr>
          <p:cNvSpPr>
            <a:spLocks noGrp="1"/>
          </p:cNvSpPr>
          <p:nvPr/>
        </p:nvSpPr>
        <p:spPr>
          <a:xfrm>
            <a:off x="3476625" y="4333875"/>
            <a:ext cx="2190750" cy="90487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Gaussian noise</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 saved model</a:t>
            </a:r>
          </a:p>
        </p:txBody>
      </p:sp>
      <p:sp>
        <p:nvSpPr>
          <p:cNvPr id="14" name="Rectangle 13">
            <a:extLst>
              <a:ext uri="{FF2B5EF4-FFF2-40B4-BE49-F238E27FC236}">
                <a16:creationId xmlns:a16="http://schemas.microsoft.com/office/drawing/2014/main" id="{5825D08A-E2CD-46BA-A043-AB3D122C7474}"/>
              </a:ext>
            </a:extLst>
          </p:cNvPr>
          <p:cNvSpPr>
            <a:spLocks noGrp="1"/>
          </p:cNvSpPr>
          <p:nvPr/>
        </p:nvSpPr>
        <p:spPr>
          <a:xfrm>
            <a:off x="6429375" y="4333875"/>
            <a:ext cx="2190750" cy="90487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DDPM / DDIM</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generated PNGs</a:t>
            </a:r>
          </a:p>
        </p:txBody>
      </p:sp>
      <p:sp>
        <p:nvSpPr>
          <p:cNvPr id="15" name="Rectangle 14">
            <a:extLst>
              <a:ext uri="{FF2B5EF4-FFF2-40B4-BE49-F238E27FC236}">
                <a16:creationId xmlns:a16="http://schemas.microsoft.com/office/drawing/2014/main" id="{6674DA27-D3D9-4342-A89B-CE827805FAD6}"/>
              </a:ext>
            </a:extLst>
          </p:cNvPr>
          <p:cNvSpPr>
            <a:spLocks noGrp="1"/>
          </p:cNvSpPr>
          <p:nvPr/>
        </p:nvSpPr>
        <p:spPr>
          <a:xfrm>
            <a:off x="9429750" y="4333875"/>
            <a:ext cx="2190750" cy="904875"/>
          </a:xfrm>
          <a:prstGeom prst="rect">
            <a:avLst/>
          </a:prstGeom>
          <a:solidFill>
            <a:srgbClr val="EAF2F5"/>
          </a:solidFill>
          <a:ln w="9525">
            <a:solidFill>
              <a:srgbClr val="D4DEE8"/>
            </a:solidFill>
          </a:ln>
        </p:spPr>
        <p:txBody>
          <a:bodyPr lIns="114300" tIns="114300" rIns="114300" bIns="114300" anchor="ctr">
            <a:noAutofit/>
          </a:bodyPr>
          <a:lstStyle>
            <a:defPPr algn="ctr">
              <a:defRPr sz="1800">
                <a:solidFill>
                  <a:srgbClr val="142D4E"/>
                </a:solidFill>
                <a:latin typeface="Helvetica Neue"/>
                <a:ea typeface="Helvetica Neue"/>
                <a:cs typeface="Helvetica Neue"/>
              </a:defRPr>
            </a:defPPr>
            <a:lvl1pPr algn="ctr">
              <a:defRPr sz="1800">
                <a:solidFill>
                  <a:srgbClr val="142D4E"/>
                </a:solidFill>
                <a:latin typeface="Helvetica Neue"/>
                <a:ea typeface="Helvetica Neue"/>
                <a:cs typeface="Helvetica Neue"/>
              </a:defRPr>
            </a:lvl1pPr>
            <a:lvl2pPr algn="ctr">
              <a:defRPr sz="1800">
                <a:solidFill>
                  <a:srgbClr val="142D4E"/>
                </a:solidFill>
                <a:latin typeface="Helvetica Neue"/>
                <a:ea typeface="Helvetica Neue"/>
                <a:cs typeface="Helvetica Neue"/>
              </a:defRPr>
            </a:lvl2pPr>
            <a:lvl3pPr algn="ctr">
              <a:defRPr sz="1800">
                <a:solidFill>
                  <a:srgbClr val="142D4E"/>
                </a:solidFill>
                <a:latin typeface="Helvetica Neue"/>
                <a:ea typeface="Helvetica Neue"/>
                <a:cs typeface="Helvetica Neue"/>
              </a:defRPr>
            </a:lvl3pPr>
            <a:lvl4pPr algn="ctr">
              <a:defRPr sz="1800">
                <a:solidFill>
                  <a:srgbClr val="142D4E"/>
                </a:solidFill>
                <a:latin typeface="Helvetica Neue"/>
                <a:ea typeface="Helvetica Neue"/>
                <a:cs typeface="Helvetica Neue"/>
              </a:defRPr>
            </a:lvl4pPr>
            <a:lvl5pPr algn="ctr">
              <a:defRPr sz="1800">
                <a:solidFill>
                  <a:srgbClr val="142D4E"/>
                </a:solidFill>
                <a:latin typeface="Helvetica Neue"/>
                <a:ea typeface="Helvetica Neue"/>
                <a:cs typeface="Helvetica Neue"/>
              </a:defRPr>
            </a:lvl5pPr>
            <a:lvl6pPr algn="ctr">
              <a:defRPr sz="1800">
                <a:solidFill>
                  <a:srgbClr val="142D4E"/>
                </a:solidFill>
                <a:latin typeface="Helvetica Neue"/>
                <a:ea typeface="Helvetica Neue"/>
                <a:cs typeface="Helvetica Neue"/>
              </a:defRPr>
            </a:lvl6pPr>
            <a:lvl7pPr algn="ctr">
              <a:defRPr sz="1800">
                <a:solidFill>
                  <a:srgbClr val="142D4E"/>
                </a:solidFill>
                <a:latin typeface="Helvetica Neue"/>
                <a:ea typeface="Helvetica Neue"/>
                <a:cs typeface="Helvetica Neue"/>
              </a:defRPr>
            </a:lvl7pPr>
            <a:lvl8pPr algn="ctr">
              <a:defRPr sz="1800">
                <a:solidFill>
                  <a:srgbClr val="142D4E"/>
                </a:solidFill>
                <a:latin typeface="Helvetica Neue"/>
                <a:ea typeface="Helvetica Neue"/>
                <a:cs typeface="Helvetica Neue"/>
              </a:defRPr>
            </a:lvl8pPr>
            <a:lvl9pPr algn="ctr">
              <a:defRPr sz="1800">
                <a:solidFill>
                  <a:srgbClr val="142D4E"/>
                </a:solidFill>
                <a:latin typeface="Helvetica Neue"/>
                <a:ea typeface="Helvetica Neue"/>
                <a:cs typeface="Helvetica Neue"/>
              </a:defRPr>
            </a:lvl9pPr>
          </a:lstStyle>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FID / IS / P–R</a:t>
            </a:r>
          </a:p>
          <a:p>
            <a:pPr algn="ctr">
              <a:defRPr sz="1800">
                <a:solidFill>
                  <a:srgbClr val="142D4E"/>
                </a:solidFill>
                <a:latin typeface="Helvetica Neue"/>
                <a:ea typeface="Helvetica Neue"/>
                <a:cs typeface="Helvetica Neue"/>
              </a:defRPr>
            </a:pPr>
            <a:r>
              <a:rPr sz="1800">
                <a:solidFill>
                  <a:srgbClr val="142D4E"/>
                </a:solidFill>
                <a:latin typeface="Helvetica Neue"/>
                <a:ea typeface="Helvetica Neue"/>
                <a:cs typeface="Helvetica Neue"/>
              </a:rPr>
              <a:t>results pending</a:t>
            </a:r>
          </a:p>
        </p:txBody>
      </p:sp>
      <p:sp>
        <p:nvSpPr>
          <p:cNvPr id="19" name="Rectangle 18">
            <a:extLst>
              <a:ext uri="{FF2B5EF4-FFF2-40B4-BE49-F238E27FC236}">
                <a16:creationId xmlns:a16="http://schemas.microsoft.com/office/drawing/2014/main" id="{ABFF05EA-2C6E-47C9-A50C-745A24AEA731}"/>
              </a:ext>
            </a:extLst>
          </p:cNvPr>
          <p:cNvSpPr>
            <a:spLocks noGrp="1"/>
          </p:cNvSpPr>
          <p:nvPr/>
        </p:nvSpPr>
        <p:spPr>
          <a:xfrm>
            <a:off x="619125" y="5619750"/>
            <a:ext cx="8572500" cy="457200"/>
          </a:xfrm>
          <a:prstGeom prst="rect">
            <a:avLst/>
          </a:prstGeom>
          <a:noFill/>
          <a:ln w="0">
            <a:noFill/>
          </a:ln>
        </p:spPr>
        <p:txBody>
          <a:bodyPr lIns="0" tIns="0" rIns="0" bIns="0" anchor="t">
            <a:noAutofit/>
          </a:bodyPr>
          <a:lstStyle>
            <a:defPPr algn="l">
              <a:defRPr sz="1875" b="0">
                <a:solidFill>
                  <a:srgbClr val="53657B"/>
                </a:solidFill>
                <a:latin typeface="Helvetica Neue"/>
                <a:ea typeface="Helvetica Neue"/>
                <a:cs typeface="Helvetica Neue"/>
              </a:defRPr>
            </a:defPPr>
            <a:lvl1pPr algn="l">
              <a:defRPr sz="1875" b="0">
                <a:solidFill>
                  <a:srgbClr val="53657B"/>
                </a:solidFill>
                <a:latin typeface="Helvetica Neue"/>
                <a:ea typeface="Helvetica Neue"/>
                <a:cs typeface="Helvetica Neue"/>
              </a:defRPr>
            </a:lvl1pPr>
            <a:lvl2pPr algn="l">
              <a:defRPr sz="1875" b="0">
                <a:solidFill>
                  <a:srgbClr val="53657B"/>
                </a:solidFill>
                <a:latin typeface="Helvetica Neue"/>
                <a:ea typeface="Helvetica Neue"/>
                <a:cs typeface="Helvetica Neue"/>
              </a:defRPr>
            </a:lvl2pPr>
            <a:lvl3pPr algn="l">
              <a:defRPr sz="1875" b="0">
                <a:solidFill>
                  <a:srgbClr val="53657B"/>
                </a:solidFill>
                <a:latin typeface="Helvetica Neue"/>
                <a:ea typeface="Helvetica Neue"/>
                <a:cs typeface="Helvetica Neue"/>
              </a:defRPr>
            </a:lvl3pPr>
            <a:lvl4pPr algn="l">
              <a:defRPr sz="1875" b="0">
                <a:solidFill>
                  <a:srgbClr val="53657B"/>
                </a:solidFill>
                <a:latin typeface="Helvetica Neue"/>
                <a:ea typeface="Helvetica Neue"/>
                <a:cs typeface="Helvetica Neue"/>
              </a:defRPr>
            </a:lvl4pPr>
            <a:lvl5pPr algn="l">
              <a:defRPr sz="1875" b="0">
                <a:solidFill>
                  <a:srgbClr val="53657B"/>
                </a:solidFill>
                <a:latin typeface="Helvetica Neue"/>
                <a:ea typeface="Helvetica Neue"/>
                <a:cs typeface="Helvetica Neue"/>
              </a:defRPr>
            </a:lvl5pPr>
            <a:lvl6pPr algn="l">
              <a:defRPr sz="1875" b="0">
                <a:solidFill>
                  <a:srgbClr val="53657B"/>
                </a:solidFill>
                <a:latin typeface="Helvetica Neue"/>
                <a:ea typeface="Helvetica Neue"/>
                <a:cs typeface="Helvetica Neue"/>
              </a:defRPr>
            </a:lvl6pPr>
            <a:lvl7pPr algn="l">
              <a:defRPr sz="1875" b="0">
                <a:solidFill>
                  <a:srgbClr val="53657B"/>
                </a:solidFill>
                <a:latin typeface="Helvetica Neue"/>
                <a:ea typeface="Helvetica Neue"/>
                <a:cs typeface="Helvetica Neue"/>
              </a:defRPr>
            </a:lvl7pPr>
            <a:lvl8pPr algn="l">
              <a:defRPr sz="1875" b="0">
                <a:solidFill>
                  <a:srgbClr val="53657B"/>
                </a:solidFill>
                <a:latin typeface="Helvetica Neue"/>
                <a:ea typeface="Helvetica Neue"/>
                <a:cs typeface="Helvetica Neue"/>
              </a:defRPr>
            </a:lvl8pPr>
            <a:lvl9pPr algn="l">
              <a:defRPr sz="1875" b="0">
                <a:solidFill>
                  <a:srgbClr val="53657B"/>
                </a:solidFill>
                <a:latin typeface="Helvetica Neue"/>
                <a:ea typeface="Helvetica Neue"/>
                <a:cs typeface="Helvetica Neue"/>
              </a:defRPr>
            </a:lvl9pPr>
          </a:lstStyle>
          <a:p>
            <a:pPr algn="l">
              <a:defRPr sz="1875" b="0">
                <a:solidFill>
                  <a:srgbClr val="53657B"/>
                </a:solidFill>
                <a:latin typeface="Helvetica Neue"/>
                <a:ea typeface="Helvetica Neue"/>
                <a:cs typeface="Helvetica Neue"/>
              </a:defRPr>
            </a:pPr>
            <a:r>
              <a:rPr sz="1875" b="0">
                <a:solidFill>
                  <a:srgbClr val="53657B"/>
                </a:solidFill>
                <a:latin typeface="Helvetica Neue"/>
                <a:ea typeface="Helvetica Neue"/>
                <a:cs typeface="Helvetica Neue"/>
              </a:rPr>
              <a:t>Reference images feed distribution evaluation</a:t>
            </a:r>
          </a:p>
        </p:txBody>
      </p:sp>
    </p:spTree>
    <p:extLst>
      <p:ext uri="{BB962C8B-B14F-4D97-AF65-F5344CB8AC3E}">
        <p14:creationId xmlns:p14="http://schemas.microsoft.com/office/powerpoint/2010/main" val="1486380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528D808-A625-4ED7-994D-29893E260F22}"/>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Practical value and application boundaries</a:t>
            </a:r>
          </a:p>
        </p:txBody>
      </p:sp>
      <p:sp>
        <p:nvSpPr>
          <p:cNvPr id="2" name="Rectangle 1">
            <a:extLst>
              <a:ext uri="{FF2B5EF4-FFF2-40B4-BE49-F238E27FC236}">
                <a16:creationId xmlns:a16="http://schemas.microsoft.com/office/drawing/2014/main" id="{BEEF16F9-398E-4B64-821C-8F4396CCD630}"/>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23</a:t>
            </a:r>
          </a:p>
        </p:txBody>
      </p:sp>
      <p:sp>
        <p:nvSpPr>
          <p:cNvPr id="4" name="Rectangle 3">
            <a:extLst>
              <a:ext uri="{FF2B5EF4-FFF2-40B4-BE49-F238E27FC236}">
                <a16:creationId xmlns:a16="http://schemas.microsoft.com/office/drawing/2014/main" id="{575F814F-303A-4214-BFD3-28999C7D9EC7}"/>
              </a:ext>
            </a:extLst>
          </p:cNvPr>
          <p:cNvSpPr>
            <a:spLocks noGrp="1"/>
          </p:cNvSpPr>
          <p:nvPr/>
        </p:nvSpPr>
        <p:spPr>
          <a:xfrm>
            <a:off x="1000125" y="1620548"/>
            <a:ext cx="4953000" cy="476250"/>
          </a:xfrm>
          <a:prstGeom prst="rect">
            <a:avLst/>
          </a:prstGeom>
          <a:noFill/>
          <a:ln w="0">
            <a:noFill/>
          </a:ln>
        </p:spPr>
        <p:txBody>
          <a:bodyPr lIns="0" tIns="0" rIns="0" bIns="0" anchor="t">
            <a:noAutofit/>
          </a:bodyPr>
          <a:lstStyle>
            <a:defPPr algn="l">
              <a:defRPr sz="2400" b="1">
                <a:solidFill>
                  <a:srgbClr val="007F82"/>
                </a:solidFill>
                <a:latin typeface="Helvetica Neue"/>
                <a:ea typeface="Helvetica Neue"/>
                <a:cs typeface="Helvetica Neue"/>
              </a:defRPr>
            </a:defPPr>
            <a:lvl1pPr algn="l">
              <a:defRPr sz="2400" b="1">
                <a:solidFill>
                  <a:srgbClr val="007F82"/>
                </a:solidFill>
                <a:latin typeface="Helvetica Neue"/>
                <a:ea typeface="Helvetica Neue"/>
                <a:cs typeface="Helvetica Neue"/>
              </a:defRPr>
            </a:lvl1pPr>
            <a:lvl2pPr algn="l">
              <a:defRPr sz="2400" b="1">
                <a:solidFill>
                  <a:srgbClr val="007F82"/>
                </a:solidFill>
                <a:latin typeface="Helvetica Neue"/>
                <a:ea typeface="Helvetica Neue"/>
                <a:cs typeface="Helvetica Neue"/>
              </a:defRPr>
            </a:lvl2pPr>
            <a:lvl3pPr algn="l">
              <a:defRPr sz="2400" b="1">
                <a:solidFill>
                  <a:srgbClr val="007F82"/>
                </a:solidFill>
                <a:latin typeface="Helvetica Neue"/>
                <a:ea typeface="Helvetica Neue"/>
                <a:cs typeface="Helvetica Neue"/>
              </a:defRPr>
            </a:lvl3pPr>
            <a:lvl4pPr algn="l">
              <a:defRPr sz="2400" b="1">
                <a:solidFill>
                  <a:srgbClr val="007F82"/>
                </a:solidFill>
                <a:latin typeface="Helvetica Neue"/>
                <a:ea typeface="Helvetica Neue"/>
                <a:cs typeface="Helvetica Neue"/>
              </a:defRPr>
            </a:lvl4pPr>
            <a:lvl5pPr algn="l">
              <a:defRPr sz="2400" b="1">
                <a:solidFill>
                  <a:srgbClr val="007F82"/>
                </a:solidFill>
                <a:latin typeface="Helvetica Neue"/>
                <a:ea typeface="Helvetica Neue"/>
                <a:cs typeface="Helvetica Neue"/>
              </a:defRPr>
            </a:lvl5pPr>
            <a:lvl6pPr algn="l">
              <a:defRPr sz="2400" b="1">
                <a:solidFill>
                  <a:srgbClr val="007F82"/>
                </a:solidFill>
                <a:latin typeface="Helvetica Neue"/>
                <a:ea typeface="Helvetica Neue"/>
                <a:cs typeface="Helvetica Neue"/>
              </a:defRPr>
            </a:lvl6pPr>
            <a:lvl7pPr algn="l">
              <a:defRPr sz="2400" b="1">
                <a:solidFill>
                  <a:srgbClr val="007F82"/>
                </a:solidFill>
                <a:latin typeface="Helvetica Neue"/>
                <a:ea typeface="Helvetica Neue"/>
                <a:cs typeface="Helvetica Neue"/>
              </a:defRPr>
            </a:lvl7pPr>
            <a:lvl8pPr algn="l">
              <a:defRPr sz="2400" b="1">
                <a:solidFill>
                  <a:srgbClr val="007F82"/>
                </a:solidFill>
                <a:latin typeface="Helvetica Neue"/>
                <a:ea typeface="Helvetica Neue"/>
                <a:cs typeface="Helvetica Neue"/>
              </a:defRPr>
            </a:lvl8pPr>
            <a:lvl9pPr algn="l">
              <a:defRPr sz="2400" b="1">
                <a:solidFill>
                  <a:srgbClr val="007F82"/>
                </a:solidFill>
                <a:latin typeface="Helvetica Neue"/>
                <a:ea typeface="Helvetica Neue"/>
                <a:cs typeface="Helvetica Neue"/>
              </a:defRPr>
            </a:lvl9pPr>
          </a:lstStyle>
          <a:p>
            <a:pPr algn="l">
              <a:defRPr sz="2400" b="1">
                <a:solidFill>
                  <a:srgbClr val="007F82"/>
                </a:solidFill>
                <a:latin typeface="Helvetica Neue"/>
                <a:ea typeface="Helvetica Neue"/>
                <a:cs typeface="Helvetica Neue"/>
              </a:defRPr>
            </a:pPr>
            <a:r>
              <a:rPr sz="2400" b="1" dirty="0">
                <a:solidFill>
                  <a:srgbClr val="007F82"/>
                </a:solidFill>
                <a:latin typeface="Helvetica Neue"/>
                <a:ea typeface="Helvetica Neue"/>
                <a:cs typeface="Helvetica Neue"/>
              </a:rPr>
              <a:t>Demonstrated value</a:t>
            </a:r>
          </a:p>
        </p:txBody>
      </p:sp>
      <p:sp>
        <p:nvSpPr>
          <p:cNvPr id="5" name="Rectangle 4">
            <a:extLst>
              <a:ext uri="{FF2B5EF4-FFF2-40B4-BE49-F238E27FC236}">
                <a16:creationId xmlns:a16="http://schemas.microsoft.com/office/drawing/2014/main" id="{7DB73607-F34D-4D6E-B809-128225E1C9FA}"/>
              </a:ext>
            </a:extLst>
          </p:cNvPr>
          <p:cNvSpPr>
            <a:spLocks noGrp="1"/>
          </p:cNvSpPr>
          <p:nvPr/>
        </p:nvSpPr>
        <p:spPr>
          <a:xfrm>
            <a:off x="666750" y="2860097"/>
            <a:ext cx="228600" cy="457200"/>
          </a:xfrm>
          <a:prstGeom prst="rect">
            <a:avLst/>
          </a:prstGeom>
          <a:noFill/>
          <a:ln w="0">
            <a:noFill/>
          </a:ln>
        </p:spPr>
        <p:txBody>
          <a:bodyPr lIns="0" tIns="0" rIns="0" bIns="0" anchor="t">
            <a:noAutofit/>
          </a:bodyPr>
          <a:lstStyle>
            <a:defPPr algn="l">
              <a:defRPr sz="2025" b="1">
                <a:solidFill>
                  <a:srgbClr val="007F82"/>
                </a:solidFill>
                <a:latin typeface="Helvetica Neue"/>
                <a:ea typeface="Helvetica Neue"/>
                <a:cs typeface="Helvetica Neue"/>
              </a:defRPr>
            </a:defPPr>
            <a:lvl1pPr algn="l">
              <a:defRPr sz="2025" b="1">
                <a:solidFill>
                  <a:srgbClr val="007F82"/>
                </a:solidFill>
                <a:latin typeface="Helvetica Neue"/>
                <a:ea typeface="Helvetica Neue"/>
                <a:cs typeface="Helvetica Neue"/>
              </a:defRPr>
            </a:lvl1pPr>
            <a:lvl2pPr algn="l">
              <a:defRPr sz="2025" b="1">
                <a:solidFill>
                  <a:srgbClr val="007F82"/>
                </a:solidFill>
                <a:latin typeface="Helvetica Neue"/>
                <a:ea typeface="Helvetica Neue"/>
                <a:cs typeface="Helvetica Neue"/>
              </a:defRPr>
            </a:lvl2pPr>
            <a:lvl3pPr algn="l">
              <a:defRPr sz="2025" b="1">
                <a:solidFill>
                  <a:srgbClr val="007F82"/>
                </a:solidFill>
                <a:latin typeface="Helvetica Neue"/>
                <a:ea typeface="Helvetica Neue"/>
                <a:cs typeface="Helvetica Neue"/>
              </a:defRPr>
            </a:lvl3pPr>
            <a:lvl4pPr algn="l">
              <a:defRPr sz="2025" b="1">
                <a:solidFill>
                  <a:srgbClr val="007F82"/>
                </a:solidFill>
                <a:latin typeface="Helvetica Neue"/>
                <a:ea typeface="Helvetica Neue"/>
                <a:cs typeface="Helvetica Neue"/>
              </a:defRPr>
            </a:lvl4pPr>
            <a:lvl5pPr algn="l">
              <a:defRPr sz="2025" b="1">
                <a:solidFill>
                  <a:srgbClr val="007F82"/>
                </a:solidFill>
                <a:latin typeface="Helvetica Neue"/>
                <a:ea typeface="Helvetica Neue"/>
                <a:cs typeface="Helvetica Neue"/>
              </a:defRPr>
            </a:lvl5pPr>
            <a:lvl6pPr algn="l">
              <a:defRPr sz="2025" b="1">
                <a:solidFill>
                  <a:srgbClr val="007F82"/>
                </a:solidFill>
                <a:latin typeface="Helvetica Neue"/>
                <a:ea typeface="Helvetica Neue"/>
                <a:cs typeface="Helvetica Neue"/>
              </a:defRPr>
            </a:lvl6pPr>
            <a:lvl7pPr algn="l">
              <a:defRPr sz="2025" b="1">
                <a:solidFill>
                  <a:srgbClr val="007F82"/>
                </a:solidFill>
                <a:latin typeface="Helvetica Neue"/>
                <a:ea typeface="Helvetica Neue"/>
                <a:cs typeface="Helvetica Neue"/>
              </a:defRPr>
            </a:lvl7pPr>
            <a:lvl8pPr algn="l">
              <a:defRPr sz="2025" b="1">
                <a:solidFill>
                  <a:srgbClr val="007F82"/>
                </a:solidFill>
                <a:latin typeface="Helvetica Neue"/>
                <a:ea typeface="Helvetica Neue"/>
                <a:cs typeface="Helvetica Neue"/>
              </a:defRPr>
            </a:lvl8pPr>
            <a:lvl9pPr algn="l">
              <a:defRPr sz="2025" b="1">
                <a:solidFill>
                  <a:srgbClr val="007F82"/>
                </a:solidFill>
                <a:latin typeface="Helvetica Neue"/>
                <a:ea typeface="Helvetica Neue"/>
                <a:cs typeface="Helvetica Neue"/>
              </a:defRPr>
            </a:lvl9pPr>
          </a:lstStyle>
          <a:p>
            <a:pPr algn="l">
              <a:defRPr sz="2025" b="1">
                <a:solidFill>
                  <a:srgbClr val="007F82"/>
                </a:solidFill>
                <a:latin typeface="Helvetica Neue"/>
                <a:ea typeface="Helvetica Neue"/>
                <a:cs typeface="Helvetica Neue"/>
              </a:defRPr>
            </a:pPr>
            <a:r>
              <a:rPr sz="2025" b="1">
                <a:solidFill>
                  <a:srgbClr val="007F82"/>
                </a:solidFill>
                <a:latin typeface="Helvetica Neue"/>
                <a:ea typeface="Helvetica Neue"/>
                <a:cs typeface="Helvetica Neue"/>
              </a:rPr>
              <a:t>•</a:t>
            </a:r>
          </a:p>
        </p:txBody>
      </p:sp>
      <p:sp>
        <p:nvSpPr>
          <p:cNvPr id="6" name="Rectangle 5">
            <a:extLst>
              <a:ext uri="{FF2B5EF4-FFF2-40B4-BE49-F238E27FC236}">
                <a16:creationId xmlns:a16="http://schemas.microsoft.com/office/drawing/2014/main" id="{91830AB1-A93C-4BE6-86A9-B1721E8D9149}"/>
              </a:ext>
            </a:extLst>
          </p:cNvPr>
          <p:cNvSpPr>
            <a:spLocks noGrp="1"/>
          </p:cNvSpPr>
          <p:nvPr/>
        </p:nvSpPr>
        <p:spPr>
          <a:xfrm>
            <a:off x="1000125" y="2860097"/>
            <a:ext cx="4619625" cy="723900"/>
          </a:xfrm>
          <a:prstGeom prst="rect">
            <a:avLst/>
          </a:prstGeom>
          <a:noFill/>
          <a:ln w="0">
            <a:noFill/>
          </a:ln>
        </p:spPr>
        <p:txBody>
          <a:bodyPr lIns="0" tIns="0" rIns="0" bIns="0" anchor="t">
            <a:noAutofit/>
          </a:bodyPr>
          <a:lstStyle>
            <a:defPPr algn="l">
              <a:defRPr sz="2025" b="0">
                <a:solidFill>
                  <a:srgbClr val="142D4E"/>
                </a:solidFill>
                <a:latin typeface="Helvetica Neue"/>
                <a:ea typeface="Helvetica Neue"/>
                <a:cs typeface="Helvetica Neue"/>
              </a:defRPr>
            </a:defPPr>
            <a:lvl1pPr algn="l">
              <a:defRPr sz="2025" b="0">
                <a:solidFill>
                  <a:srgbClr val="142D4E"/>
                </a:solidFill>
                <a:latin typeface="Helvetica Neue"/>
                <a:ea typeface="Helvetica Neue"/>
                <a:cs typeface="Helvetica Neue"/>
              </a:defRPr>
            </a:lvl1pPr>
            <a:lvl2pPr algn="l">
              <a:defRPr sz="2025" b="0">
                <a:solidFill>
                  <a:srgbClr val="142D4E"/>
                </a:solidFill>
                <a:latin typeface="Helvetica Neue"/>
                <a:ea typeface="Helvetica Neue"/>
                <a:cs typeface="Helvetica Neue"/>
              </a:defRPr>
            </a:lvl2pPr>
            <a:lvl3pPr algn="l">
              <a:defRPr sz="2025" b="0">
                <a:solidFill>
                  <a:srgbClr val="142D4E"/>
                </a:solidFill>
                <a:latin typeface="Helvetica Neue"/>
                <a:ea typeface="Helvetica Neue"/>
                <a:cs typeface="Helvetica Neue"/>
              </a:defRPr>
            </a:lvl3pPr>
            <a:lvl4pPr algn="l">
              <a:defRPr sz="2025" b="0">
                <a:solidFill>
                  <a:srgbClr val="142D4E"/>
                </a:solidFill>
                <a:latin typeface="Helvetica Neue"/>
                <a:ea typeface="Helvetica Neue"/>
                <a:cs typeface="Helvetica Neue"/>
              </a:defRPr>
            </a:lvl4pPr>
            <a:lvl5pPr algn="l">
              <a:defRPr sz="2025" b="0">
                <a:solidFill>
                  <a:srgbClr val="142D4E"/>
                </a:solidFill>
                <a:latin typeface="Helvetica Neue"/>
                <a:ea typeface="Helvetica Neue"/>
                <a:cs typeface="Helvetica Neue"/>
              </a:defRPr>
            </a:lvl5pPr>
            <a:lvl6pPr algn="l">
              <a:defRPr sz="2025" b="0">
                <a:solidFill>
                  <a:srgbClr val="142D4E"/>
                </a:solidFill>
                <a:latin typeface="Helvetica Neue"/>
                <a:ea typeface="Helvetica Neue"/>
                <a:cs typeface="Helvetica Neue"/>
              </a:defRPr>
            </a:lvl6pPr>
            <a:lvl7pPr algn="l">
              <a:defRPr sz="2025" b="0">
                <a:solidFill>
                  <a:srgbClr val="142D4E"/>
                </a:solidFill>
                <a:latin typeface="Helvetica Neue"/>
                <a:ea typeface="Helvetica Neue"/>
                <a:cs typeface="Helvetica Neue"/>
              </a:defRPr>
            </a:lvl7pPr>
            <a:lvl8pPr algn="l">
              <a:defRPr sz="2025" b="0">
                <a:solidFill>
                  <a:srgbClr val="142D4E"/>
                </a:solidFill>
                <a:latin typeface="Helvetica Neue"/>
                <a:ea typeface="Helvetica Neue"/>
                <a:cs typeface="Helvetica Neue"/>
              </a:defRPr>
            </a:lvl8pPr>
            <a:lvl9pPr algn="l">
              <a:defRPr sz="2025" b="0">
                <a:solidFill>
                  <a:srgbClr val="142D4E"/>
                </a:solidFill>
                <a:latin typeface="Helvetica Neue"/>
                <a:ea typeface="Helvetica Neue"/>
                <a:cs typeface="Helvetica Neue"/>
              </a:defRPr>
            </a:lvl9pPr>
          </a:lstStyle>
          <a:p>
            <a:pPr algn="l">
              <a:defRPr sz="2025" b="0">
                <a:solidFill>
                  <a:srgbClr val="142D4E"/>
                </a:solidFill>
                <a:latin typeface="Helvetica Neue"/>
                <a:ea typeface="Helvetica Neue"/>
                <a:cs typeface="Helvetica Neue"/>
              </a:defRPr>
            </a:pPr>
            <a:r>
              <a:rPr sz="2025" b="0">
                <a:solidFill>
                  <a:srgbClr val="142D4E"/>
                </a:solidFill>
                <a:latin typeface="Helvetica Neue"/>
                <a:ea typeface="Helvetica Neue"/>
                <a:cs typeface="Helvetica Neue"/>
              </a:rPr>
              <a:t>Understanding the diffusion pipeline</a:t>
            </a:r>
          </a:p>
        </p:txBody>
      </p:sp>
      <p:sp>
        <p:nvSpPr>
          <p:cNvPr id="7" name="Rectangle 6">
            <a:extLst>
              <a:ext uri="{FF2B5EF4-FFF2-40B4-BE49-F238E27FC236}">
                <a16:creationId xmlns:a16="http://schemas.microsoft.com/office/drawing/2014/main" id="{F5D5B2B6-2EF6-4210-BEEC-93354578EE33}"/>
              </a:ext>
            </a:extLst>
          </p:cNvPr>
          <p:cNvSpPr>
            <a:spLocks noGrp="1"/>
          </p:cNvSpPr>
          <p:nvPr/>
        </p:nvSpPr>
        <p:spPr>
          <a:xfrm>
            <a:off x="666750" y="3955472"/>
            <a:ext cx="228600" cy="457200"/>
          </a:xfrm>
          <a:prstGeom prst="rect">
            <a:avLst/>
          </a:prstGeom>
          <a:noFill/>
          <a:ln w="0">
            <a:noFill/>
          </a:ln>
        </p:spPr>
        <p:txBody>
          <a:bodyPr lIns="0" tIns="0" rIns="0" bIns="0" anchor="t">
            <a:noAutofit/>
          </a:bodyPr>
          <a:lstStyle>
            <a:defPPr algn="l">
              <a:defRPr sz="2025" b="1">
                <a:solidFill>
                  <a:srgbClr val="007F82"/>
                </a:solidFill>
                <a:latin typeface="Helvetica Neue"/>
                <a:ea typeface="Helvetica Neue"/>
                <a:cs typeface="Helvetica Neue"/>
              </a:defRPr>
            </a:defPPr>
            <a:lvl1pPr algn="l">
              <a:defRPr sz="2025" b="1">
                <a:solidFill>
                  <a:srgbClr val="007F82"/>
                </a:solidFill>
                <a:latin typeface="Helvetica Neue"/>
                <a:ea typeface="Helvetica Neue"/>
                <a:cs typeface="Helvetica Neue"/>
              </a:defRPr>
            </a:lvl1pPr>
            <a:lvl2pPr algn="l">
              <a:defRPr sz="2025" b="1">
                <a:solidFill>
                  <a:srgbClr val="007F82"/>
                </a:solidFill>
                <a:latin typeface="Helvetica Neue"/>
                <a:ea typeface="Helvetica Neue"/>
                <a:cs typeface="Helvetica Neue"/>
              </a:defRPr>
            </a:lvl2pPr>
            <a:lvl3pPr algn="l">
              <a:defRPr sz="2025" b="1">
                <a:solidFill>
                  <a:srgbClr val="007F82"/>
                </a:solidFill>
                <a:latin typeface="Helvetica Neue"/>
                <a:ea typeface="Helvetica Neue"/>
                <a:cs typeface="Helvetica Neue"/>
              </a:defRPr>
            </a:lvl3pPr>
            <a:lvl4pPr algn="l">
              <a:defRPr sz="2025" b="1">
                <a:solidFill>
                  <a:srgbClr val="007F82"/>
                </a:solidFill>
                <a:latin typeface="Helvetica Neue"/>
                <a:ea typeface="Helvetica Neue"/>
                <a:cs typeface="Helvetica Neue"/>
              </a:defRPr>
            </a:lvl4pPr>
            <a:lvl5pPr algn="l">
              <a:defRPr sz="2025" b="1">
                <a:solidFill>
                  <a:srgbClr val="007F82"/>
                </a:solidFill>
                <a:latin typeface="Helvetica Neue"/>
                <a:ea typeface="Helvetica Neue"/>
                <a:cs typeface="Helvetica Neue"/>
              </a:defRPr>
            </a:lvl5pPr>
            <a:lvl6pPr algn="l">
              <a:defRPr sz="2025" b="1">
                <a:solidFill>
                  <a:srgbClr val="007F82"/>
                </a:solidFill>
                <a:latin typeface="Helvetica Neue"/>
                <a:ea typeface="Helvetica Neue"/>
                <a:cs typeface="Helvetica Neue"/>
              </a:defRPr>
            </a:lvl6pPr>
            <a:lvl7pPr algn="l">
              <a:defRPr sz="2025" b="1">
                <a:solidFill>
                  <a:srgbClr val="007F82"/>
                </a:solidFill>
                <a:latin typeface="Helvetica Neue"/>
                <a:ea typeface="Helvetica Neue"/>
                <a:cs typeface="Helvetica Neue"/>
              </a:defRPr>
            </a:lvl7pPr>
            <a:lvl8pPr algn="l">
              <a:defRPr sz="2025" b="1">
                <a:solidFill>
                  <a:srgbClr val="007F82"/>
                </a:solidFill>
                <a:latin typeface="Helvetica Neue"/>
                <a:ea typeface="Helvetica Neue"/>
                <a:cs typeface="Helvetica Neue"/>
              </a:defRPr>
            </a:lvl8pPr>
            <a:lvl9pPr algn="l">
              <a:defRPr sz="2025" b="1">
                <a:solidFill>
                  <a:srgbClr val="007F82"/>
                </a:solidFill>
                <a:latin typeface="Helvetica Neue"/>
                <a:ea typeface="Helvetica Neue"/>
                <a:cs typeface="Helvetica Neue"/>
              </a:defRPr>
            </a:lvl9pPr>
          </a:lstStyle>
          <a:p>
            <a:pPr algn="l">
              <a:defRPr sz="2025" b="1">
                <a:solidFill>
                  <a:srgbClr val="007F82"/>
                </a:solidFill>
                <a:latin typeface="Helvetica Neue"/>
                <a:ea typeface="Helvetica Neue"/>
                <a:cs typeface="Helvetica Neue"/>
              </a:defRPr>
            </a:pPr>
            <a:r>
              <a:rPr sz="2025" b="1">
                <a:solidFill>
                  <a:srgbClr val="007F82"/>
                </a:solidFill>
                <a:latin typeface="Helvetica Neue"/>
                <a:ea typeface="Helvetica Neue"/>
                <a:cs typeface="Helvetica Neue"/>
              </a:rPr>
              <a:t>•</a:t>
            </a:r>
          </a:p>
        </p:txBody>
      </p:sp>
      <p:sp>
        <p:nvSpPr>
          <p:cNvPr id="8" name="Rectangle 7">
            <a:extLst>
              <a:ext uri="{FF2B5EF4-FFF2-40B4-BE49-F238E27FC236}">
                <a16:creationId xmlns:a16="http://schemas.microsoft.com/office/drawing/2014/main" id="{F98A357A-C5C2-49E4-8ACF-8874BABDA12C}"/>
              </a:ext>
            </a:extLst>
          </p:cNvPr>
          <p:cNvSpPr>
            <a:spLocks noGrp="1"/>
          </p:cNvSpPr>
          <p:nvPr/>
        </p:nvSpPr>
        <p:spPr>
          <a:xfrm>
            <a:off x="1000125" y="3955472"/>
            <a:ext cx="4619625" cy="723900"/>
          </a:xfrm>
          <a:prstGeom prst="rect">
            <a:avLst/>
          </a:prstGeom>
          <a:noFill/>
          <a:ln w="0">
            <a:noFill/>
          </a:ln>
        </p:spPr>
        <p:txBody>
          <a:bodyPr lIns="0" tIns="0" rIns="0" bIns="0" anchor="t">
            <a:noAutofit/>
          </a:bodyPr>
          <a:lstStyle>
            <a:defPPr algn="l">
              <a:defRPr sz="2025" b="0">
                <a:solidFill>
                  <a:srgbClr val="142D4E"/>
                </a:solidFill>
                <a:latin typeface="Helvetica Neue"/>
                <a:ea typeface="Helvetica Neue"/>
                <a:cs typeface="Helvetica Neue"/>
              </a:defRPr>
            </a:defPPr>
            <a:lvl1pPr algn="l">
              <a:defRPr sz="2025" b="0">
                <a:solidFill>
                  <a:srgbClr val="142D4E"/>
                </a:solidFill>
                <a:latin typeface="Helvetica Neue"/>
                <a:ea typeface="Helvetica Neue"/>
                <a:cs typeface="Helvetica Neue"/>
              </a:defRPr>
            </a:lvl1pPr>
            <a:lvl2pPr algn="l">
              <a:defRPr sz="2025" b="0">
                <a:solidFill>
                  <a:srgbClr val="142D4E"/>
                </a:solidFill>
                <a:latin typeface="Helvetica Neue"/>
                <a:ea typeface="Helvetica Neue"/>
                <a:cs typeface="Helvetica Neue"/>
              </a:defRPr>
            </a:lvl2pPr>
            <a:lvl3pPr algn="l">
              <a:defRPr sz="2025" b="0">
                <a:solidFill>
                  <a:srgbClr val="142D4E"/>
                </a:solidFill>
                <a:latin typeface="Helvetica Neue"/>
                <a:ea typeface="Helvetica Neue"/>
                <a:cs typeface="Helvetica Neue"/>
              </a:defRPr>
            </a:lvl3pPr>
            <a:lvl4pPr algn="l">
              <a:defRPr sz="2025" b="0">
                <a:solidFill>
                  <a:srgbClr val="142D4E"/>
                </a:solidFill>
                <a:latin typeface="Helvetica Neue"/>
                <a:ea typeface="Helvetica Neue"/>
                <a:cs typeface="Helvetica Neue"/>
              </a:defRPr>
            </a:lvl4pPr>
            <a:lvl5pPr algn="l">
              <a:defRPr sz="2025" b="0">
                <a:solidFill>
                  <a:srgbClr val="142D4E"/>
                </a:solidFill>
                <a:latin typeface="Helvetica Neue"/>
                <a:ea typeface="Helvetica Neue"/>
                <a:cs typeface="Helvetica Neue"/>
              </a:defRPr>
            </a:lvl5pPr>
            <a:lvl6pPr algn="l">
              <a:defRPr sz="2025" b="0">
                <a:solidFill>
                  <a:srgbClr val="142D4E"/>
                </a:solidFill>
                <a:latin typeface="Helvetica Neue"/>
                <a:ea typeface="Helvetica Neue"/>
                <a:cs typeface="Helvetica Neue"/>
              </a:defRPr>
            </a:lvl6pPr>
            <a:lvl7pPr algn="l">
              <a:defRPr sz="2025" b="0">
                <a:solidFill>
                  <a:srgbClr val="142D4E"/>
                </a:solidFill>
                <a:latin typeface="Helvetica Neue"/>
                <a:ea typeface="Helvetica Neue"/>
                <a:cs typeface="Helvetica Neue"/>
              </a:defRPr>
            </a:lvl7pPr>
            <a:lvl8pPr algn="l">
              <a:defRPr sz="2025" b="0">
                <a:solidFill>
                  <a:srgbClr val="142D4E"/>
                </a:solidFill>
                <a:latin typeface="Helvetica Neue"/>
                <a:ea typeface="Helvetica Neue"/>
                <a:cs typeface="Helvetica Neue"/>
              </a:defRPr>
            </a:lvl8pPr>
            <a:lvl9pPr algn="l">
              <a:defRPr sz="2025" b="0">
                <a:solidFill>
                  <a:srgbClr val="142D4E"/>
                </a:solidFill>
                <a:latin typeface="Helvetica Neue"/>
                <a:ea typeface="Helvetica Neue"/>
                <a:cs typeface="Helvetica Neue"/>
              </a:defRPr>
            </a:lvl9pPr>
          </a:lstStyle>
          <a:p>
            <a:pPr algn="l">
              <a:defRPr sz="2025" b="0">
                <a:solidFill>
                  <a:srgbClr val="142D4E"/>
                </a:solidFill>
                <a:latin typeface="Helvetica Neue"/>
                <a:ea typeface="Helvetica Neue"/>
                <a:cs typeface="Helvetica Neue"/>
              </a:defRPr>
            </a:pPr>
            <a:r>
              <a:rPr sz="2025" b="0">
                <a:solidFill>
                  <a:srgbClr val="142D4E"/>
                </a:solidFill>
                <a:latin typeface="Helvetica Neue"/>
                <a:ea typeface="Helvetica Neue"/>
                <a:cs typeface="Helvetica Neue"/>
              </a:rPr>
              <a:t>Local training and saved experiment artifacts</a:t>
            </a:r>
          </a:p>
        </p:txBody>
      </p:sp>
      <p:sp>
        <p:nvSpPr>
          <p:cNvPr id="9" name="Rectangle 8">
            <a:extLst>
              <a:ext uri="{FF2B5EF4-FFF2-40B4-BE49-F238E27FC236}">
                <a16:creationId xmlns:a16="http://schemas.microsoft.com/office/drawing/2014/main" id="{D1AAE8EF-0DD0-4DF4-B4E6-28C7084B1623}"/>
              </a:ext>
            </a:extLst>
          </p:cNvPr>
          <p:cNvSpPr>
            <a:spLocks noGrp="1"/>
          </p:cNvSpPr>
          <p:nvPr/>
        </p:nvSpPr>
        <p:spPr>
          <a:xfrm>
            <a:off x="6810375" y="1620548"/>
            <a:ext cx="5048250" cy="476250"/>
          </a:xfrm>
          <a:prstGeom prst="rect">
            <a:avLst/>
          </a:prstGeom>
          <a:noFill/>
          <a:ln w="0">
            <a:noFill/>
          </a:ln>
        </p:spPr>
        <p:txBody>
          <a:bodyPr lIns="0" tIns="0" rIns="0" bIns="0" anchor="t">
            <a:noAutofit/>
          </a:bodyPr>
          <a:lstStyle>
            <a:defPPr algn="l">
              <a:defRPr sz="2400" b="1">
                <a:solidFill>
                  <a:srgbClr val="142D4E"/>
                </a:solidFill>
                <a:latin typeface="Helvetica Neue"/>
                <a:ea typeface="Helvetica Neue"/>
                <a:cs typeface="Helvetica Neue"/>
              </a:defRPr>
            </a:defPPr>
            <a:lvl1pPr algn="l">
              <a:defRPr sz="2400" b="1">
                <a:solidFill>
                  <a:srgbClr val="142D4E"/>
                </a:solidFill>
                <a:latin typeface="Helvetica Neue"/>
                <a:ea typeface="Helvetica Neue"/>
                <a:cs typeface="Helvetica Neue"/>
              </a:defRPr>
            </a:lvl1pPr>
            <a:lvl2pPr algn="l">
              <a:defRPr sz="2400" b="1">
                <a:solidFill>
                  <a:srgbClr val="142D4E"/>
                </a:solidFill>
                <a:latin typeface="Helvetica Neue"/>
                <a:ea typeface="Helvetica Neue"/>
                <a:cs typeface="Helvetica Neue"/>
              </a:defRPr>
            </a:lvl2pPr>
            <a:lvl3pPr algn="l">
              <a:defRPr sz="2400" b="1">
                <a:solidFill>
                  <a:srgbClr val="142D4E"/>
                </a:solidFill>
                <a:latin typeface="Helvetica Neue"/>
                <a:ea typeface="Helvetica Neue"/>
                <a:cs typeface="Helvetica Neue"/>
              </a:defRPr>
            </a:lvl3pPr>
            <a:lvl4pPr algn="l">
              <a:defRPr sz="2400" b="1">
                <a:solidFill>
                  <a:srgbClr val="142D4E"/>
                </a:solidFill>
                <a:latin typeface="Helvetica Neue"/>
                <a:ea typeface="Helvetica Neue"/>
                <a:cs typeface="Helvetica Neue"/>
              </a:defRPr>
            </a:lvl4pPr>
            <a:lvl5pPr algn="l">
              <a:defRPr sz="2400" b="1">
                <a:solidFill>
                  <a:srgbClr val="142D4E"/>
                </a:solidFill>
                <a:latin typeface="Helvetica Neue"/>
                <a:ea typeface="Helvetica Neue"/>
                <a:cs typeface="Helvetica Neue"/>
              </a:defRPr>
            </a:lvl5pPr>
            <a:lvl6pPr algn="l">
              <a:defRPr sz="2400" b="1">
                <a:solidFill>
                  <a:srgbClr val="142D4E"/>
                </a:solidFill>
                <a:latin typeface="Helvetica Neue"/>
                <a:ea typeface="Helvetica Neue"/>
                <a:cs typeface="Helvetica Neue"/>
              </a:defRPr>
            </a:lvl6pPr>
            <a:lvl7pPr algn="l">
              <a:defRPr sz="2400" b="1">
                <a:solidFill>
                  <a:srgbClr val="142D4E"/>
                </a:solidFill>
                <a:latin typeface="Helvetica Neue"/>
                <a:ea typeface="Helvetica Neue"/>
                <a:cs typeface="Helvetica Neue"/>
              </a:defRPr>
            </a:lvl7pPr>
            <a:lvl8pPr algn="l">
              <a:defRPr sz="2400" b="1">
                <a:solidFill>
                  <a:srgbClr val="142D4E"/>
                </a:solidFill>
                <a:latin typeface="Helvetica Neue"/>
                <a:ea typeface="Helvetica Neue"/>
                <a:cs typeface="Helvetica Neue"/>
              </a:defRPr>
            </a:lvl8pPr>
            <a:lvl9pPr algn="l">
              <a:defRPr sz="2400" b="1">
                <a:solidFill>
                  <a:srgbClr val="142D4E"/>
                </a:solidFill>
                <a:latin typeface="Helvetica Neue"/>
                <a:ea typeface="Helvetica Neue"/>
                <a:cs typeface="Helvetica Neue"/>
              </a:defRPr>
            </a:lvl9pPr>
          </a:lstStyle>
          <a:p>
            <a:pPr algn="l">
              <a:defRPr sz="2400" b="1">
                <a:solidFill>
                  <a:srgbClr val="142D4E"/>
                </a:solidFill>
                <a:latin typeface="Helvetica Neue"/>
                <a:ea typeface="Helvetica Neue"/>
                <a:cs typeface="Helvetica Neue"/>
              </a:defRPr>
            </a:pPr>
            <a:r>
              <a:rPr sz="2400" b="1">
                <a:solidFill>
                  <a:srgbClr val="142D4E"/>
                </a:solidFill>
                <a:latin typeface="Helvetica Neue"/>
                <a:ea typeface="Helvetica Neue"/>
                <a:cs typeface="Helvetica Neue"/>
              </a:rPr>
              <a:t>Potential value after validation</a:t>
            </a:r>
          </a:p>
        </p:txBody>
      </p:sp>
      <p:sp>
        <p:nvSpPr>
          <p:cNvPr id="10" name="Rectangle 9">
            <a:extLst>
              <a:ext uri="{FF2B5EF4-FFF2-40B4-BE49-F238E27FC236}">
                <a16:creationId xmlns:a16="http://schemas.microsoft.com/office/drawing/2014/main" id="{C9B069EC-5B4F-4029-8458-33CD0E2315C1}"/>
              </a:ext>
            </a:extLst>
          </p:cNvPr>
          <p:cNvSpPr>
            <a:spLocks noGrp="1"/>
          </p:cNvSpPr>
          <p:nvPr/>
        </p:nvSpPr>
        <p:spPr>
          <a:xfrm>
            <a:off x="6477000" y="2860097"/>
            <a:ext cx="228600" cy="457200"/>
          </a:xfrm>
          <a:prstGeom prst="rect">
            <a:avLst/>
          </a:prstGeom>
          <a:noFill/>
          <a:ln w="0">
            <a:noFill/>
          </a:ln>
        </p:spPr>
        <p:txBody>
          <a:bodyPr lIns="0" tIns="0" rIns="0" bIns="0" anchor="t">
            <a:noAutofit/>
          </a:bodyPr>
          <a:lstStyle>
            <a:defPPr algn="l">
              <a:defRPr sz="2025" b="1">
                <a:solidFill>
                  <a:srgbClr val="007F82"/>
                </a:solidFill>
                <a:latin typeface="Helvetica Neue"/>
                <a:ea typeface="Helvetica Neue"/>
                <a:cs typeface="Helvetica Neue"/>
              </a:defRPr>
            </a:defPPr>
            <a:lvl1pPr algn="l">
              <a:defRPr sz="2025" b="1">
                <a:solidFill>
                  <a:srgbClr val="007F82"/>
                </a:solidFill>
                <a:latin typeface="Helvetica Neue"/>
                <a:ea typeface="Helvetica Neue"/>
                <a:cs typeface="Helvetica Neue"/>
              </a:defRPr>
            </a:lvl1pPr>
            <a:lvl2pPr algn="l">
              <a:defRPr sz="2025" b="1">
                <a:solidFill>
                  <a:srgbClr val="007F82"/>
                </a:solidFill>
                <a:latin typeface="Helvetica Neue"/>
                <a:ea typeface="Helvetica Neue"/>
                <a:cs typeface="Helvetica Neue"/>
              </a:defRPr>
            </a:lvl2pPr>
            <a:lvl3pPr algn="l">
              <a:defRPr sz="2025" b="1">
                <a:solidFill>
                  <a:srgbClr val="007F82"/>
                </a:solidFill>
                <a:latin typeface="Helvetica Neue"/>
                <a:ea typeface="Helvetica Neue"/>
                <a:cs typeface="Helvetica Neue"/>
              </a:defRPr>
            </a:lvl3pPr>
            <a:lvl4pPr algn="l">
              <a:defRPr sz="2025" b="1">
                <a:solidFill>
                  <a:srgbClr val="007F82"/>
                </a:solidFill>
                <a:latin typeface="Helvetica Neue"/>
                <a:ea typeface="Helvetica Neue"/>
                <a:cs typeface="Helvetica Neue"/>
              </a:defRPr>
            </a:lvl4pPr>
            <a:lvl5pPr algn="l">
              <a:defRPr sz="2025" b="1">
                <a:solidFill>
                  <a:srgbClr val="007F82"/>
                </a:solidFill>
                <a:latin typeface="Helvetica Neue"/>
                <a:ea typeface="Helvetica Neue"/>
                <a:cs typeface="Helvetica Neue"/>
              </a:defRPr>
            </a:lvl5pPr>
            <a:lvl6pPr algn="l">
              <a:defRPr sz="2025" b="1">
                <a:solidFill>
                  <a:srgbClr val="007F82"/>
                </a:solidFill>
                <a:latin typeface="Helvetica Neue"/>
                <a:ea typeface="Helvetica Neue"/>
                <a:cs typeface="Helvetica Neue"/>
              </a:defRPr>
            </a:lvl6pPr>
            <a:lvl7pPr algn="l">
              <a:defRPr sz="2025" b="1">
                <a:solidFill>
                  <a:srgbClr val="007F82"/>
                </a:solidFill>
                <a:latin typeface="Helvetica Neue"/>
                <a:ea typeface="Helvetica Neue"/>
                <a:cs typeface="Helvetica Neue"/>
              </a:defRPr>
            </a:lvl7pPr>
            <a:lvl8pPr algn="l">
              <a:defRPr sz="2025" b="1">
                <a:solidFill>
                  <a:srgbClr val="007F82"/>
                </a:solidFill>
                <a:latin typeface="Helvetica Neue"/>
                <a:ea typeface="Helvetica Neue"/>
                <a:cs typeface="Helvetica Neue"/>
              </a:defRPr>
            </a:lvl8pPr>
            <a:lvl9pPr algn="l">
              <a:defRPr sz="2025" b="1">
                <a:solidFill>
                  <a:srgbClr val="007F82"/>
                </a:solidFill>
                <a:latin typeface="Helvetica Neue"/>
                <a:ea typeface="Helvetica Neue"/>
                <a:cs typeface="Helvetica Neue"/>
              </a:defRPr>
            </a:lvl9pPr>
          </a:lstStyle>
          <a:p>
            <a:pPr algn="l">
              <a:defRPr sz="2025" b="1">
                <a:solidFill>
                  <a:srgbClr val="007F82"/>
                </a:solidFill>
                <a:latin typeface="Helvetica Neue"/>
                <a:ea typeface="Helvetica Neue"/>
                <a:cs typeface="Helvetica Neue"/>
              </a:defRPr>
            </a:pPr>
            <a:r>
              <a:rPr sz="2025" b="1">
                <a:solidFill>
                  <a:srgbClr val="007F82"/>
                </a:solidFill>
                <a:latin typeface="Helvetica Neue"/>
                <a:ea typeface="Helvetica Neue"/>
                <a:cs typeface="Helvetica Neue"/>
              </a:rPr>
              <a:t>•</a:t>
            </a:r>
          </a:p>
        </p:txBody>
      </p:sp>
      <p:sp>
        <p:nvSpPr>
          <p:cNvPr id="11" name="Rectangle 10">
            <a:extLst>
              <a:ext uri="{FF2B5EF4-FFF2-40B4-BE49-F238E27FC236}">
                <a16:creationId xmlns:a16="http://schemas.microsoft.com/office/drawing/2014/main" id="{8D5737F1-B71F-4405-929B-04D8F7BE1D4B}"/>
              </a:ext>
            </a:extLst>
          </p:cNvPr>
          <p:cNvSpPr>
            <a:spLocks noGrp="1"/>
          </p:cNvSpPr>
          <p:nvPr/>
        </p:nvSpPr>
        <p:spPr>
          <a:xfrm>
            <a:off x="6810375" y="2860097"/>
            <a:ext cx="4714875" cy="723900"/>
          </a:xfrm>
          <a:prstGeom prst="rect">
            <a:avLst/>
          </a:prstGeom>
          <a:noFill/>
          <a:ln w="0">
            <a:noFill/>
          </a:ln>
        </p:spPr>
        <p:txBody>
          <a:bodyPr lIns="0" tIns="0" rIns="0" bIns="0" anchor="t">
            <a:noAutofit/>
          </a:bodyPr>
          <a:lstStyle>
            <a:defPPr algn="l">
              <a:defRPr sz="2025" b="0">
                <a:solidFill>
                  <a:srgbClr val="142D4E"/>
                </a:solidFill>
                <a:latin typeface="Helvetica Neue"/>
                <a:ea typeface="Helvetica Neue"/>
                <a:cs typeface="Helvetica Neue"/>
              </a:defRPr>
            </a:defPPr>
            <a:lvl1pPr algn="l">
              <a:defRPr sz="2025" b="0">
                <a:solidFill>
                  <a:srgbClr val="142D4E"/>
                </a:solidFill>
                <a:latin typeface="Helvetica Neue"/>
                <a:ea typeface="Helvetica Neue"/>
                <a:cs typeface="Helvetica Neue"/>
              </a:defRPr>
            </a:lvl1pPr>
            <a:lvl2pPr algn="l">
              <a:defRPr sz="2025" b="0">
                <a:solidFill>
                  <a:srgbClr val="142D4E"/>
                </a:solidFill>
                <a:latin typeface="Helvetica Neue"/>
                <a:ea typeface="Helvetica Neue"/>
                <a:cs typeface="Helvetica Neue"/>
              </a:defRPr>
            </a:lvl2pPr>
            <a:lvl3pPr algn="l">
              <a:defRPr sz="2025" b="0">
                <a:solidFill>
                  <a:srgbClr val="142D4E"/>
                </a:solidFill>
                <a:latin typeface="Helvetica Neue"/>
                <a:ea typeface="Helvetica Neue"/>
                <a:cs typeface="Helvetica Neue"/>
              </a:defRPr>
            </a:lvl3pPr>
            <a:lvl4pPr algn="l">
              <a:defRPr sz="2025" b="0">
                <a:solidFill>
                  <a:srgbClr val="142D4E"/>
                </a:solidFill>
                <a:latin typeface="Helvetica Neue"/>
                <a:ea typeface="Helvetica Neue"/>
                <a:cs typeface="Helvetica Neue"/>
              </a:defRPr>
            </a:lvl4pPr>
            <a:lvl5pPr algn="l">
              <a:defRPr sz="2025" b="0">
                <a:solidFill>
                  <a:srgbClr val="142D4E"/>
                </a:solidFill>
                <a:latin typeface="Helvetica Neue"/>
                <a:ea typeface="Helvetica Neue"/>
                <a:cs typeface="Helvetica Neue"/>
              </a:defRPr>
            </a:lvl5pPr>
            <a:lvl6pPr algn="l">
              <a:defRPr sz="2025" b="0">
                <a:solidFill>
                  <a:srgbClr val="142D4E"/>
                </a:solidFill>
                <a:latin typeface="Helvetica Neue"/>
                <a:ea typeface="Helvetica Neue"/>
                <a:cs typeface="Helvetica Neue"/>
              </a:defRPr>
            </a:lvl6pPr>
            <a:lvl7pPr algn="l">
              <a:defRPr sz="2025" b="0">
                <a:solidFill>
                  <a:srgbClr val="142D4E"/>
                </a:solidFill>
                <a:latin typeface="Helvetica Neue"/>
                <a:ea typeface="Helvetica Neue"/>
                <a:cs typeface="Helvetica Neue"/>
              </a:defRPr>
            </a:lvl7pPr>
            <a:lvl8pPr algn="l">
              <a:defRPr sz="2025" b="0">
                <a:solidFill>
                  <a:srgbClr val="142D4E"/>
                </a:solidFill>
                <a:latin typeface="Helvetica Neue"/>
                <a:ea typeface="Helvetica Neue"/>
                <a:cs typeface="Helvetica Neue"/>
              </a:defRPr>
            </a:lvl8pPr>
            <a:lvl9pPr algn="l">
              <a:defRPr sz="2025" b="0">
                <a:solidFill>
                  <a:srgbClr val="142D4E"/>
                </a:solidFill>
                <a:latin typeface="Helvetica Neue"/>
                <a:ea typeface="Helvetica Neue"/>
                <a:cs typeface="Helvetica Neue"/>
              </a:defRPr>
            </a:lvl9pPr>
          </a:lstStyle>
          <a:p>
            <a:pPr algn="l">
              <a:defRPr sz="2025" b="0">
                <a:solidFill>
                  <a:srgbClr val="142D4E"/>
                </a:solidFill>
                <a:latin typeface="Helvetica Neue"/>
                <a:ea typeface="Helvetica Neue"/>
                <a:cs typeface="Helvetica Neue"/>
              </a:defRPr>
            </a:pPr>
            <a:r>
              <a:rPr sz="2025" b="0">
                <a:solidFill>
                  <a:srgbClr val="142D4E"/>
                </a:solidFill>
                <a:latin typeface="Helvetica Neue"/>
                <a:ea typeface="Helvetica Neue"/>
                <a:cs typeface="Helvetica Neue"/>
              </a:rPr>
              <a:t>Synthetic data: test downstream utility</a:t>
            </a:r>
          </a:p>
        </p:txBody>
      </p:sp>
      <p:sp>
        <p:nvSpPr>
          <p:cNvPr id="12" name="Rectangle 11">
            <a:extLst>
              <a:ext uri="{FF2B5EF4-FFF2-40B4-BE49-F238E27FC236}">
                <a16:creationId xmlns:a16="http://schemas.microsoft.com/office/drawing/2014/main" id="{CB171070-EA29-47D0-8461-B2943FA84F07}"/>
              </a:ext>
            </a:extLst>
          </p:cNvPr>
          <p:cNvSpPr>
            <a:spLocks noGrp="1"/>
          </p:cNvSpPr>
          <p:nvPr/>
        </p:nvSpPr>
        <p:spPr>
          <a:xfrm>
            <a:off x="6477000" y="3955472"/>
            <a:ext cx="228600" cy="457200"/>
          </a:xfrm>
          <a:prstGeom prst="rect">
            <a:avLst/>
          </a:prstGeom>
          <a:noFill/>
          <a:ln w="0">
            <a:noFill/>
          </a:ln>
        </p:spPr>
        <p:txBody>
          <a:bodyPr lIns="0" tIns="0" rIns="0" bIns="0" anchor="t">
            <a:noAutofit/>
          </a:bodyPr>
          <a:lstStyle>
            <a:defPPr algn="l">
              <a:defRPr sz="2025" b="1">
                <a:solidFill>
                  <a:srgbClr val="007F82"/>
                </a:solidFill>
                <a:latin typeface="Helvetica Neue"/>
                <a:ea typeface="Helvetica Neue"/>
                <a:cs typeface="Helvetica Neue"/>
              </a:defRPr>
            </a:defPPr>
            <a:lvl1pPr algn="l">
              <a:defRPr sz="2025" b="1">
                <a:solidFill>
                  <a:srgbClr val="007F82"/>
                </a:solidFill>
                <a:latin typeface="Helvetica Neue"/>
                <a:ea typeface="Helvetica Neue"/>
                <a:cs typeface="Helvetica Neue"/>
              </a:defRPr>
            </a:lvl1pPr>
            <a:lvl2pPr algn="l">
              <a:defRPr sz="2025" b="1">
                <a:solidFill>
                  <a:srgbClr val="007F82"/>
                </a:solidFill>
                <a:latin typeface="Helvetica Neue"/>
                <a:ea typeface="Helvetica Neue"/>
                <a:cs typeface="Helvetica Neue"/>
              </a:defRPr>
            </a:lvl2pPr>
            <a:lvl3pPr algn="l">
              <a:defRPr sz="2025" b="1">
                <a:solidFill>
                  <a:srgbClr val="007F82"/>
                </a:solidFill>
                <a:latin typeface="Helvetica Neue"/>
                <a:ea typeface="Helvetica Neue"/>
                <a:cs typeface="Helvetica Neue"/>
              </a:defRPr>
            </a:lvl3pPr>
            <a:lvl4pPr algn="l">
              <a:defRPr sz="2025" b="1">
                <a:solidFill>
                  <a:srgbClr val="007F82"/>
                </a:solidFill>
                <a:latin typeface="Helvetica Neue"/>
                <a:ea typeface="Helvetica Neue"/>
                <a:cs typeface="Helvetica Neue"/>
              </a:defRPr>
            </a:lvl4pPr>
            <a:lvl5pPr algn="l">
              <a:defRPr sz="2025" b="1">
                <a:solidFill>
                  <a:srgbClr val="007F82"/>
                </a:solidFill>
                <a:latin typeface="Helvetica Neue"/>
                <a:ea typeface="Helvetica Neue"/>
                <a:cs typeface="Helvetica Neue"/>
              </a:defRPr>
            </a:lvl5pPr>
            <a:lvl6pPr algn="l">
              <a:defRPr sz="2025" b="1">
                <a:solidFill>
                  <a:srgbClr val="007F82"/>
                </a:solidFill>
                <a:latin typeface="Helvetica Neue"/>
                <a:ea typeface="Helvetica Neue"/>
                <a:cs typeface="Helvetica Neue"/>
              </a:defRPr>
            </a:lvl6pPr>
            <a:lvl7pPr algn="l">
              <a:defRPr sz="2025" b="1">
                <a:solidFill>
                  <a:srgbClr val="007F82"/>
                </a:solidFill>
                <a:latin typeface="Helvetica Neue"/>
                <a:ea typeface="Helvetica Neue"/>
                <a:cs typeface="Helvetica Neue"/>
              </a:defRPr>
            </a:lvl7pPr>
            <a:lvl8pPr algn="l">
              <a:defRPr sz="2025" b="1">
                <a:solidFill>
                  <a:srgbClr val="007F82"/>
                </a:solidFill>
                <a:latin typeface="Helvetica Neue"/>
                <a:ea typeface="Helvetica Neue"/>
                <a:cs typeface="Helvetica Neue"/>
              </a:defRPr>
            </a:lvl8pPr>
            <a:lvl9pPr algn="l">
              <a:defRPr sz="2025" b="1">
                <a:solidFill>
                  <a:srgbClr val="007F82"/>
                </a:solidFill>
                <a:latin typeface="Helvetica Neue"/>
                <a:ea typeface="Helvetica Neue"/>
                <a:cs typeface="Helvetica Neue"/>
              </a:defRPr>
            </a:lvl9pPr>
          </a:lstStyle>
          <a:p>
            <a:pPr algn="l">
              <a:defRPr sz="2025" b="1">
                <a:solidFill>
                  <a:srgbClr val="007F82"/>
                </a:solidFill>
                <a:latin typeface="Helvetica Neue"/>
                <a:ea typeface="Helvetica Neue"/>
                <a:cs typeface="Helvetica Neue"/>
              </a:defRPr>
            </a:pPr>
            <a:r>
              <a:rPr sz="2025" b="1">
                <a:solidFill>
                  <a:srgbClr val="007F82"/>
                </a:solidFill>
                <a:latin typeface="Helvetica Neue"/>
                <a:ea typeface="Helvetica Neue"/>
                <a:cs typeface="Helvetica Neue"/>
              </a:rPr>
              <a:t>•</a:t>
            </a:r>
          </a:p>
        </p:txBody>
      </p:sp>
      <p:sp>
        <p:nvSpPr>
          <p:cNvPr id="13" name="Rectangle 12">
            <a:extLst>
              <a:ext uri="{FF2B5EF4-FFF2-40B4-BE49-F238E27FC236}">
                <a16:creationId xmlns:a16="http://schemas.microsoft.com/office/drawing/2014/main" id="{9D104B42-11B0-4985-8350-B6068D94B3BB}"/>
              </a:ext>
            </a:extLst>
          </p:cNvPr>
          <p:cNvSpPr>
            <a:spLocks noGrp="1"/>
          </p:cNvSpPr>
          <p:nvPr/>
        </p:nvSpPr>
        <p:spPr>
          <a:xfrm>
            <a:off x="6810375" y="3955472"/>
            <a:ext cx="4714875" cy="723900"/>
          </a:xfrm>
          <a:prstGeom prst="rect">
            <a:avLst/>
          </a:prstGeom>
          <a:noFill/>
          <a:ln w="0">
            <a:noFill/>
          </a:ln>
        </p:spPr>
        <p:txBody>
          <a:bodyPr lIns="0" tIns="0" rIns="0" bIns="0" anchor="t">
            <a:noAutofit/>
          </a:bodyPr>
          <a:lstStyle>
            <a:defPPr algn="l">
              <a:defRPr sz="2025" b="0">
                <a:solidFill>
                  <a:srgbClr val="142D4E"/>
                </a:solidFill>
                <a:latin typeface="Helvetica Neue"/>
                <a:ea typeface="Helvetica Neue"/>
                <a:cs typeface="Helvetica Neue"/>
              </a:defRPr>
            </a:defPPr>
            <a:lvl1pPr algn="l">
              <a:defRPr sz="2025" b="0">
                <a:solidFill>
                  <a:srgbClr val="142D4E"/>
                </a:solidFill>
                <a:latin typeface="Helvetica Neue"/>
                <a:ea typeface="Helvetica Neue"/>
                <a:cs typeface="Helvetica Neue"/>
              </a:defRPr>
            </a:lvl1pPr>
            <a:lvl2pPr algn="l">
              <a:defRPr sz="2025" b="0">
                <a:solidFill>
                  <a:srgbClr val="142D4E"/>
                </a:solidFill>
                <a:latin typeface="Helvetica Neue"/>
                <a:ea typeface="Helvetica Neue"/>
                <a:cs typeface="Helvetica Neue"/>
              </a:defRPr>
            </a:lvl2pPr>
            <a:lvl3pPr algn="l">
              <a:defRPr sz="2025" b="0">
                <a:solidFill>
                  <a:srgbClr val="142D4E"/>
                </a:solidFill>
                <a:latin typeface="Helvetica Neue"/>
                <a:ea typeface="Helvetica Neue"/>
                <a:cs typeface="Helvetica Neue"/>
              </a:defRPr>
            </a:lvl3pPr>
            <a:lvl4pPr algn="l">
              <a:defRPr sz="2025" b="0">
                <a:solidFill>
                  <a:srgbClr val="142D4E"/>
                </a:solidFill>
                <a:latin typeface="Helvetica Neue"/>
                <a:ea typeface="Helvetica Neue"/>
                <a:cs typeface="Helvetica Neue"/>
              </a:defRPr>
            </a:lvl4pPr>
            <a:lvl5pPr algn="l">
              <a:defRPr sz="2025" b="0">
                <a:solidFill>
                  <a:srgbClr val="142D4E"/>
                </a:solidFill>
                <a:latin typeface="Helvetica Neue"/>
                <a:ea typeface="Helvetica Neue"/>
                <a:cs typeface="Helvetica Neue"/>
              </a:defRPr>
            </a:lvl5pPr>
            <a:lvl6pPr algn="l">
              <a:defRPr sz="2025" b="0">
                <a:solidFill>
                  <a:srgbClr val="142D4E"/>
                </a:solidFill>
                <a:latin typeface="Helvetica Neue"/>
                <a:ea typeface="Helvetica Neue"/>
                <a:cs typeface="Helvetica Neue"/>
              </a:defRPr>
            </a:lvl6pPr>
            <a:lvl7pPr algn="l">
              <a:defRPr sz="2025" b="0">
                <a:solidFill>
                  <a:srgbClr val="142D4E"/>
                </a:solidFill>
                <a:latin typeface="Helvetica Neue"/>
                <a:ea typeface="Helvetica Neue"/>
                <a:cs typeface="Helvetica Neue"/>
              </a:defRPr>
            </a:lvl7pPr>
            <a:lvl8pPr algn="l">
              <a:defRPr sz="2025" b="0">
                <a:solidFill>
                  <a:srgbClr val="142D4E"/>
                </a:solidFill>
                <a:latin typeface="Helvetica Neue"/>
                <a:ea typeface="Helvetica Neue"/>
                <a:cs typeface="Helvetica Neue"/>
              </a:defRPr>
            </a:lvl8pPr>
            <a:lvl9pPr algn="l">
              <a:defRPr sz="2025" b="0">
                <a:solidFill>
                  <a:srgbClr val="142D4E"/>
                </a:solidFill>
                <a:latin typeface="Helvetica Neue"/>
                <a:ea typeface="Helvetica Neue"/>
                <a:cs typeface="Helvetica Neue"/>
              </a:defRPr>
            </a:lvl9pPr>
          </a:lstStyle>
          <a:p>
            <a:pPr algn="l">
              <a:defRPr sz="2025" b="0">
                <a:solidFill>
                  <a:srgbClr val="142D4E"/>
                </a:solidFill>
                <a:latin typeface="Helvetica Neue"/>
                <a:ea typeface="Helvetica Neue"/>
                <a:cs typeface="Helvetica Neue"/>
              </a:defRPr>
            </a:pPr>
            <a:r>
              <a:rPr sz="2025" b="0">
                <a:solidFill>
                  <a:srgbClr val="142D4E"/>
                </a:solidFill>
                <a:latin typeface="Helvetica Neue"/>
                <a:ea typeface="Helvetica Neue"/>
                <a:cs typeface="Helvetica Neue"/>
              </a:rPr>
              <a:t>Image ideation: verify quality and latency</a:t>
            </a:r>
          </a:p>
        </p:txBody>
      </p:sp>
      <p:sp>
        <p:nvSpPr>
          <p:cNvPr id="14" name="Rectangle 13">
            <a:extLst>
              <a:ext uri="{FF2B5EF4-FFF2-40B4-BE49-F238E27FC236}">
                <a16:creationId xmlns:a16="http://schemas.microsoft.com/office/drawing/2014/main" id="{113AA4C1-4A27-49D8-87CC-0F782E3D3F48}"/>
              </a:ext>
            </a:extLst>
          </p:cNvPr>
          <p:cNvSpPr>
            <a:spLocks noGrp="1"/>
          </p:cNvSpPr>
          <p:nvPr/>
        </p:nvSpPr>
        <p:spPr>
          <a:xfrm>
            <a:off x="666750" y="5791200"/>
            <a:ext cx="10668000" cy="476250"/>
          </a:xfrm>
          <a:prstGeom prst="rect">
            <a:avLst/>
          </a:prstGeom>
          <a:noFill/>
          <a:ln w="0">
            <a:noFill/>
          </a:ln>
        </p:spPr>
        <p:txBody>
          <a:bodyPr lIns="0" tIns="0" rIns="0" bIns="0" anchor="t">
            <a:noAutofit/>
          </a:bodyPr>
          <a:lstStyle>
            <a:defPPr algn="l">
              <a:defRPr sz="1875" b="1">
                <a:solidFill>
                  <a:srgbClr val="007F82"/>
                </a:solidFill>
                <a:latin typeface="Helvetica Neue"/>
                <a:ea typeface="Helvetica Neue"/>
                <a:cs typeface="Helvetica Neue"/>
              </a:defRPr>
            </a:defPPr>
            <a:lvl1pPr algn="l">
              <a:defRPr sz="1875" b="1">
                <a:solidFill>
                  <a:srgbClr val="007F82"/>
                </a:solidFill>
                <a:latin typeface="Helvetica Neue"/>
                <a:ea typeface="Helvetica Neue"/>
                <a:cs typeface="Helvetica Neue"/>
              </a:defRPr>
            </a:lvl1pPr>
            <a:lvl2pPr algn="l">
              <a:defRPr sz="1875" b="1">
                <a:solidFill>
                  <a:srgbClr val="007F82"/>
                </a:solidFill>
                <a:latin typeface="Helvetica Neue"/>
                <a:ea typeface="Helvetica Neue"/>
                <a:cs typeface="Helvetica Neue"/>
              </a:defRPr>
            </a:lvl2pPr>
            <a:lvl3pPr algn="l">
              <a:defRPr sz="1875" b="1">
                <a:solidFill>
                  <a:srgbClr val="007F82"/>
                </a:solidFill>
                <a:latin typeface="Helvetica Neue"/>
                <a:ea typeface="Helvetica Neue"/>
                <a:cs typeface="Helvetica Neue"/>
              </a:defRPr>
            </a:lvl3pPr>
            <a:lvl4pPr algn="l">
              <a:defRPr sz="1875" b="1">
                <a:solidFill>
                  <a:srgbClr val="007F82"/>
                </a:solidFill>
                <a:latin typeface="Helvetica Neue"/>
                <a:ea typeface="Helvetica Neue"/>
                <a:cs typeface="Helvetica Neue"/>
              </a:defRPr>
            </a:lvl4pPr>
            <a:lvl5pPr algn="l">
              <a:defRPr sz="1875" b="1">
                <a:solidFill>
                  <a:srgbClr val="007F82"/>
                </a:solidFill>
                <a:latin typeface="Helvetica Neue"/>
                <a:ea typeface="Helvetica Neue"/>
                <a:cs typeface="Helvetica Neue"/>
              </a:defRPr>
            </a:lvl5pPr>
            <a:lvl6pPr algn="l">
              <a:defRPr sz="1875" b="1">
                <a:solidFill>
                  <a:srgbClr val="007F82"/>
                </a:solidFill>
                <a:latin typeface="Helvetica Neue"/>
                <a:ea typeface="Helvetica Neue"/>
                <a:cs typeface="Helvetica Neue"/>
              </a:defRPr>
            </a:lvl6pPr>
            <a:lvl7pPr algn="l">
              <a:defRPr sz="1875" b="1">
                <a:solidFill>
                  <a:srgbClr val="007F82"/>
                </a:solidFill>
                <a:latin typeface="Helvetica Neue"/>
                <a:ea typeface="Helvetica Neue"/>
                <a:cs typeface="Helvetica Neue"/>
              </a:defRPr>
            </a:lvl7pPr>
            <a:lvl8pPr algn="l">
              <a:defRPr sz="1875" b="1">
                <a:solidFill>
                  <a:srgbClr val="007F82"/>
                </a:solidFill>
                <a:latin typeface="Helvetica Neue"/>
                <a:ea typeface="Helvetica Neue"/>
                <a:cs typeface="Helvetica Neue"/>
              </a:defRPr>
            </a:lvl8pPr>
            <a:lvl9pPr algn="l">
              <a:defRPr sz="1875" b="1">
                <a:solidFill>
                  <a:srgbClr val="007F82"/>
                </a:solidFill>
                <a:latin typeface="Helvetica Neue"/>
                <a:ea typeface="Helvetica Neue"/>
                <a:cs typeface="Helvetica Neue"/>
              </a:defRPr>
            </a:lvl9pPr>
          </a:lstStyle>
          <a:p>
            <a:pPr algn="l">
              <a:defRPr sz="1875" b="1">
                <a:solidFill>
                  <a:srgbClr val="007F82"/>
                </a:solidFill>
                <a:latin typeface="Helvetica Neue"/>
                <a:ea typeface="Helvetica Neue"/>
                <a:cs typeface="Helvetica Neue"/>
              </a:defRPr>
            </a:pPr>
            <a:r>
              <a:rPr sz="1875" b="1">
                <a:solidFill>
                  <a:srgbClr val="007F82"/>
                </a:solidFill>
                <a:latin typeface="Helvetica Neue"/>
                <a:ea typeface="Helvetica Neue"/>
                <a:cs typeface="Helvetica Neue"/>
              </a:rPr>
              <a:t>No measured business impact, privacy guarantee or production readiness</a:t>
            </a:r>
          </a:p>
        </p:txBody>
      </p:sp>
    </p:spTree>
    <p:extLst>
      <p:ext uri="{BB962C8B-B14F-4D97-AF65-F5344CB8AC3E}">
        <p14:creationId xmlns:p14="http://schemas.microsoft.com/office/powerpoint/2010/main" val="2061899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B10925A-6C11-4675-9A5C-8ACA6F43A582}"/>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142D4E"/>
                </a:solidFill>
                <a:latin typeface="Helvetica Neue"/>
                <a:ea typeface="Helvetica Neue"/>
                <a:cs typeface="Helvetica Neue"/>
              </a:defRPr>
            </a:defPPr>
            <a:lvl1pPr algn="l">
              <a:defRPr sz="3300" b="1">
                <a:solidFill>
                  <a:srgbClr val="142D4E"/>
                </a:solidFill>
                <a:latin typeface="Helvetica Neue"/>
                <a:ea typeface="Helvetica Neue"/>
                <a:cs typeface="Helvetica Neue"/>
              </a:defRPr>
            </a:lvl1pPr>
            <a:lvl2pPr algn="l">
              <a:defRPr sz="3300" b="1">
                <a:solidFill>
                  <a:srgbClr val="142D4E"/>
                </a:solidFill>
                <a:latin typeface="Helvetica Neue"/>
                <a:ea typeface="Helvetica Neue"/>
                <a:cs typeface="Helvetica Neue"/>
              </a:defRPr>
            </a:lvl2pPr>
            <a:lvl3pPr algn="l">
              <a:defRPr sz="3300" b="1">
                <a:solidFill>
                  <a:srgbClr val="142D4E"/>
                </a:solidFill>
                <a:latin typeface="Helvetica Neue"/>
                <a:ea typeface="Helvetica Neue"/>
                <a:cs typeface="Helvetica Neue"/>
              </a:defRPr>
            </a:lvl3pPr>
            <a:lvl4pPr algn="l">
              <a:defRPr sz="3300" b="1">
                <a:solidFill>
                  <a:srgbClr val="142D4E"/>
                </a:solidFill>
                <a:latin typeface="Helvetica Neue"/>
                <a:ea typeface="Helvetica Neue"/>
                <a:cs typeface="Helvetica Neue"/>
              </a:defRPr>
            </a:lvl4pPr>
            <a:lvl5pPr algn="l">
              <a:defRPr sz="3300" b="1">
                <a:solidFill>
                  <a:srgbClr val="142D4E"/>
                </a:solidFill>
                <a:latin typeface="Helvetica Neue"/>
                <a:ea typeface="Helvetica Neue"/>
                <a:cs typeface="Helvetica Neue"/>
              </a:defRPr>
            </a:lvl5pPr>
            <a:lvl6pPr algn="l">
              <a:defRPr sz="3300" b="1">
                <a:solidFill>
                  <a:srgbClr val="142D4E"/>
                </a:solidFill>
                <a:latin typeface="Helvetica Neue"/>
                <a:ea typeface="Helvetica Neue"/>
                <a:cs typeface="Helvetica Neue"/>
              </a:defRPr>
            </a:lvl6pPr>
            <a:lvl7pPr algn="l">
              <a:defRPr sz="3300" b="1">
                <a:solidFill>
                  <a:srgbClr val="142D4E"/>
                </a:solidFill>
                <a:latin typeface="Helvetica Neue"/>
                <a:ea typeface="Helvetica Neue"/>
                <a:cs typeface="Helvetica Neue"/>
              </a:defRPr>
            </a:lvl7pPr>
            <a:lvl8pPr algn="l">
              <a:defRPr sz="3300" b="1">
                <a:solidFill>
                  <a:srgbClr val="142D4E"/>
                </a:solidFill>
                <a:latin typeface="Helvetica Neue"/>
                <a:ea typeface="Helvetica Neue"/>
                <a:cs typeface="Helvetica Neue"/>
              </a:defRPr>
            </a:lvl8pPr>
            <a:lvl9pPr algn="l">
              <a:defRPr sz="3300" b="1">
                <a:solidFill>
                  <a:srgbClr val="142D4E"/>
                </a:solidFill>
                <a:latin typeface="Helvetica Neue"/>
                <a:ea typeface="Helvetica Neue"/>
                <a:cs typeface="Helvetica Neue"/>
              </a:defRPr>
            </a:lvl9pPr>
          </a:lstStyle>
          <a:p>
            <a:pPr algn="l">
              <a:defRPr sz="3300" b="1">
                <a:solidFill>
                  <a:srgbClr val="142D4E"/>
                </a:solidFill>
                <a:latin typeface="Helvetica Neue"/>
                <a:ea typeface="Helvetica Neue"/>
                <a:cs typeface="Helvetica Neue"/>
              </a:defRPr>
            </a:pPr>
            <a:r>
              <a:rPr sz="3300" b="1">
                <a:solidFill>
                  <a:srgbClr val="142D4E"/>
                </a:solidFill>
                <a:latin typeface="Helvetica Neue"/>
                <a:ea typeface="Helvetica Neue"/>
                <a:cs typeface="Helvetica Neue"/>
              </a:rPr>
              <a:t>Limitations and next experiments</a:t>
            </a:r>
          </a:p>
        </p:txBody>
      </p:sp>
      <p:sp>
        <p:nvSpPr>
          <p:cNvPr id="2" name="Rectangle 1">
            <a:extLst>
              <a:ext uri="{FF2B5EF4-FFF2-40B4-BE49-F238E27FC236}">
                <a16:creationId xmlns:a16="http://schemas.microsoft.com/office/drawing/2014/main" id="{71510747-9AA1-4A95-942F-760B25A20B4C}"/>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53657B"/>
                </a:solidFill>
                <a:latin typeface="Helvetica Neue"/>
                <a:ea typeface="Helvetica Neue"/>
                <a:cs typeface="Helvetica Neue"/>
              </a:defRPr>
            </a:defPPr>
            <a:lvl1pPr algn="r">
              <a:defRPr sz="1200" b="0">
                <a:solidFill>
                  <a:srgbClr val="53657B"/>
                </a:solidFill>
                <a:latin typeface="Helvetica Neue"/>
                <a:ea typeface="Helvetica Neue"/>
                <a:cs typeface="Helvetica Neue"/>
              </a:defRPr>
            </a:lvl1pPr>
            <a:lvl2pPr algn="r">
              <a:defRPr sz="1200" b="0">
                <a:solidFill>
                  <a:srgbClr val="53657B"/>
                </a:solidFill>
                <a:latin typeface="Helvetica Neue"/>
                <a:ea typeface="Helvetica Neue"/>
                <a:cs typeface="Helvetica Neue"/>
              </a:defRPr>
            </a:lvl2pPr>
            <a:lvl3pPr algn="r">
              <a:defRPr sz="1200" b="0">
                <a:solidFill>
                  <a:srgbClr val="53657B"/>
                </a:solidFill>
                <a:latin typeface="Helvetica Neue"/>
                <a:ea typeface="Helvetica Neue"/>
                <a:cs typeface="Helvetica Neue"/>
              </a:defRPr>
            </a:lvl3pPr>
            <a:lvl4pPr algn="r">
              <a:defRPr sz="1200" b="0">
                <a:solidFill>
                  <a:srgbClr val="53657B"/>
                </a:solidFill>
                <a:latin typeface="Helvetica Neue"/>
                <a:ea typeface="Helvetica Neue"/>
                <a:cs typeface="Helvetica Neue"/>
              </a:defRPr>
            </a:lvl4pPr>
            <a:lvl5pPr algn="r">
              <a:defRPr sz="1200" b="0">
                <a:solidFill>
                  <a:srgbClr val="53657B"/>
                </a:solidFill>
                <a:latin typeface="Helvetica Neue"/>
                <a:ea typeface="Helvetica Neue"/>
                <a:cs typeface="Helvetica Neue"/>
              </a:defRPr>
            </a:lvl5pPr>
            <a:lvl6pPr algn="r">
              <a:defRPr sz="1200" b="0">
                <a:solidFill>
                  <a:srgbClr val="53657B"/>
                </a:solidFill>
                <a:latin typeface="Helvetica Neue"/>
                <a:ea typeface="Helvetica Neue"/>
                <a:cs typeface="Helvetica Neue"/>
              </a:defRPr>
            </a:lvl6pPr>
            <a:lvl7pPr algn="r">
              <a:defRPr sz="1200" b="0">
                <a:solidFill>
                  <a:srgbClr val="53657B"/>
                </a:solidFill>
                <a:latin typeface="Helvetica Neue"/>
                <a:ea typeface="Helvetica Neue"/>
                <a:cs typeface="Helvetica Neue"/>
              </a:defRPr>
            </a:lvl7pPr>
            <a:lvl8pPr algn="r">
              <a:defRPr sz="1200" b="0">
                <a:solidFill>
                  <a:srgbClr val="53657B"/>
                </a:solidFill>
                <a:latin typeface="Helvetica Neue"/>
                <a:ea typeface="Helvetica Neue"/>
                <a:cs typeface="Helvetica Neue"/>
              </a:defRPr>
            </a:lvl8pPr>
            <a:lvl9pPr algn="r">
              <a:defRPr sz="1200" b="0">
                <a:solidFill>
                  <a:srgbClr val="53657B"/>
                </a:solidFill>
                <a:latin typeface="Helvetica Neue"/>
                <a:ea typeface="Helvetica Neue"/>
                <a:cs typeface="Helvetica Neue"/>
              </a:defRPr>
            </a:lvl9pPr>
          </a:lstStyle>
          <a:p>
            <a:pPr algn="r">
              <a:defRPr sz="1200" b="0">
                <a:solidFill>
                  <a:srgbClr val="53657B"/>
                </a:solidFill>
                <a:latin typeface="Helvetica Neue"/>
                <a:ea typeface="Helvetica Neue"/>
                <a:cs typeface="Helvetica Neue"/>
              </a:defRPr>
            </a:pPr>
            <a:r>
              <a:rPr sz="1200" b="0">
                <a:solidFill>
                  <a:srgbClr val="53657B"/>
                </a:solidFill>
                <a:latin typeface="Helvetica Neue"/>
                <a:ea typeface="Helvetica Neue"/>
                <a:cs typeface="Helvetica Neue"/>
              </a:rPr>
              <a:t>24</a:t>
            </a:r>
          </a:p>
        </p:txBody>
      </p:sp>
      <p:graphicFrame>
        <p:nvGraphicFramePr>
          <p:cNvPr id="4" name="Table 3">
            <a:extLst>
              <a:ext uri="{FF2B5EF4-FFF2-40B4-BE49-F238E27FC236}">
                <a16:creationId xmlns:a16="http://schemas.microsoft.com/office/drawing/2014/main" id="{E5D5A52E-321A-4977-A88E-E6334F276A64}"/>
              </a:ext>
            </a:extLst>
          </p:cNvPr>
          <p:cNvGraphicFramePr/>
          <p:nvPr/>
        </p:nvGraphicFramePr>
        <p:xfrm>
          <a:off x="666750" y="1666875"/>
          <a:ext cx="10858500" cy="3333750"/>
        </p:xfrm>
        <a:graphic>
          <a:graphicData uri="http://schemas.openxmlformats.org/drawingml/2006/table">
            <a:tbl>
              <a:tblPr/>
              <a:tblGrid>
                <a:gridCol w="2333625">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333875">
                  <a:extLst>
                    <a:ext uri="{9D8B030D-6E8A-4147-A177-3AD203B41FA5}">
                      <a16:colId xmlns:a16="http://schemas.microsoft.com/office/drawing/2014/main" val="20002"/>
                    </a:ext>
                  </a:extLst>
                </a:gridCol>
              </a:tblGrid>
              <a:tr h="666750">
                <a:tc>
                  <a:txBody>
                    <a:bodyPr/>
                    <a:lstStyle/>
                    <a:p>
                      <a:r>
                        <a:rPr sz="1725" b="1">
                          <a:solidFill>
                            <a:srgbClr val="FFFFFF"/>
                          </a:solidFill>
                          <a:latin typeface="Helvetica Neue"/>
                          <a:ea typeface="Helvetica Neue"/>
                          <a:cs typeface="Helvetica Neue"/>
                        </a:rPr>
                        <a:t>Priority</a:t>
                      </a:r>
                    </a:p>
                  </a:txBody>
                  <a:tcPr anchor="ctr">
                    <a:lnL w="9525">
                      <a:solidFill>
                        <a:srgbClr val="D4DEE8"/>
                      </a:solidFill>
                      <a:prstDash val="soli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tc>
                  <a:txBody>
                    <a:bodyPr/>
                    <a:lstStyle/>
                    <a:p>
                      <a:r>
                        <a:rPr sz="1725" b="1">
                          <a:solidFill>
                            <a:srgbClr val="FFFFFF"/>
                          </a:solidFill>
                          <a:latin typeface="Helvetica Neue"/>
                          <a:ea typeface="Helvetica Neue"/>
                          <a:cs typeface="Helvetica Neue"/>
                        </a:rPr>
                        <a:t>Current limitation</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tc>
                  <a:txBody>
                    <a:bodyPr/>
                    <a:lstStyle/>
                    <a:p>
                      <a:r>
                        <a:rPr sz="1725" b="1">
                          <a:solidFill>
                            <a:srgbClr val="FFFFFF"/>
                          </a:solidFill>
                          <a:latin typeface="Helvetica Neue"/>
                          <a:ea typeface="Helvetica Neue"/>
                          <a:cs typeface="Helvetica Neue"/>
                        </a:rPr>
                        <a:t>Next action</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142D4E"/>
                    </a:solidFill>
                  </a:tcPr>
                </a:tc>
                <a:extLst>
                  <a:ext uri="{0D108BD9-81ED-4DB2-BD59-A6C34878D82A}">
                    <a16:rowId xmlns:a16="http://schemas.microsoft.com/office/drawing/2014/main" val="10000"/>
                  </a:ext>
                </a:extLst>
              </a:tr>
              <a:tr h="666750">
                <a:tc>
                  <a:txBody>
                    <a:bodyPr/>
                    <a:lstStyle/>
                    <a:p>
                      <a:r>
                        <a:rPr sz="1725" b="0">
                          <a:solidFill>
                            <a:srgbClr val="142D4E"/>
                          </a:solidFill>
                          <a:latin typeface="Helvetica Neue"/>
                          <a:ea typeface="Helvetica Neue"/>
                          <a:cs typeface="Helvetica Neue"/>
                        </a:rPr>
                        <a:t>1. Reproduce</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32-channel checkpoint versus 64-channel default</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Load per-run architecture and log provenance</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extLst>
                  <a:ext uri="{0D108BD9-81ED-4DB2-BD59-A6C34878D82A}">
                    <a16:rowId xmlns:a16="http://schemas.microsoft.com/office/drawing/2014/main" val="10001"/>
                  </a:ext>
                </a:extLst>
              </a:tr>
              <a:tr h="666750">
                <a:tc>
                  <a:txBody>
                    <a:bodyPr/>
                    <a:lstStyle/>
                    <a:p>
                      <a:r>
                        <a:rPr sz="1725" b="0">
                          <a:solidFill>
                            <a:srgbClr val="142D4E"/>
                          </a:solidFill>
                          <a:latin typeface="Helvetica Neue"/>
                          <a:ea typeface="Helvetica Neue"/>
                          <a:cs typeface="Helvetica Neue"/>
                        </a:rPr>
                        <a:t>2. Measure</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Artifacts in grids, no saved quality scores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Generate a fixed set and retain metrics/timing</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extLst>
                  <a:ext uri="{0D108BD9-81ED-4DB2-BD59-A6C34878D82A}">
                    <a16:rowId xmlns:a16="http://schemas.microsoft.com/office/drawing/2014/main" val="10002"/>
                  </a:ext>
                </a:extLst>
              </a:tr>
              <a:tr h="666750">
                <a:tc>
                  <a:txBody>
                    <a:bodyPr/>
                    <a:lstStyle/>
                    <a:p>
                      <a:r>
                        <a:rPr sz="1725" b="0">
                          <a:solidFill>
                            <a:srgbClr val="142D4E"/>
                          </a:solidFill>
                          <a:latin typeface="Helvetica Neue"/>
                          <a:ea typeface="Helvetica Neue"/>
                          <a:cs typeface="Helvetica Neue"/>
                        </a:rPr>
                        <a:t>3. Compare</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Missing ablations and baseline results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tc>
                  <a:txBody>
                    <a:bodyPr/>
                    <a:lstStyle/>
                    <a:p>
                      <a:r>
                        <a:rPr sz="1725" b="0">
                          <a:solidFill>
                            <a:srgbClr val="142D4E"/>
                          </a:solidFill>
                          <a:latin typeface="Helvetica Neue"/>
                          <a:ea typeface="Helvetica Neue"/>
                          <a:cs typeface="Helvetica Neue"/>
                        </a:rPr>
                        <a:t>Use fair budgets and report uncertainty</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FFFFF"/>
                    </a:solidFill>
                  </a:tcPr>
                </a:tc>
                <a:extLst>
                  <a:ext uri="{0D108BD9-81ED-4DB2-BD59-A6C34878D82A}">
                    <a16:rowId xmlns:a16="http://schemas.microsoft.com/office/drawing/2014/main" val="10003"/>
                  </a:ext>
                </a:extLst>
              </a:tr>
              <a:tr h="666750">
                <a:tc>
                  <a:txBody>
                    <a:bodyPr/>
                    <a:lstStyle/>
                    <a:p>
                      <a:r>
                        <a:rPr sz="1725" b="0">
                          <a:solidFill>
                            <a:srgbClr val="142D4E"/>
                          </a:solidFill>
                          <a:latin typeface="Helvetica Neue"/>
                          <a:ea typeface="Helvetica Neue"/>
                          <a:cs typeface="Helvetica Neue"/>
                        </a:rPr>
                        <a:t>4. Extend</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Unconditional 32 × 32 prototype</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tc>
                  <a:txBody>
                    <a:bodyPr/>
                    <a:lstStyle/>
                    <a:p>
                      <a:r>
                        <a:rPr sz="1725" b="0">
                          <a:solidFill>
                            <a:srgbClr val="142D4E"/>
                          </a:solidFill>
                          <a:latin typeface="Helvetica Neue"/>
                          <a:ea typeface="Helvetica Neue"/>
                          <a:cs typeface="Helvetica Neue"/>
                        </a:rPr>
                        <a:t>Improve quality before conditioning or an app</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EDF3F7"/>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666A1BC1-6B49-4898-8BBE-DFB4C1844DAA}"/>
              </a:ext>
            </a:extLst>
          </p:cNvPr>
          <p:cNvSpPr>
            <a:spLocks noGrp="1"/>
          </p:cNvSpPr>
          <p:nvPr/>
        </p:nvSpPr>
        <p:spPr>
          <a:xfrm>
            <a:off x="666750" y="5791200"/>
            <a:ext cx="10668000" cy="476250"/>
          </a:xfrm>
          <a:prstGeom prst="rect">
            <a:avLst/>
          </a:prstGeom>
          <a:noFill/>
          <a:ln w="0">
            <a:noFill/>
          </a:ln>
        </p:spPr>
        <p:txBody>
          <a:bodyPr lIns="0" tIns="0" rIns="0" bIns="0" anchor="t">
            <a:noAutofit/>
          </a:bodyPr>
          <a:lstStyle>
            <a:defPPr algn="l">
              <a:defRPr sz="1875" b="1">
                <a:solidFill>
                  <a:srgbClr val="007F82"/>
                </a:solidFill>
                <a:latin typeface="Helvetica Neue"/>
                <a:ea typeface="Helvetica Neue"/>
                <a:cs typeface="Helvetica Neue"/>
              </a:defRPr>
            </a:defPPr>
            <a:lvl1pPr algn="l">
              <a:defRPr sz="1875" b="1">
                <a:solidFill>
                  <a:srgbClr val="007F82"/>
                </a:solidFill>
                <a:latin typeface="Helvetica Neue"/>
                <a:ea typeface="Helvetica Neue"/>
                <a:cs typeface="Helvetica Neue"/>
              </a:defRPr>
            </a:lvl1pPr>
            <a:lvl2pPr algn="l">
              <a:defRPr sz="1875" b="1">
                <a:solidFill>
                  <a:srgbClr val="007F82"/>
                </a:solidFill>
                <a:latin typeface="Helvetica Neue"/>
                <a:ea typeface="Helvetica Neue"/>
                <a:cs typeface="Helvetica Neue"/>
              </a:defRPr>
            </a:lvl2pPr>
            <a:lvl3pPr algn="l">
              <a:defRPr sz="1875" b="1">
                <a:solidFill>
                  <a:srgbClr val="007F82"/>
                </a:solidFill>
                <a:latin typeface="Helvetica Neue"/>
                <a:ea typeface="Helvetica Neue"/>
                <a:cs typeface="Helvetica Neue"/>
              </a:defRPr>
            </a:lvl3pPr>
            <a:lvl4pPr algn="l">
              <a:defRPr sz="1875" b="1">
                <a:solidFill>
                  <a:srgbClr val="007F82"/>
                </a:solidFill>
                <a:latin typeface="Helvetica Neue"/>
                <a:ea typeface="Helvetica Neue"/>
                <a:cs typeface="Helvetica Neue"/>
              </a:defRPr>
            </a:lvl4pPr>
            <a:lvl5pPr algn="l">
              <a:defRPr sz="1875" b="1">
                <a:solidFill>
                  <a:srgbClr val="007F82"/>
                </a:solidFill>
                <a:latin typeface="Helvetica Neue"/>
                <a:ea typeface="Helvetica Neue"/>
                <a:cs typeface="Helvetica Neue"/>
              </a:defRPr>
            </a:lvl5pPr>
            <a:lvl6pPr algn="l">
              <a:defRPr sz="1875" b="1">
                <a:solidFill>
                  <a:srgbClr val="007F82"/>
                </a:solidFill>
                <a:latin typeface="Helvetica Neue"/>
                <a:ea typeface="Helvetica Neue"/>
                <a:cs typeface="Helvetica Neue"/>
              </a:defRPr>
            </a:lvl6pPr>
            <a:lvl7pPr algn="l">
              <a:defRPr sz="1875" b="1">
                <a:solidFill>
                  <a:srgbClr val="007F82"/>
                </a:solidFill>
                <a:latin typeface="Helvetica Neue"/>
                <a:ea typeface="Helvetica Neue"/>
                <a:cs typeface="Helvetica Neue"/>
              </a:defRPr>
            </a:lvl7pPr>
            <a:lvl8pPr algn="l">
              <a:defRPr sz="1875" b="1">
                <a:solidFill>
                  <a:srgbClr val="007F82"/>
                </a:solidFill>
                <a:latin typeface="Helvetica Neue"/>
                <a:ea typeface="Helvetica Neue"/>
                <a:cs typeface="Helvetica Neue"/>
              </a:defRPr>
            </a:lvl8pPr>
            <a:lvl9pPr algn="l">
              <a:defRPr sz="1875" b="1">
                <a:solidFill>
                  <a:srgbClr val="007F82"/>
                </a:solidFill>
                <a:latin typeface="Helvetica Neue"/>
                <a:ea typeface="Helvetica Neue"/>
                <a:cs typeface="Helvetica Neue"/>
              </a:defRPr>
            </a:lvl9pPr>
          </a:lstStyle>
          <a:p>
            <a:pPr algn="l">
              <a:defRPr sz="1875" b="1">
                <a:solidFill>
                  <a:srgbClr val="007F82"/>
                </a:solidFill>
                <a:latin typeface="Helvetica Neue"/>
                <a:ea typeface="Helvetica Neue"/>
                <a:cs typeface="Helvetica Neue"/>
              </a:defRPr>
            </a:pPr>
            <a:r>
              <a:rPr sz="1875" b="1">
                <a:solidFill>
                  <a:srgbClr val="007F82"/>
                </a:solidFill>
                <a:latin typeface="Helvetica Neue"/>
                <a:ea typeface="Helvetica Neue"/>
                <a:cs typeface="Helvetica Neue"/>
              </a:rPr>
              <a:t>Model quality and reproducibility come before application packaging</a:t>
            </a:r>
          </a:p>
        </p:txBody>
      </p:sp>
    </p:spTree>
    <p:extLst>
      <p:ext uri="{BB962C8B-B14F-4D97-AF65-F5344CB8AC3E}">
        <p14:creationId xmlns:p14="http://schemas.microsoft.com/office/powerpoint/2010/main" val="10749057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42D4E"/>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B1349E-9114-40B0-A00A-8DD74EC96C3C}"/>
              </a:ext>
            </a:extLst>
          </p:cNvPr>
          <p:cNvSpPr>
            <a:spLocks noGrp="1"/>
          </p:cNvSpPr>
          <p:nvPr/>
        </p:nvSpPr>
        <p:spPr>
          <a:xfrm>
            <a:off x="609600" y="438150"/>
            <a:ext cx="10953750" cy="895350"/>
          </a:xfrm>
          <a:prstGeom prst="rect">
            <a:avLst/>
          </a:prstGeom>
          <a:noFill/>
          <a:ln w="0">
            <a:noFill/>
          </a:ln>
        </p:spPr>
        <p:txBody>
          <a:bodyPr lIns="0" tIns="0" rIns="0" bIns="0" anchor="t">
            <a:noAutofit/>
          </a:bodyPr>
          <a:lstStyle>
            <a:defPPr algn="l">
              <a:defRPr sz="3300" b="1">
                <a:solidFill>
                  <a:srgbClr val="FFFFFF"/>
                </a:solidFill>
                <a:latin typeface="Helvetica Neue"/>
                <a:ea typeface="Helvetica Neue"/>
                <a:cs typeface="Helvetica Neue"/>
              </a:defRPr>
            </a:defPPr>
            <a:lvl1pPr algn="l">
              <a:defRPr sz="3300" b="1">
                <a:solidFill>
                  <a:srgbClr val="FFFFFF"/>
                </a:solidFill>
                <a:latin typeface="Helvetica Neue"/>
                <a:ea typeface="Helvetica Neue"/>
                <a:cs typeface="Helvetica Neue"/>
              </a:defRPr>
            </a:lvl1pPr>
            <a:lvl2pPr algn="l">
              <a:defRPr sz="3300" b="1">
                <a:solidFill>
                  <a:srgbClr val="FFFFFF"/>
                </a:solidFill>
                <a:latin typeface="Helvetica Neue"/>
                <a:ea typeface="Helvetica Neue"/>
                <a:cs typeface="Helvetica Neue"/>
              </a:defRPr>
            </a:lvl2pPr>
            <a:lvl3pPr algn="l">
              <a:defRPr sz="3300" b="1">
                <a:solidFill>
                  <a:srgbClr val="FFFFFF"/>
                </a:solidFill>
                <a:latin typeface="Helvetica Neue"/>
                <a:ea typeface="Helvetica Neue"/>
                <a:cs typeface="Helvetica Neue"/>
              </a:defRPr>
            </a:lvl3pPr>
            <a:lvl4pPr algn="l">
              <a:defRPr sz="3300" b="1">
                <a:solidFill>
                  <a:srgbClr val="FFFFFF"/>
                </a:solidFill>
                <a:latin typeface="Helvetica Neue"/>
                <a:ea typeface="Helvetica Neue"/>
                <a:cs typeface="Helvetica Neue"/>
              </a:defRPr>
            </a:lvl4pPr>
            <a:lvl5pPr algn="l">
              <a:defRPr sz="3300" b="1">
                <a:solidFill>
                  <a:srgbClr val="FFFFFF"/>
                </a:solidFill>
                <a:latin typeface="Helvetica Neue"/>
                <a:ea typeface="Helvetica Neue"/>
                <a:cs typeface="Helvetica Neue"/>
              </a:defRPr>
            </a:lvl5pPr>
            <a:lvl6pPr algn="l">
              <a:defRPr sz="3300" b="1">
                <a:solidFill>
                  <a:srgbClr val="FFFFFF"/>
                </a:solidFill>
                <a:latin typeface="Helvetica Neue"/>
                <a:ea typeface="Helvetica Neue"/>
                <a:cs typeface="Helvetica Neue"/>
              </a:defRPr>
            </a:lvl6pPr>
            <a:lvl7pPr algn="l">
              <a:defRPr sz="3300" b="1">
                <a:solidFill>
                  <a:srgbClr val="FFFFFF"/>
                </a:solidFill>
                <a:latin typeface="Helvetica Neue"/>
                <a:ea typeface="Helvetica Neue"/>
                <a:cs typeface="Helvetica Neue"/>
              </a:defRPr>
            </a:lvl7pPr>
            <a:lvl8pPr algn="l">
              <a:defRPr sz="3300" b="1">
                <a:solidFill>
                  <a:srgbClr val="FFFFFF"/>
                </a:solidFill>
                <a:latin typeface="Helvetica Neue"/>
                <a:ea typeface="Helvetica Neue"/>
                <a:cs typeface="Helvetica Neue"/>
              </a:defRPr>
            </a:lvl8pPr>
            <a:lvl9pPr algn="l">
              <a:defRPr sz="3300" b="1">
                <a:solidFill>
                  <a:srgbClr val="FFFFFF"/>
                </a:solidFill>
                <a:latin typeface="Helvetica Neue"/>
                <a:ea typeface="Helvetica Neue"/>
                <a:cs typeface="Helvetica Neue"/>
              </a:defRPr>
            </a:lvl9pPr>
          </a:lstStyle>
          <a:p>
            <a:pPr algn="l">
              <a:defRPr sz="3300" b="1">
                <a:solidFill>
                  <a:srgbClr val="FFFFFF"/>
                </a:solidFill>
                <a:latin typeface="Helvetica Neue"/>
                <a:ea typeface="Helvetica Neue"/>
                <a:cs typeface="Helvetica Neue"/>
              </a:defRPr>
            </a:pPr>
            <a:r>
              <a:rPr sz="3300" b="1" dirty="0" smtClean="0">
                <a:solidFill>
                  <a:srgbClr val="FFFFFF"/>
                </a:solidFill>
                <a:latin typeface="Helvetica Neue"/>
                <a:ea typeface="Helvetica Neue"/>
                <a:cs typeface="Helvetica Neue"/>
              </a:rPr>
              <a:t>Conclusion</a:t>
            </a:r>
            <a:endParaRPr sz="3300" b="1" dirty="0">
              <a:solidFill>
                <a:srgbClr val="FFFFFF"/>
              </a:solidFill>
              <a:latin typeface="Helvetica Neue"/>
              <a:ea typeface="Helvetica Neue"/>
              <a:cs typeface="Helvetica Neue"/>
            </a:endParaRPr>
          </a:p>
        </p:txBody>
      </p:sp>
      <p:sp>
        <p:nvSpPr>
          <p:cNvPr id="2" name="Rectangle 1">
            <a:extLst>
              <a:ext uri="{FF2B5EF4-FFF2-40B4-BE49-F238E27FC236}">
                <a16:creationId xmlns:a16="http://schemas.microsoft.com/office/drawing/2014/main" id="{0D531CBA-99A2-4924-A4EC-FA8FCE178976}"/>
              </a:ext>
            </a:extLst>
          </p:cNvPr>
          <p:cNvSpPr>
            <a:spLocks noGrp="1"/>
          </p:cNvSpPr>
          <p:nvPr/>
        </p:nvSpPr>
        <p:spPr>
          <a:xfrm>
            <a:off x="11191875" y="6419850"/>
            <a:ext cx="428625" cy="228600"/>
          </a:xfrm>
          <a:prstGeom prst="rect">
            <a:avLst/>
          </a:prstGeom>
          <a:noFill/>
          <a:ln w="0">
            <a:noFill/>
          </a:ln>
        </p:spPr>
        <p:txBody>
          <a:bodyPr lIns="0" tIns="0" rIns="0" bIns="0" anchor="t">
            <a:noAutofit/>
          </a:bodyPr>
          <a:lstStyle>
            <a:defPPr algn="r">
              <a:defRPr sz="1200" b="0">
                <a:solidFill>
                  <a:srgbClr val="C5D4E3"/>
                </a:solidFill>
                <a:latin typeface="Helvetica Neue"/>
                <a:ea typeface="Helvetica Neue"/>
                <a:cs typeface="Helvetica Neue"/>
              </a:defRPr>
            </a:defPPr>
            <a:lvl1pPr algn="r">
              <a:defRPr sz="1200" b="0">
                <a:solidFill>
                  <a:srgbClr val="C5D4E3"/>
                </a:solidFill>
                <a:latin typeface="Helvetica Neue"/>
                <a:ea typeface="Helvetica Neue"/>
                <a:cs typeface="Helvetica Neue"/>
              </a:defRPr>
            </a:lvl1pPr>
            <a:lvl2pPr algn="r">
              <a:defRPr sz="1200" b="0">
                <a:solidFill>
                  <a:srgbClr val="C5D4E3"/>
                </a:solidFill>
                <a:latin typeface="Helvetica Neue"/>
                <a:ea typeface="Helvetica Neue"/>
                <a:cs typeface="Helvetica Neue"/>
              </a:defRPr>
            </a:lvl2pPr>
            <a:lvl3pPr algn="r">
              <a:defRPr sz="1200" b="0">
                <a:solidFill>
                  <a:srgbClr val="C5D4E3"/>
                </a:solidFill>
                <a:latin typeface="Helvetica Neue"/>
                <a:ea typeface="Helvetica Neue"/>
                <a:cs typeface="Helvetica Neue"/>
              </a:defRPr>
            </a:lvl3pPr>
            <a:lvl4pPr algn="r">
              <a:defRPr sz="1200" b="0">
                <a:solidFill>
                  <a:srgbClr val="C5D4E3"/>
                </a:solidFill>
                <a:latin typeface="Helvetica Neue"/>
                <a:ea typeface="Helvetica Neue"/>
                <a:cs typeface="Helvetica Neue"/>
              </a:defRPr>
            </a:lvl4pPr>
            <a:lvl5pPr algn="r">
              <a:defRPr sz="1200" b="0">
                <a:solidFill>
                  <a:srgbClr val="C5D4E3"/>
                </a:solidFill>
                <a:latin typeface="Helvetica Neue"/>
                <a:ea typeface="Helvetica Neue"/>
                <a:cs typeface="Helvetica Neue"/>
              </a:defRPr>
            </a:lvl5pPr>
            <a:lvl6pPr algn="r">
              <a:defRPr sz="1200" b="0">
                <a:solidFill>
                  <a:srgbClr val="C5D4E3"/>
                </a:solidFill>
                <a:latin typeface="Helvetica Neue"/>
                <a:ea typeface="Helvetica Neue"/>
                <a:cs typeface="Helvetica Neue"/>
              </a:defRPr>
            </a:lvl6pPr>
            <a:lvl7pPr algn="r">
              <a:defRPr sz="1200" b="0">
                <a:solidFill>
                  <a:srgbClr val="C5D4E3"/>
                </a:solidFill>
                <a:latin typeface="Helvetica Neue"/>
                <a:ea typeface="Helvetica Neue"/>
                <a:cs typeface="Helvetica Neue"/>
              </a:defRPr>
            </a:lvl7pPr>
            <a:lvl8pPr algn="r">
              <a:defRPr sz="1200" b="0">
                <a:solidFill>
                  <a:srgbClr val="C5D4E3"/>
                </a:solidFill>
                <a:latin typeface="Helvetica Neue"/>
                <a:ea typeface="Helvetica Neue"/>
                <a:cs typeface="Helvetica Neue"/>
              </a:defRPr>
            </a:lvl8pPr>
            <a:lvl9pPr algn="r">
              <a:defRPr sz="1200" b="0">
                <a:solidFill>
                  <a:srgbClr val="C5D4E3"/>
                </a:solidFill>
                <a:latin typeface="Helvetica Neue"/>
                <a:ea typeface="Helvetica Neue"/>
                <a:cs typeface="Helvetica Neue"/>
              </a:defRPr>
            </a:lvl9pPr>
          </a:lstStyle>
          <a:p>
            <a:pPr algn="r">
              <a:defRPr sz="1200" b="0">
                <a:solidFill>
                  <a:srgbClr val="C5D4E3"/>
                </a:solidFill>
                <a:latin typeface="Helvetica Neue"/>
                <a:ea typeface="Helvetica Neue"/>
                <a:cs typeface="Helvetica Neue"/>
              </a:defRPr>
            </a:pPr>
            <a:r>
              <a:rPr sz="1200" b="0">
                <a:solidFill>
                  <a:srgbClr val="C5D4E3"/>
                </a:solidFill>
                <a:latin typeface="Helvetica Neue"/>
                <a:ea typeface="Helvetica Neue"/>
                <a:cs typeface="Helvetica Neue"/>
              </a:rPr>
              <a:t>25</a:t>
            </a:r>
          </a:p>
        </p:txBody>
      </p:sp>
      <p:sp>
        <p:nvSpPr>
          <p:cNvPr id="4" name="Rectangle 3">
            <a:extLst>
              <a:ext uri="{FF2B5EF4-FFF2-40B4-BE49-F238E27FC236}">
                <a16:creationId xmlns:a16="http://schemas.microsoft.com/office/drawing/2014/main" id="{9709F6E8-235B-4ACA-8E27-F39608365D5F}"/>
              </a:ext>
            </a:extLst>
          </p:cNvPr>
          <p:cNvSpPr>
            <a:spLocks noGrp="1"/>
          </p:cNvSpPr>
          <p:nvPr/>
        </p:nvSpPr>
        <p:spPr>
          <a:xfrm>
            <a:off x="666750" y="1714500"/>
            <a:ext cx="10668000" cy="1238250"/>
          </a:xfrm>
          <a:prstGeom prst="rect">
            <a:avLst/>
          </a:prstGeom>
          <a:noFill/>
          <a:ln w="0">
            <a:noFill/>
          </a:ln>
        </p:spPr>
        <p:txBody>
          <a:bodyPr lIns="0" tIns="0" rIns="0" bIns="0" anchor="t">
            <a:noAutofit/>
          </a:bodyPr>
          <a:lstStyle>
            <a:defPPr algn="l">
              <a:defRPr sz="3600" b="1">
                <a:solidFill>
                  <a:srgbClr val="FFFFFF"/>
                </a:solidFill>
                <a:latin typeface="Helvetica Neue"/>
                <a:ea typeface="Helvetica Neue"/>
                <a:cs typeface="Helvetica Neue"/>
              </a:defRPr>
            </a:defPPr>
            <a:lvl1pPr algn="l">
              <a:defRPr sz="3600" b="1">
                <a:solidFill>
                  <a:srgbClr val="FFFFFF"/>
                </a:solidFill>
                <a:latin typeface="Helvetica Neue"/>
                <a:ea typeface="Helvetica Neue"/>
                <a:cs typeface="Helvetica Neue"/>
              </a:defRPr>
            </a:lvl1pPr>
            <a:lvl2pPr algn="l">
              <a:defRPr sz="3600" b="1">
                <a:solidFill>
                  <a:srgbClr val="FFFFFF"/>
                </a:solidFill>
                <a:latin typeface="Helvetica Neue"/>
                <a:ea typeface="Helvetica Neue"/>
                <a:cs typeface="Helvetica Neue"/>
              </a:defRPr>
            </a:lvl2pPr>
            <a:lvl3pPr algn="l">
              <a:defRPr sz="3600" b="1">
                <a:solidFill>
                  <a:srgbClr val="FFFFFF"/>
                </a:solidFill>
                <a:latin typeface="Helvetica Neue"/>
                <a:ea typeface="Helvetica Neue"/>
                <a:cs typeface="Helvetica Neue"/>
              </a:defRPr>
            </a:lvl3pPr>
            <a:lvl4pPr algn="l">
              <a:defRPr sz="3600" b="1">
                <a:solidFill>
                  <a:srgbClr val="FFFFFF"/>
                </a:solidFill>
                <a:latin typeface="Helvetica Neue"/>
                <a:ea typeface="Helvetica Neue"/>
                <a:cs typeface="Helvetica Neue"/>
              </a:defRPr>
            </a:lvl4pPr>
            <a:lvl5pPr algn="l">
              <a:defRPr sz="3600" b="1">
                <a:solidFill>
                  <a:srgbClr val="FFFFFF"/>
                </a:solidFill>
                <a:latin typeface="Helvetica Neue"/>
                <a:ea typeface="Helvetica Neue"/>
                <a:cs typeface="Helvetica Neue"/>
              </a:defRPr>
            </a:lvl5pPr>
            <a:lvl6pPr algn="l">
              <a:defRPr sz="3600" b="1">
                <a:solidFill>
                  <a:srgbClr val="FFFFFF"/>
                </a:solidFill>
                <a:latin typeface="Helvetica Neue"/>
                <a:ea typeface="Helvetica Neue"/>
                <a:cs typeface="Helvetica Neue"/>
              </a:defRPr>
            </a:lvl6pPr>
            <a:lvl7pPr algn="l">
              <a:defRPr sz="3600" b="1">
                <a:solidFill>
                  <a:srgbClr val="FFFFFF"/>
                </a:solidFill>
                <a:latin typeface="Helvetica Neue"/>
                <a:ea typeface="Helvetica Neue"/>
                <a:cs typeface="Helvetica Neue"/>
              </a:defRPr>
            </a:lvl7pPr>
            <a:lvl8pPr algn="l">
              <a:defRPr sz="3600" b="1">
                <a:solidFill>
                  <a:srgbClr val="FFFFFF"/>
                </a:solidFill>
                <a:latin typeface="Helvetica Neue"/>
                <a:ea typeface="Helvetica Neue"/>
                <a:cs typeface="Helvetica Neue"/>
              </a:defRPr>
            </a:lvl8pPr>
            <a:lvl9pPr algn="l">
              <a:defRPr sz="3600" b="1">
                <a:solidFill>
                  <a:srgbClr val="FFFFFF"/>
                </a:solidFill>
                <a:latin typeface="Helvetica Neue"/>
                <a:ea typeface="Helvetica Neue"/>
                <a:cs typeface="Helvetica Neue"/>
              </a:defRPr>
            </a:lvl9pPr>
          </a:lstStyle>
          <a:p>
            <a:pPr algn="l">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A working diffusion prototype</a:t>
            </a:r>
          </a:p>
          <a:p>
            <a:pPr algn="l">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with a clear evaluation gap</a:t>
            </a:r>
          </a:p>
        </p:txBody>
      </p:sp>
      <p:sp>
        <p:nvSpPr>
          <p:cNvPr id="5" name="Rectangle 4">
            <a:extLst>
              <a:ext uri="{FF2B5EF4-FFF2-40B4-BE49-F238E27FC236}">
                <a16:creationId xmlns:a16="http://schemas.microsoft.com/office/drawing/2014/main" id="{80FB3651-39BA-4FB4-983C-2742AAC4B46E}"/>
              </a:ext>
            </a:extLst>
          </p:cNvPr>
          <p:cNvSpPr>
            <a:spLocks noGrp="1"/>
          </p:cNvSpPr>
          <p:nvPr/>
        </p:nvSpPr>
        <p:spPr>
          <a:xfrm>
            <a:off x="695325" y="3476625"/>
            <a:ext cx="10477500" cy="590550"/>
          </a:xfrm>
          <a:prstGeom prst="rect">
            <a:avLst/>
          </a:prstGeom>
          <a:noFill/>
          <a:ln w="0">
            <a:noFill/>
          </a:ln>
        </p:spPr>
        <p:txBody>
          <a:bodyPr lIns="0" tIns="0" rIns="0" bIns="0" anchor="t">
            <a:noAutofit/>
          </a:bodyPr>
          <a:lstStyle>
            <a:defPPr algn="l">
              <a:defRPr sz="2175" b="0">
                <a:solidFill>
                  <a:srgbClr val="D5E5EF"/>
                </a:solidFill>
                <a:latin typeface="Helvetica Neue"/>
                <a:ea typeface="Helvetica Neue"/>
                <a:cs typeface="Helvetica Neue"/>
              </a:defRPr>
            </a:defPPr>
            <a:lvl1pPr algn="l">
              <a:defRPr sz="2175" b="0">
                <a:solidFill>
                  <a:srgbClr val="D5E5EF"/>
                </a:solidFill>
                <a:latin typeface="Helvetica Neue"/>
                <a:ea typeface="Helvetica Neue"/>
                <a:cs typeface="Helvetica Neue"/>
              </a:defRPr>
            </a:lvl1pPr>
            <a:lvl2pPr algn="l">
              <a:defRPr sz="2175" b="0">
                <a:solidFill>
                  <a:srgbClr val="D5E5EF"/>
                </a:solidFill>
                <a:latin typeface="Helvetica Neue"/>
                <a:ea typeface="Helvetica Neue"/>
                <a:cs typeface="Helvetica Neue"/>
              </a:defRPr>
            </a:lvl2pPr>
            <a:lvl3pPr algn="l">
              <a:defRPr sz="2175" b="0">
                <a:solidFill>
                  <a:srgbClr val="D5E5EF"/>
                </a:solidFill>
                <a:latin typeface="Helvetica Neue"/>
                <a:ea typeface="Helvetica Neue"/>
                <a:cs typeface="Helvetica Neue"/>
              </a:defRPr>
            </a:lvl3pPr>
            <a:lvl4pPr algn="l">
              <a:defRPr sz="2175" b="0">
                <a:solidFill>
                  <a:srgbClr val="D5E5EF"/>
                </a:solidFill>
                <a:latin typeface="Helvetica Neue"/>
                <a:ea typeface="Helvetica Neue"/>
                <a:cs typeface="Helvetica Neue"/>
              </a:defRPr>
            </a:lvl4pPr>
            <a:lvl5pPr algn="l">
              <a:defRPr sz="2175" b="0">
                <a:solidFill>
                  <a:srgbClr val="D5E5EF"/>
                </a:solidFill>
                <a:latin typeface="Helvetica Neue"/>
                <a:ea typeface="Helvetica Neue"/>
                <a:cs typeface="Helvetica Neue"/>
              </a:defRPr>
            </a:lvl5pPr>
            <a:lvl6pPr algn="l">
              <a:defRPr sz="2175" b="0">
                <a:solidFill>
                  <a:srgbClr val="D5E5EF"/>
                </a:solidFill>
                <a:latin typeface="Helvetica Neue"/>
                <a:ea typeface="Helvetica Neue"/>
                <a:cs typeface="Helvetica Neue"/>
              </a:defRPr>
            </a:lvl6pPr>
            <a:lvl7pPr algn="l">
              <a:defRPr sz="2175" b="0">
                <a:solidFill>
                  <a:srgbClr val="D5E5EF"/>
                </a:solidFill>
                <a:latin typeface="Helvetica Neue"/>
                <a:ea typeface="Helvetica Neue"/>
                <a:cs typeface="Helvetica Neue"/>
              </a:defRPr>
            </a:lvl7pPr>
            <a:lvl8pPr algn="l">
              <a:defRPr sz="2175" b="0">
                <a:solidFill>
                  <a:srgbClr val="D5E5EF"/>
                </a:solidFill>
                <a:latin typeface="Helvetica Neue"/>
                <a:ea typeface="Helvetica Neue"/>
                <a:cs typeface="Helvetica Neue"/>
              </a:defRPr>
            </a:lvl8pPr>
            <a:lvl9pPr algn="l">
              <a:defRPr sz="2175" b="0">
                <a:solidFill>
                  <a:srgbClr val="D5E5EF"/>
                </a:solidFill>
                <a:latin typeface="Helvetica Neue"/>
                <a:ea typeface="Helvetica Neue"/>
                <a:cs typeface="Helvetica Neue"/>
              </a:defRPr>
            </a:lvl9pPr>
          </a:lstStyle>
          <a:p>
            <a:pPr algn="l">
              <a:defRPr sz="2175" b="0">
                <a:solidFill>
                  <a:srgbClr val="D5E5EF"/>
                </a:solidFill>
                <a:latin typeface="Helvetica Neue"/>
                <a:ea typeface="Helvetica Neue"/>
                <a:cs typeface="Helvetica Neue"/>
              </a:defRPr>
            </a:pPr>
            <a:r>
              <a:rPr sz="2175" b="0">
                <a:solidFill>
                  <a:srgbClr val="D5E5EF"/>
                </a:solidFill>
                <a:latin typeface="Helvetica Neue"/>
                <a:ea typeface="Helvetica Neue"/>
                <a:cs typeface="Helvetica Neue"/>
              </a:rPr>
              <a:t>Implemented core mechanics and recorded learning progress</a:t>
            </a:r>
          </a:p>
        </p:txBody>
      </p:sp>
      <p:sp>
        <p:nvSpPr>
          <p:cNvPr id="6" name="Rectangle 5">
            <a:extLst>
              <a:ext uri="{FF2B5EF4-FFF2-40B4-BE49-F238E27FC236}">
                <a16:creationId xmlns:a16="http://schemas.microsoft.com/office/drawing/2014/main" id="{0D7FED22-ABD2-4652-8C93-4A1F7A2DDC5D}"/>
              </a:ext>
            </a:extLst>
          </p:cNvPr>
          <p:cNvSpPr>
            <a:spLocks noGrp="1"/>
          </p:cNvSpPr>
          <p:nvPr/>
        </p:nvSpPr>
        <p:spPr>
          <a:xfrm>
            <a:off x="695325" y="4286250"/>
            <a:ext cx="10477500" cy="685800"/>
          </a:xfrm>
          <a:prstGeom prst="rect">
            <a:avLst/>
          </a:prstGeom>
          <a:noFill/>
          <a:ln w="0">
            <a:noFill/>
          </a:ln>
        </p:spPr>
        <p:txBody>
          <a:bodyPr lIns="0" tIns="0" rIns="0" bIns="0" anchor="t">
            <a:noAutofit/>
          </a:bodyPr>
          <a:lstStyle>
            <a:defPPr algn="l">
              <a:defRPr sz="2175" b="0">
                <a:solidFill>
                  <a:srgbClr val="D5E5EF"/>
                </a:solidFill>
                <a:latin typeface="Helvetica Neue"/>
                <a:ea typeface="Helvetica Neue"/>
                <a:cs typeface="Helvetica Neue"/>
              </a:defRPr>
            </a:defPPr>
            <a:lvl1pPr algn="l">
              <a:defRPr sz="2175" b="0">
                <a:solidFill>
                  <a:srgbClr val="D5E5EF"/>
                </a:solidFill>
                <a:latin typeface="Helvetica Neue"/>
                <a:ea typeface="Helvetica Neue"/>
                <a:cs typeface="Helvetica Neue"/>
              </a:defRPr>
            </a:lvl1pPr>
            <a:lvl2pPr algn="l">
              <a:defRPr sz="2175" b="0">
                <a:solidFill>
                  <a:srgbClr val="D5E5EF"/>
                </a:solidFill>
                <a:latin typeface="Helvetica Neue"/>
                <a:ea typeface="Helvetica Neue"/>
                <a:cs typeface="Helvetica Neue"/>
              </a:defRPr>
            </a:lvl2pPr>
            <a:lvl3pPr algn="l">
              <a:defRPr sz="2175" b="0">
                <a:solidFill>
                  <a:srgbClr val="D5E5EF"/>
                </a:solidFill>
                <a:latin typeface="Helvetica Neue"/>
                <a:ea typeface="Helvetica Neue"/>
                <a:cs typeface="Helvetica Neue"/>
              </a:defRPr>
            </a:lvl3pPr>
            <a:lvl4pPr algn="l">
              <a:defRPr sz="2175" b="0">
                <a:solidFill>
                  <a:srgbClr val="D5E5EF"/>
                </a:solidFill>
                <a:latin typeface="Helvetica Neue"/>
                <a:ea typeface="Helvetica Neue"/>
                <a:cs typeface="Helvetica Neue"/>
              </a:defRPr>
            </a:lvl4pPr>
            <a:lvl5pPr algn="l">
              <a:defRPr sz="2175" b="0">
                <a:solidFill>
                  <a:srgbClr val="D5E5EF"/>
                </a:solidFill>
                <a:latin typeface="Helvetica Neue"/>
                <a:ea typeface="Helvetica Neue"/>
                <a:cs typeface="Helvetica Neue"/>
              </a:defRPr>
            </a:lvl5pPr>
            <a:lvl6pPr algn="l">
              <a:defRPr sz="2175" b="0">
                <a:solidFill>
                  <a:srgbClr val="D5E5EF"/>
                </a:solidFill>
                <a:latin typeface="Helvetica Neue"/>
                <a:ea typeface="Helvetica Neue"/>
                <a:cs typeface="Helvetica Neue"/>
              </a:defRPr>
            </a:lvl6pPr>
            <a:lvl7pPr algn="l">
              <a:defRPr sz="2175" b="0">
                <a:solidFill>
                  <a:srgbClr val="D5E5EF"/>
                </a:solidFill>
                <a:latin typeface="Helvetica Neue"/>
                <a:ea typeface="Helvetica Neue"/>
                <a:cs typeface="Helvetica Neue"/>
              </a:defRPr>
            </a:lvl7pPr>
            <a:lvl8pPr algn="l">
              <a:defRPr sz="2175" b="0">
                <a:solidFill>
                  <a:srgbClr val="D5E5EF"/>
                </a:solidFill>
                <a:latin typeface="Helvetica Neue"/>
                <a:ea typeface="Helvetica Neue"/>
                <a:cs typeface="Helvetica Neue"/>
              </a:defRPr>
            </a:lvl8pPr>
            <a:lvl9pPr algn="l">
              <a:defRPr sz="2175" b="0">
                <a:solidFill>
                  <a:srgbClr val="D5E5EF"/>
                </a:solidFill>
                <a:latin typeface="Helvetica Neue"/>
                <a:ea typeface="Helvetica Neue"/>
                <a:cs typeface="Helvetica Neue"/>
              </a:defRPr>
            </a:lvl9pPr>
          </a:lstStyle>
          <a:p>
            <a:pPr algn="l">
              <a:defRPr sz="2175" b="0">
                <a:solidFill>
                  <a:srgbClr val="D5E5EF"/>
                </a:solidFill>
                <a:latin typeface="Helvetica Neue"/>
                <a:ea typeface="Helvetica Neue"/>
                <a:cs typeface="Helvetica Neue"/>
              </a:defRPr>
            </a:pPr>
            <a:r>
              <a:rPr sz="2175" b="0">
                <a:solidFill>
                  <a:srgbClr val="D5E5EF"/>
                </a:solidFill>
                <a:latin typeface="Helvetica Neue"/>
                <a:ea typeface="Helvetica Neue"/>
                <a:cs typeface="Helvetica Neue"/>
              </a:rPr>
              <a:t>Image fidelity and superiority over baselines remain unverified</a:t>
            </a:r>
          </a:p>
        </p:txBody>
      </p:sp>
      <p:sp>
        <p:nvSpPr>
          <p:cNvPr id="7" name="Rectangle 6">
            <a:extLst>
              <a:ext uri="{FF2B5EF4-FFF2-40B4-BE49-F238E27FC236}">
                <a16:creationId xmlns:a16="http://schemas.microsoft.com/office/drawing/2014/main" id="{BEE14F05-2650-4CB9-89CD-E2EACDFE92A3}"/>
              </a:ext>
            </a:extLst>
          </p:cNvPr>
          <p:cNvSpPr>
            <a:spLocks noGrp="1"/>
          </p:cNvSpPr>
          <p:nvPr/>
        </p:nvSpPr>
        <p:spPr>
          <a:xfrm>
            <a:off x="600075" y="4995430"/>
            <a:ext cx="10572750" cy="1862570"/>
          </a:xfrm>
          <a:prstGeom prst="rect">
            <a:avLst/>
          </a:prstGeom>
          <a:noFill/>
          <a:ln w="0">
            <a:noFill/>
          </a:ln>
        </p:spPr>
        <p:txBody>
          <a:bodyPr lIns="0" tIns="0" rIns="0" bIns="0" anchor="t">
            <a:noAutofit/>
          </a:bodyPr>
          <a:lstStyle>
            <a:defPPr algn="l">
              <a:defRPr sz="2550" b="1">
                <a:solidFill>
                  <a:srgbClr val="FFFFFF"/>
                </a:solidFill>
                <a:latin typeface="Helvetica Neue"/>
                <a:ea typeface="Helvetica Neue"/>
                <a:cs typeface="Helvetica Neue"/>
              </a:defRPr>
            </a:defPPr>
            <a:lvl1pPr algn="l">
              <a:defRPr sz="2550" b="1">
                <a:solidFill>
                  <a:srgbClr val="FFFFFF"/>
                </a:solidFill>
                <a:latin typeface="Helvetica Neue"/>
                <a:ea typeface="Helvetica Neue"/>
                <a:cs typeface="Helvetica Neue"/>
              </a:defRPr>
            </a:lvl1pPr>
            <a:lvl2pPr algn="l">
              <a:defRPr sz="2550" b="1">
                <a:solidFill>
                  <a:srgbClr val="FFFFFF"/>
                </a:solidFill>
                <a:latin typeface="Helvetica Neue"/>
                <a:ea typeface="Helvetica Neue"/>
                <a:cs typeface="Helvetica Neue"/>
              </a:defRPr>
            </a:lvl2pPr>
            <a:lvl3pPr algn="l">
              <a:defRPr sz="2550" b="1">
                <a:solidFill>
                  <a:srgbClr val="FFFFFF"/>
                </a:solidFill>
                <a:latin typeface="Helvetica Neue"/>
                <a:ea typeface="Helvetica Neue"/>
                <a:cs typeface="Helvetica Neue"/>
              </a:defRPr>
            </a:lvl3pPr>
            <a:lvl4pPr algn="l">
              <a:defRPr sz="2550" b="1">
                <a:solidFill>
                  <a:srgbClr val="FFFFFF"/>
                </a:solidFill>
                <a:latin typeface="Helvetica Neue"/>
                <a:ea typeface="Helvetica Neue"/>
                <a:cs typeface="Helvetica Neue"/>
              </a:defRPr>
            </a:lvl4pPr>
            <a:lvl5pPr algn="l">
              <a:defRPr sz="2550" b="1">
                <a:solidFill>
                  <a:srgbClr val="FFFFFF"/>
                </a:solidFill>
                <a:latin typeface="Helvetica Neue"/>
                <a:ea typeface="Helvetica Neue"/>
                <a:cs typeface="Helvetica Neue"/>
              </a:defRPr>
            </a:lvl5pPr>
            <a:lvl6pPr algn="l">
              <a:defRPr sz="2550" b="1">
                <a:solidFill>
                  <a:srgbClr val="FFFFFF"/>
                </a:solidFill>
                <a:latin typeface="Helvetica Neue"/>
                <a:ea typeface="Helvetica Neue"/>
                <a:cs typeface="Helvetica Neue"/>
              </a:defRPr>
            </a:lvl6pPr>
            <a:lvl7pPr algn="l">
              <a:defRPr sz="2550" b="1">
                <a:solidFill>
                  <a:srgbClr val="FFFFFF"/>
                </a:solidFill>
                <a:latin typeface="Helvetica Neue"/>
                <a:ea typeface="Helvetica Neue"/>
                <a:cs typeface="Helvetica Neue"/>
              </a:defRPr>
            </a:lvl7pPr>
            <a:lvl8pPr algn="l">
              <a:defRPr sz="2550" b="1">
                <a:solidFill>
                  <a:srgbClr val="FFFFFF"/>
                </a:solidFill>
                <a:latin typeface="Helvetica Neue"/>
                <a:ea typeface="Helvetica Neue"/>
                <a:cs typeface="Helvetica Neue"/>
              </a:defRPr>
            </a:lvl8pPr>
            <a:lvl9pPr algn="l">
              <a:defRPr sz="2550" b="1">
                <a:solidFill>
                  <a:srgbClr val="FFFFFF"/>
                </a:solidFill>
                <a:latin typeface="Helvetica Neue"/>
                <a:ea typeface="Helvetica Neue"/>
                <a:cs typeface="Helvetica Neue"/>
              </a:defRPr>
            </a:lvl9pPr>
          </a:lstStyle>
          <a:p>
            <a:pPr algn="l">
              <a:defRPr sz="2550" b="1">
                <a:solidFill>
                  <a:srgbClr val="FFFFFF"/>
                </a:solidFill>
                <a:latin typeface="Helvetica Neue"/>
                <a:ea typeface="Helvetica Neue"/>
                <a:cs typeface="Helvetica Neue"/>
              </a:defRPr>
            </a:pPr>
            <a:r>
              <a:rPr sz="8800" b="1" dirty="0" smtClean="0">
                <a:solidFill>
                  <a:srgbClr val="FFFFFF"/>
                </a:solidFill>
                <a:latin typeface="Helvetica Neue"/>
                <a:ea typeface="Helvetica Neue"/>
                <a:cs typeface="Helvetica Neue"/>
              </a:rPr>
              <a:t>Thankyou</a:t>
            </a:r>
            <a:r>
              <a:rPr lang="en-SG" sz="8800" b="1" dirty="0" smtClean="0">
                <a:solidFill>
                  <a:srgbClr val="FFFFFF"/>
                </a:solidFill>
                <a:latin typeface="Helvetica Neue"/>
                <a:ea typeface="Helvetica Neue"/>
                <a:cs typeface="Helvetica Neue"/>
              </a:rPr>
              <a:t>…</a:t>
            </a:r>
            <a:endParaRPr sz="8800" b="1" dirty="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24791127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6684</Words>
  <Application>Microsoft Office PowerPoint</Application>
  <DocSecurity>0</DocSecurity>
  <PresentationFormat>Widescreen</PresentationFormat>
  <Paragraphs>563</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Aptos</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User</cp:lastModifiedBy>
  <cp:revision>5</cp:revision>
  <dcterms:created xsi:type="dcterms:W3CDTF">2026-10-21T17:40:05Z</dcterms:created>
  <dcterms:modified xsi:type="dcterms:W3CDTF">2026-10-21T19:23:33Z</dcterms:modified>
</cp:coreProperties>
</file>