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notesSlides/notesSlide16.xml" ContentType="application/vnd.openxmlformats-officedocument.presentationml.notesSlide+xml"/>
  <Override PartName="/ppt/charts/chart4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12"/>
    <p:restoredTop sz="94168"/>
  </p:normalViewPr>
  <p:slideViewPr>
    <p:cSldViewPr snapToGrid="0">
      <p:cViewPr varScale="1">
        <p:scale>
          <a:sx n="73" d="100"/>
          <a:sy n="73" d="100"/>
        </p:scale>
        <p:origin x="6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Training images</c:v>
          </c:tx>
          <c:spPr>
            <a:solidFill>
              <a:srgbClr val="007F82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>
                    <a:solidFill>
                      <a:srgbClr val="142D4E"/>
                    </a:solidFill>
                    <a:latin typeface="Helvetica Neue"/>
                    <a:ea typeface="Helvetica Neue"/>
                    <a:cs typeface="Helvetica Neue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0"/>
              <c:pt idx="0">
                <c:v>airplane</c:v>
              </c:pt>
              <c:pt idx="1">
                <c:v>automobile</c:v>
              </c:pt>
              <c:pt idx="2">
                <c:v>bird</c:v>
              </c:pt>
              <c:pt idx="3">
                <c:v>cat</c:v>
              </c:pt>
              <c:pt idx="4">
                <c:v>deer</c:v>
              </c:pt>
              <c:pt idx="5">
                <c:v>dog</c:v>
              </c:pt>
              <c:pt idx="6">
                <c:v>frog</c:v>
              </c:pt>
              <c:pt idx="7">
                <c:v>horse</c:v>
              </c:pt>
              <c:pt idx="8">
                <c:v>ship</c:v>
              </c:pt>
              <c:pt idx="9">
                <c:v>truck</c:v>
              </c:pt>
            </c:strLit>
          </c:cat>
          <c:val>
            <c:numLit>
              <c:formatCode>General</c:formatCode>
              <c:ptCount val="10"/>
              <c:pt idx="0">
                <c:v>4746</c:v>
              </c:pt>
              <c:pt idx="1">
                <c:v>4763</c:v>
              </c:pt>
              <c:pt idx="2">
                <c:v>4752</c:v>
              </c:pt>
              <c:pt idx="3">
                <c:v>4760</c:v>
              </c:pt>
              <c:pt idx="4">
                <c:v>4744</c:v>
              </c:pt>
              <c:pt idx="5">
                <c:v>4756</c:v>
              </c:pt>
              <c:pt idx="6">
                <c:v>4735</c:v>
              </c:pt>
              <c:pt idx="7">
                <c:v>4739</c:v>
              </c:pt>
              <c:pt idx="8">
                <c:v>4740</c:v>
              </c:pt>
              <c:pt idx="9">
                <c:v>4765</c:v>
              </c:pt>
            </c:numLit>
          </c:val>
          <c:extLst>
            <c:ext xmlns:c16="http://schemas.microsoft.com/office/drawing/2014/chart" uri="{C3380CC4-5D6E-409C-BE32-E72D297353CC}">
              <c16:uniqueId val="{00000000-572D-AA45-9EA2-2579867873F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575">
                    <a:latin typeface="Helvetica Neue"/>
                    <a:ea typeface="Helvetica Neue"/>
                    <a:cs typeface="Helvetica Neue"/>
                  </a:rPr>
                  <a:t>CIFAR-10 class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5500"/>
          <c:min val="0"/>
        </c:scaling>
        <c:delete val="0"/>
        <c:axPos val="l"/>
        <c:majorGridlines>
          <c:spPr>
            <a:ln w="9525">
              <a:solidFill>
                <a:srgbClr val="D4DE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575">
                    <a:latin typeface="Helvetica Neue"/>
                    <a:ea typeface="Helvetica Neue"/>
                    <a:cs typeface="Helvetica Neue"/>
                  </a:rPr>
                  <a:t>Training image count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8FAFC"/>
        </a:solidFill>
      </c:spPr>
    </c:plotArea>
    <c:plotVisOnly val="1"/>
    <c:dispBlanksAs val="zero"/>
    <c:showDLblsOverMax val="1"/>
  </c:chart>
  <c:spPr>
    <a:solidFill>
      <a:srgbClr val="F8FAFC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Cosine</c:v>
          </c:tx>
          <c:spPr>
            <a:ln w="28575">
              <a:solidFill>
                <a:srgbClr val="007F82"/>
              </a:solidFill>
            </a:ln>
          </c:spPr>
          <c:marker>
            <c:symbol val="none"/>
          </c:marker>
          <c:xVal>
            <c:numLit>
              <c:formatCode>General</c:formatCode>
              <c:ptCount val="41"/>
              <c:pt idx="0">
                <c:v>0</c:v>
              </c:pt>
              <c:pt idx="1">
                <c:v>25</c:v>
              </c:pt>
              <c:pt idx="2">
                <c:v>50</c:v>
              </c:pt>
              <c:pt idx="3">
                <c:v>75</c:v>
              </c:pt>
              <c:pt idx="4">
                <c:v>100</c:v>
              </c:pt>
              <c:pt idx="5">
                <c:v>125</c:v>
              </c:pt>
              <c:pt idx="6">
                <c:v>150</c:v>
              </c:pt>
              <c:pt idx="7">
                <c:v>175</c:v>
              </c:pt>
              <c:pt idx="8">
                <c:v>200</c:v>
              </c:pt>
              <c:pt idx="9">
                <c:v>225</c:v>
              </c:pt>
              <c:pt idx="10">
                <c:v>250</c:v>
              </c:pt>
              <c:pt idx="11">
                <c:v>275</c:v>
              </c:pt>
              <c:pt idx="12">
                <c:v>300</c:v>
              </c:pt>
              <c:pt idx="13">
                <c:v>325</c:v>
              </c:pt>
              <c:pt idx="14">
                <c:v>350</c:v>
              </c:pt>
              <c:pt idx="15">
                <c:v>375</c:v>
              </c:pt>
              <c:pt idx="16">
                <c:v>400</c:v>
              </c:pt>
              <c:pt idx="17">
                <c:v>425</c:v>
              </c:pt>
              <c:pt idx="18">
                <c:v>450</c:v>
              </c:pt>
              <c:pt idx="19">
                <c:v>475</c:v>
              </c:pt>
              <c:pt idx="20">
                <c:v>500</c:v>
              </c:pt>
              <c:pt idx="21">
                <c:v>525</c:v>
              </c:pt>
              <c:pt idx="22">
                <c:v>550</c:v>
              </c:pt>
              <c:pt idx="23">
                <c:v>575</c:v>
              </c:pt>
              <c:pt idx="24">
                <c:v>600</c:v>
              </c:pt>
              <c:pt idx="25">
                <c:v>625</c:v>
              </c:pt>
              <c:pt idx="26">
                <c:v>650</c:v>
              </c:pt>
              <c:pt idx="27">
                <c:v>675</c:v>
              </c:pt>
              <c:pt idx="28">
                <c:v>700</c:v>
              </c:pt>
              <c:pt idx="29">
                <c:v>725</c:v>
              </c:pt>
              <c:pt idx="30">
                <c:v>750</c:v>
              </c:pt>
              <c:pt idx="31">
                <c:v>775</c:v>
              </c:pt>
              <c:pt idx="32">
                <c:v>800</c:v>
              </c:pt>
              <c:pt idx="33">
                <c:v>825</c:v>
              </c:pt>
              <c:pt idx="34">
                <c:v>850</c:v>
              </c:pt>
              <c:pt idx="35">
                <c:v>875</c:v>
              </c:pt>
              <c:pt idx="36">
                <c:v>900</c:v>
              </c:pt>
              <c:pt idx="37">
                <c:v>925</c:v>
              </c:pt>
              <c:pt idx="38">
                <c:v>950</c:v>
              </c:pt>
              <c:pt idx="39">
                <c:v>975</c:v>
              </c:pt>
              <c:pt idx="40">
                <c:v>999</c:v>
              </c:pt>
            </c:numLit>
          </c:xVal>
          <c:yVal>
            <c:numLit>
              <c:formatCode>0.00</c:formatCode>
              <c:ptCount val="41"/>
              <c:pt idx="0">
                <c:v>0.99995871577517803</c:v>
              </c:pt>
              <c:pt idx="1">
                <c:v>0.99735040259214913</c:v>
              </c:pt>
              <c:pt idx="2">
                <c:v>0.99172468461168983</c:v>
              </c:pt>
              <c:pt idx="3">
                <c:v>0.98311569817166988</c:v>
              </c:pt>
              <c:pt idx="4">
                <c:v>0.97157568180783804</c:v>
              </c:pt>
              <c:pt idx="5">
                <c:v>0.95717465927520406</c:v>
              </c:pt>
              <c:pt idx="6">
                <c:v>0.9400000146503521</c:v>
              </c:pt>
              <c:pt idx="7">
                <c:v>0.92015596209292283</c:v>
              </c:pt>
              <c:pt idx="8">
                <c:v>0.89776291348370374</c:v>
              </c:pt>
              <c:pt idx="9">
                <c:v>0.87295674777644161</c:v>
              </c:pt>
              <c:pt idx="10">
                <c:v>0.8458879864968829</c:v>
              </c:pt>
              <c:pt idx="11">
                <c:v>0.81672088039203716</c:v>
              </c:pt>
              <c:pt idx="12">
                <c:v>0.78563241277179341</c:v>
              </c:pt>
              <c:pt idx="13">
                <c:v>0.75281122559051594</c:v>
              </c:pt>
              <c:pt idx="14">
                <c:v>0.71845647478506514</c:v>
              </c:pt>
              <c:pt idx="15">
                <c:v>0.68277662181493848</c:v>
              </c:pt>
              <c:pt idx="16">
                <c:v>0.64598816873736042</c:v>
              </c:pt>
              <c:pt idx="17">
                <c:v>0.60831434449276645</c:v>
              </c:pt>
              <c:pt idx="18">
                <c:v>0.56998375037217863</c:v>
              </c:pt>
              <c:pt idx="19">
                <c:v>0.53122897288565629</c:v>
              </c:pt>
              <c:pt idx="20">
                <c:v>0.4922851724488026</c:v>
              </c:pt>
              <c:pt idx="21">
                <c:v>0.45338865645104998</c:v>
              </c:pt>
              <c:pt idx="22">
                <c:v>0.41477544536421584</c:v>
              </c:pt>
              <c:pt idx="23">
                <c:v>0.37667984059204607</c:v>
              </c:pt>
              <c:pt idx="24">
                <c:v>0.33933300275090533</c:v>
              </c:pt>
              <c:pt idx="25">
                <c:v>0.30296154900847655</c:v>
              </c:pt>
              <c:pt idx="26">
                <c:v>0.26778617799168747</c:v>
              </c:pt>
              <c:pt idx="27">
                <c:v>0.23402033060779565</c:v>
              </c:pt>
              <c:pt idx="28">
                <c:v>0.20186889490464888</c:v>
              </c:pt>
              <c:pt idx="29">
                <c:v>0.17152696282890609</c:v>
              </c:pt>
              <c:pt idx="30">
                <c:v>0.14317864642609793</c:v>
              </c:pt>
              <c:pt idx="31">
                <c:v>0.11699596066571438</c:v>
              </c:pt>
              <c:pt idx="32">
                <c:v>9.3137779670233525E-2</c:v>
              </c:pt>
              <c:pt idx="33">
                <c:v>7.1748872681599629E-2</c:v>
              </c:pt>
              <c:pt idx="34">
                <c:v>5.2959025614813159E-2</c:v>
              </c:pt>
              <c:pt idx="35">
                <c:v>3.6882253528969296E-2</c:v>
              </c:pt>
              <c:pt idx="36">
                <c:v>2.3616108794393829E-2</c:v>
              </c:pt>
              <c:pt idx="37">
                <c:v>1.3241089153857239E-2</c:v>
              </c:pt>
              <c:pt idx="38">
                <c:v>5.8201492696951518E-3</c:v>
              </c:pt>
              <c:pt idx="39">
                <c:v>1.3983187207234392E-3</c:v>
              </c:pt>
              <c:pt idx="40">
                <c:v>2.4287669070348542E-9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AB26-DD47-B3F6-40D1F48F1CA3}"/>
            </c:ext>
          </c:extLst>
        </c:ser>
        <c:ser>
          <c:idx val="1"/>
          <c:order val="1"/>
          <c:tx>
            <c:v>Linear</c:v>
          </c:tx>
          <c:spPr>
            <a:ln w="28575">
              <a:solidFill>
                <a:srgbClr val="A65F13"/>
              </a:solidFill>
            </a:ln>
          </c:spPr>
          <c:marker>
            <c:symbol val="none"/>
          </c:marker>
          <c:xVal>
            <c:numLit>
              <c:formatCode>General</c:formatCode>
              <c:ptCount val="41"/>
              <c:pt idx="0">
                <c:v>0</c:v>
              </c:pt>
              <c:pt idx="1">
                <c:v>25</c:v>
              </c:pt>
              <c:pt idx="2">
                <c:v>50</c:v>
              </c:pt>
              <c:pt idx="3">
                <c:v>75</c:v>
              </c:pt>
              <c:pt idx="4">
                <c:v>100</c:v>
              </c:pt>
              <c:pt idx="5">
                <c:v>125</c:v>
              </c:pt>
              <c:pt idx="6">
                <c:v>150</c:v>
              </c:pt>
              <c:pt idx="7">
                <c:v>175</c:v>
              </c:pt>
              <c:pt idx="8">
                <c:v>200</c:v>
              </c:pt>
              <c:pt idx="9">
                <c:v>225</c:v>
              </c:pt>
              <c:pt idx="10">
                <c:v>250</c:v>
              </c:pt>
              <c:pt idx="11">
                <c:v>275</c:v>
              </c:pt>
              <c:pt idx="12">
                <c:v>300</c:v>
              </c:pt>
              <c:pt idx="13">
                <c:v>325</c:v>
              </c:pt>
              <c:pt idx="14">
                <c:v>350</c:v>
              </c:pt>
              <c:pt idx="15">
                <c:v>375</c:v>
              </c:pt>
              <c:pt idx="16">
                <c:v>400</c:v>
              </c:pt>
              <c:pt idx="17">
                <c:v>425</c:v>
              </c:pt>
              <c:pt idx="18">
                <c:v>450</c:v>
              </c:pt>
              <c:pt idx="19">
                <c:v>475</c:v>
              </c:pt>
              <c:pt idx="20">
                <c:v>500</c:v>
              </c:pt>
              <c:pt idx="21">
                <c:v>525</c:v>
              </c:pt>
              <c:pt idx="22">
                <c:v>550</c:v>
              </c:pt>
              <c:pt idx="23">
                <c:v>575</c:v>
              </c:pt>
              <c:pt idx="24">
                <c:v>600</c:v>
              </c:pt>
              <c:pt idx="25">
                <c:v>625</c:v>
              </c:pt>
              <c:pt idx="26">
                <c:v>650</c:v>
              </c:pt>
              <c:pt idx="27">
                <c:v>675</c:v>
              </c:pt>
              <c:pt idx="28">
                <c:v>700</c:v>
              </c:pt>
              <c:pt idx="29">
                <c:v>725</c:v>
              </c:pt>
              <c:pt idx="30">
                <c:v>750</c:v>
              </c:pt>
              <c:pt idx="31">
                <c:v>775</c:v>
              </c:pt>
              <c:pt idx="32">
                <c:v>800</c:v>
              </c:pt>
              <c:pt idx="33">
                <c:v>825</c:v>
              </c:pt>
              <c:pt idx="34">
                <c:v>850</c:v>
              </c:pt>
              <c:pt idx="35">
                <c:v>875</c:v>
              </c:pt>
              <c:pt idx="36">
                <c:v>900</c:v>
              </c:pt>
              <c:pt idx="37">
                <c:v>925</c:v>
              </c:pt>
              <c:pt idx="38">
                <c:v>950</c:v>
              </c:pt>
              <c:pt idx="39">
                <c:v>975</c:v>
              </c:pt>
              <c:pt idx="40">
                <c:v>999</c:v>
              </c:pt>
            </c:numLit>
          </c:xVal>
          <c:yVal>
            <c:numLit>
              <c:formatCode>0.00</c:formatCode>
              <c:ptCount val="41"/>
              <c:pt idx="0">
                <c:v>0.99990000000000001</c:v>
              </c:pt>
              <c:pt idx="1">
                <c:v>0.99096521308247276</c:v>
              </c:pt>
              <c:pt idx="2">
                <c:v>0.9699514935950494</c:v>
              </c:pt>
              <c:pt idx="3">
                <c:v>0.93762394922342829</c:v>
              </c:pt>
              <c:pt idx="4">
                <c:v>0.89514159089753653</c:v>
              </c:pt>
              <c:pt idx="5">
                <c:v>0.84398834002834788</c:v>
              </c:pt>
              <c:pt idx="6">
                <c:v>0.7858870240251884</c:v>
              </c:pt>
              <c:pt idx="7">
                <c:v>0.72270330725820875</c:v>
              </c:pt>
              <c:pt idx="8">
                <c:v>0.65634700551934677</c:v>
              </c:pt>
              <c:pt idx="9">
                <c:v>0.58867799590899983</c:v>
              </c:pt>
              <c:pt idx="10">
                <c:v>0.52142303061852746</c:v>
              </c:pt>
              <c:pt idx="11">
                <c:v>0.45610833608543627</c:v>
              </c:pt>
              <c:pt idx="12">
                <c:v>0.394011122523382</c:v>
              </c:pt>
              <c:pt idx="13">
                <c:v>0.33613125812220374</c:v>
              </c:pt>
              <c:pt idx="14">
                <c:v>0.28318258425946524</c:v>
              </c:pt>
              <c:pt idx="15">
                <c:v>0.23560183619586364</c:v>
              </c:pt>
              <c:pt idx="16">
                <c:v>0.19357200966664662</c:v>
              </c:pt>
              <c:pt idx="17">
                <c:v>0.15705633893679846</c:v>
              </c:pt>
              <c:pt idx="18">
                <c:v>0.12583882800090698</c:v>
              </c:pt>
              <c:pt idx="19">
                <c:v>9.9567454390728255E-2</c:v>
              </c:pt>
              <c:pt idx="20">
                <c:v>7.7796658365023891E-2</c:v>
              </c:pt>
              <c:pt idx="21">
                <c:v>6.0026432896092025E-2</c:v>
              </c:pt>
              <c:pt idx="22">
                <c:v>4.5736132110245326E-2</c:v>
              </c:pt>
              <c:pt idx="23">
                <c:v>3.4411918394276639E-2</c:v>
              </c:pt>
              <c:pt idx="24">
                <c:v>2.5567492265458999E-2</c:v>
              </c:pt>
              <c:pt idx="25">
                <c:v>1.8758340851309688E-2</c:v>
              </c:pt>
              <c:pt idx="26">
                <c:v>1.3590173256651777E-2</c:v>
              </c:pt>
              <c:pt idx="27">
                <c:v>9.7224805178706252E-3</c:v>
              </c:pt>
              <c:pt idx="28">
                <c:v>6.8682788903646416E-3</c:v>
              </c:pt>
              <c:pt idx="29">
                <c:v>4.7910945885543104E-3</c:v>
              </c:pt>
              <c:pt idx="30">
                <c:v>3.300158361569426E-3</c:v>
              </c:pt>
              <c:pt idx="31">
                <c:v>2.2446325359241743E-3</c:v>
              </c:pt>
              <c:pt idx="32">
                <c:v>1.5075210597816765E-3</c:v>
              </c:pt>
              <c:pt idx="33">
                <c:v>9.9973846770080453E-4</c:v>
              </c:pt>
              <c:pt idx="34">
                <c:v>6.5465353430265902E-4</c:v>
              </c:pt>
              <c:pt idx="35">
                <c:v>4.2328798741458049E-4</c:v>
              </c:pt>
              <c:pt idx="36">
                <c:v>2.702445195582643E-4</c:v>
              </c:pt>
              <c:pt idx="37">
                <c:v>1.7036154927296219E-4</c:v>
              </c:pt>
              <c:pt idx="38">
                <c:v>1.0604182814532021E-4</c:v>
              </c:pt>
              <c:pt idx="39">
                <c:v>6.5173489554601306E-5</c:v>
              </c:pt>
              <c:pt idx="40">
                <c:v>4.0358297653756761E-5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AB26-DD47-B3F6-40D1F48F1C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D4DEE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1575">
                    <a:latin typeface="Helvetica Neue"/>
                    <a:ea typeface="Helvetica Neue"/>
                    <a:cs typeface="Helvetica Neue"/>
                  </a:rPr>
                  <a:t>Signal coefficient ᾱ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575">
                    <a:latin typeface="Helvetica Neue"/>
                    <a:ea typeface="Helvetica Neue"/>
                    <a:cs typeface="Helvetica Neue"/>
                  </a:rPr>
                  <a:t>Timestep t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F8FAFC"/>
        </a:solidFill>
      </c:spPr>
    </c:plotArea>
    <c:legend>
      <c:legendPos val="b"/>
      <c:overlay val="0"/>
      <c:txPr>
        <a:bodyPr anchorCtr="1"/>
        <a:lstStyle/>
        <a:p>
          <a:pPr>
            <a:defRPr sz="1500">
              <a:solidFill>
                <a:srgbClr val="53657B"/>
              </a:solidFill>
              <a:latin typeface="Helvetica Neue"/>
              <a:ea typeface="Helvetica Neue"/>
              <a:cs typeface="Helvetica Neue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8FAFC"/>
    </a:solidFill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Sanity-test loss</c:v>
          </c:tx>
          <c:spPr>
            <a:ln w="28575">
              <a:solidFill>
                <a:srgbClr val="007F82"/>
              </a:solidFill>
            </a:ln>
          </c:spPr>
          <c:marker>
            <c:symbol val="none"/>
          </c:marker>
          <c:xVal>
            <c:numLit>
              <c:formatCode>General</c:formatCode>
              <c:ptCount val="30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  <c:pt idx="30">
                <c:v>31</c:v>
              </c:pt>
              <c:pt idx="31">
                <c:v>32</c:v>
              </c:pt>
              <c:pt idx="32">
                <c:v>33</c:v>
              </c:pt>
              <c:pt idx="33">
                <c:v>34</c:v>
              </c:pt>
              <c:pt idx="34">
                <c:v>35</c:v>
              </c:pt>
              <c:pt idx="35">
                <c:v>36</c:v>
              </c:pt>
              <c:pt idx="36">
                <c:v>37</c:v>
              </c:pt>
              <c:pt idx="37">
                <c:v>38</c:v>
              </c:pt>
              <c:pt idx="38">
                <c:v>39</c:v>
              </c:pt>
              <c:pt idx="39">
                <c:v>40</c:v>
              </c:pt>
              <c:pt idx="40">
                <c:v>41</c:v>
              </c:pt>
              <c:pt idx="41">
                <c:v>42</c:v>
              </c:pt>
              <c:pt idx="42">
                <c:v>43</c:v>
              </c:pt>
              <c:pt idx="43">
                <c:v>44</c:v>
              </c:pt>
              <c:pt idx="44">
                <c:v>45</c:v>
              </c:pt>
              <c:pt idx="45">
                <c:v>46</c:v>
              </c:pt>
              <c:pt idx="46">
                <c:v>47</c:v>
              </c:pt>
              <c:pt idx="47">
                <c:v>48</c:v>
              </c:pt>
              <c:pt idx="48">
                <c:v>49</c:v>
              </c:pt>
              <c:pt idx="49">
                <c:v>50</c:v>
              </c:pt>
              <c:pt idx="50">
                <c:v>51</c:v>
              </c:pt>
              <c:pt idx="51">
                <c:v>52</c:v>
              </c:pt>
              <c:pt idx="52">
                <c:v>53</c:v>
              </c:pt>
              <c:pt idx="53">
                <c:v>54</c:v>
              </c:pt>
              <c:pt idx="54">
                <c:v>55</c:v>
              </c:pt>
              <c:pt idx="55">
                <c:v>56</c:v>
              </c:pt>
              <c:pt idx="56">
                <c:v>57</c:v>
              </c:pt>
              <c:pt idx="57">
                <c:v>58</c:v>
              </c:pt>
              <c:pt idx="58">
                <c:v>59</c:v>
              </c:pt>
              <c:pt idx="59">
                <c:v>60</c:v>
              </c:pt>
              <c:pt idx="60">
                <c:v>61</c:v>
              </c:pt>
              <c:pt idx="61">
                <c:v>62</c:v>
              </c:pt>
              <c:pt idx="62">
                <c:v>63</c:v>
              </c:pt>
              <c:pt idx="63">
                <c:v>64</c:v>
              </c:pt>
              <c:pt idx="64">
                <c:v>65</c:v>
              </c:pt>
              <c:pt idx="65">
                <c:v>66</c:v>
              </c:pt>
              <c:pt idx="66">
                <c:v>67</c:v>
              </c:pt>
              <c:pt idx="67">
                <c:v>68</c:v>
              </c:pt>
              <c:pt idx="68">
                <c:v>69</c:v>
              </c:pt>
              <c:pt idx="69">
                <c:v>70</c:v>
              </c:pt>
              <c:pt idx="70">
                <c:v>71</c:v>
              </c:pt>
              <c:pt idx="71">
                <c:v>72</c:v>
              </c:pt>
              <c:pt idx="72">
                <c:v>73</c:v>
              </c:pt>
              <c:pt idx="73">
                <c:v>74</c:v>
              </c:pt>
              <c:pt idx="74">
                <c:v>75</c:v>
              </c:pt>
              <c:pt idx="75">
                <c:v>76</c:v>
              </c:pt>
              <c:pt idx="76">
                <c:v>77</c:v>
              </c:pt>
              <c:pt idx="77">
                <c:v>78</c:v>
              </c:pt>
              <c:pt idx="78">
                <c:v>79</c:v>
              </c:pt>
              <c:pt idx="79">
                <c:v>80</c:v>
              </c:pt>
              <c:pt idx="80">
                <c:v>81</c:v>
              </c:pt>
              <c:pt idx="81">
                <c:v>82</c:v>
              </c:pt>
              <c:pt idx="82">
                <c:v>83</c:v>
              </c:pt>
              <c:pt idx="83">
                <c:v>84</c:v>
              </c:pt>
              <c:pt idx="84">
                <c:v>85</c:v>
              </c:pt>
              <c:pt idx="85">
                <c:v>86</c:v>
              </c:pt>
              <c:pt idx="86">
                <c:v>87</c:v>
              </c:pt>
              <c:pt idx="87">
                <c:v>88</c:v>
              </c:pt>
              <c:pt idx="88">
                <c:v>89</c:v>
              </c:pt>
              <c:pt idx="89">
                <c:v>90</c:v>
              </c:pt>
              <c:pt idx="90">
                <c:v>91</c:v>
              </c:pt>
              <c:pt idx="91">
                <c:v>92</c:v>
              </c:pt>
              <c:pt idx="92">
                <c:v>93</c:v>
              </c:pt>
              <c:pt idx="93">
                <c:v>94</c:v>
              </c:pt>
              <c:pt idx="94">
                <c:v>95</c:v>
              </c:pt>
              <c:pt idx="95">
                <c:v>96</c:v>
              </c:pt>
              <c:pt idx="96">
                <c:v>97</c:v>
              </c:pt>
              <c:pt idx="97">
                <c:v>98</c:v>
              </c:pt>
              <c:pt idx="98">
                <c:v>99</c:v>
              </c:pt>
              <c:pt idx="99">
                <c:v>100</c:v>
              </c:pt>
              <c:pt idx="100">
                <c:v>101</c:v>
              </c:pt>
              <c:pt idx="101">
                <c:v>102</c:v>
              </c:pt>
              <c:pt idx="102">
                <c:v>103</c:v>
              </c:pt>
              <c:pt idx="103">
                <c:v>104</c:v>
              </c:pt>
              <c:pt idx="104">
                <c:v>105</c:v>
              </c:pt>
              <c:pt idx="105">
                <c:v>106</c:v>
              </c:pt>
              <c:pt idx="106">
                <c:v>107</c:v>
              </c:pt>
              <c:pt idx="107">
                <c:v>108</c:v>
              </c:pt>
              <c:pt idx="108">
                <c:v>109</c:v>
              </c:pt>
              <c:pt idx="109">
                <c:v>110</c:v>
              </c:pt>
              <c:pt idx="110">
                <c:v>111</c:v>
              </c:pt>
              <c:pt idx="111">
                <c:v>112</c:v>
              </c:pt>
              <c:pt idx="112">
                <c:v>113</c:v>
              </c:pt>
              <c:pt idx="113">
                <c:v>114</c:v>
              </c:pt>
              <c:pt idx="114">
                <c:v>115</c:v>
              </c:pt>
              <c:pt idx="115">
                <c:v>116</c:v>
              </c:pt>
              <c:pt idx="116">
                <c:v>117</c:v>
              </c:pt>
              <c:pt idx="117">
                <c:v>118</c:v>
              </c:pt>
              <c:pt idx="118">
                <c:v>119</c:v>
              </c:pt>
              <c:pt idx="119">
                <c:v>120</c:v>
              </c:pt>
              <c:pt idx="120">
                <c:v>121</c:v>
              </c:pt>
              <c:pt idx="121">
                <c:v>122</c:v>
              </c:pt>
              <c:pt idx="122">
                <c:v>123</c:v>
              </c:pt>
              <c:pt idx="123">
                <c:v>124</c:v>
              </c:pt>
              <c:pt idx="124">
                <c:v>125</c:v>
              </c:pt>
              <c:pt idx="125">
                <c:v>126</c:v>
              </c:pt>
              <c:pt idx="126">
                <c:v>127</c:v>
              </c:pt>
              <c:pt idx="127">
                <c:v>128</c:v>
              </c:pt>
              <c:pt idx="128">
                <c:v>129</c:v>
              </c:pt>
              <c:pt idx="129">
                <c:v>130</c:v>
              </c:pt>
              <c:pt idx="130">
                <c:v>131</c:v>
              </c:pt>
              <c:pt idx="131">
                <c:v>132</c:v>
              </c:pt>
              <c:pt idx="132">
                <c:v>133</c:v>
              </c:pt>
              <c:pt idx="133">
                <c:v>134</c:v>
              </c:pt>
              <c:pt idx="134">
                <c:v>135</c:v>
              </c:pt>
              <c:pt idx="135">
                <c:v>136</c:v>
              </c:pt>
              <c:pt idx="136">
                <c:v>137</c:v>
              </c:pt>
              <c:pt idx="137">
                <c:v>138</c:v>
              </c:pt>
              <c:pt idx="138">
                <c:v>139</c:v>
              </c:pt>
              <c:pt idx="139">
                <c:v>140</c:v>
              </c:pt>
              <c:pt idx="140">
                <c:v>141</c:v>
              </c:pt>
              <c:pt idx="141">
                <c:v>142</c:v>
              </c:pt>
              <c:pt idx="142">
                <c:v>143</c:v>
              </c:pt>
              <c:pt idx="143">
                <c:v>144</c:v>
              </c:pt>
              <c:pt idx="144">
                <c:v>145</c:v>
              </c:pt>
              <c:pt idx="145">
                <c:v>146</c:v>
              </c:pt>
              <c:pt idx="146">
                <c:v>147</c:v>
              </c:pt>
              <c:pt idx="147">
                <c:v>148</c:v>
              </c:pt>
              <c:pt idx="148">
                <c:v>149</c:v>
              </c:pt>
              <c:pt idx="149">
                <c:v>150</c:v>
              </c:pt>
              <c:pt idx="150">
                <c:v>151</c:v>
              </c:pt>
              <c:pt idx="151">
                <c:v>152</c:v>
              </c:pt>
              <c:pt idx="152">
                <c:v>153</c:v>
              </c:pt>
              <c:pt idx="153">
                <c:v>154</c:v>
              </c:pt>
              <c:pt idx="154">
                <c:v>155</c:v>
              </c:pt>
              <c:pt idx="155">
                <c:v>156</c:v>
              </c:pt>
              <c:pt idx="156">
                <c:v>157</c:v>
              </c:pt>
              <c:pt idx="157">
                <c:v>158</c:v>
              </c:pt>
              <c:pt idx="158">
                <c:v>159</c:v>
              </c:pt>
              <c:pt idx="159">
                <c:v>160</c:v>
              </c:pt>
              <c:pt idx="160">
                <c:v>161</c:v>
              </c:pt>
              <c:pt idx="161">
                <c:v>162</c:v>
              </c:pt>
              <c:pt idx="162">
                <c:v>163</c:v>
              </c:pt>
              <c:pt idx="163">
                <c:v>164</c:v>
              </c:pt>
              <c:pt idx="164">
                <c:v>165</c:v>
              </c:pt>
              <c:pt idx="165">
                <c:v>166</c:v>
              </c:pt>
              <c:pt idx="166">
                <c:v>167</c:v>
              </c:pt>
              <c:pt idx="167">
                <c:v>168</c:v>
              </c:pt>
              <c:pt idx="168">
                <c:v>169</c:v>
              </c:pt>
              <c:pt idx="169">
                <c:v>170</c:v>
              </c:pt>
              <c:pt idx="170">
                <c:v>171</c:v>
              </c:pt>
              <c:pt idx="171">
                <c:v>172</c:v>
              </c:pt>
              <c:pt idx="172">
                <c:v>173</c:v>
              </c:pt>
              <c:pt idx="173">
                <c:v>174</c:v>
              </c:pt>
              <c:pt idx="174">
                <c:v>175</c:v>
              </c:pt>
              <c:pt idx="175">
                <c:v>176</c:v>
              </c:pt>
              <c:pt idx="176">
                <c:v>177</c:v>
              </c:pt>
              <c:pt idx="177">
                <c:v>178</c:v>
              </c:pt>
              <c:pt idx="178">
                <c:v>179</c:v>
              </c:pt>
              <c:pt idx="179">
                <c:v>180</c:v>
              </c:pt>
              <c:pt idx="180">
                <c:v>181</c:v>
              </c:pt>
              <c:pt idx="181">
                <c:v>182</c:v>
              </c:pt>
              <c:pt idx="182">
                <c:v>183</c:v>
              </c:pt>
              <c:pt idx="183">
                <c:v>184</c:v>
              </c:pt>
              <c:pt idx="184">
                <c:v>185</c:v>
              </c:pt>
              <c:pt idx="185">
                <c:v>186</c:v>
              </c:pt>
              <c:pt idx="186">
                <c:v>187</c:v>
              </c:pt>
              <c:pt idx="187">
                <c:v>188</c:v>
              </c:pt>
              <c:pt idx="188">
                <c:v>189</c:v>
              </c:pt>
              <c:pt idx="189">
                <c:v>190</c:v>
              </c:pt>
              <c:pt idx="190">
                <c:v>191</c:v>
              </c:pt>
              <c:pt idx="191">
                <c:v>192</c:v>
              </c:pt>
              <c:pt idx="192">
                <c:v>193</c:v>
              </c:pt>
              <c:pt idx="193">
                <c:v>194</c:v>
              </c:pt>
              <c:pt idx="194">
                <c:v>195</c:v>
              </c:pt>
              <c:pt idx="195">
                <c:v>196</c:v>
              </c:pt>
              <c:pt idx="196">
                <c:v>197</c:v>
              </c:pt>
              <c:pt idx="197">
                <c:v>198</c:v>
              </c:pt>
              <c:pt idx="198">
                <c:v>199</c:v>
              </c:pt>
              <c:pt idx="199">
                <c:v>200</c:v>
              </c:pt>
              <c:pt idx="200">
                <c:v>201</c:v>
              </c:pt>
              <c:pt idx="201">
                <c:v>202</c:v>
              </c:pt>
              <c:pt idx="202">
                <c:v>203</c:v>
              </c:pt>
              <c:pt idx="203">
                <c:v>204</c:v>
              </c:pt>
              <c:pt idx="204">
                <c:v>205</c:v>
              </c:pt>
              <c:pt idx="205">
                <c:v>206</c:v>
              </c:pt>
              <c:pt idx="206">
                <c:v>207</c:v>
              </c:pt>
              <c:pt idx="207">
                <c:v>208</c:v>
              </c:pt>
              <c:pt idx="208">
                <c:v>209</c:v>
              </c:pt>
              <c:pt idx="209">
                <c:v>210</c:v>
              </c:pt>
              <c:pt idx="210">
                <c:v>211</c:v>
              </c:pt>
              <c:pt idx="211">
                <c:v>212</c:v>
              </c:pt>
              <c:pt idx="212">
                <c:v>213</c:v>
              </c:pt>
              <c:pt idx="213">
                <c:v>214</c:v>
              </c:pt>
              <c:pt idx="214">
                <c:v>215</c:v>
              </c:pt>
              <c:pt idx="215">
                <c:v>216</c:v>
              </c:pt>
              <c:pt idx="216">
                <c:v>217</c:v>
              </c:pt>
              <c:pt idx="217">
                <c:v>218</c:v>
              </c:pt>
              <c:pt idx="218">
                <c:v>219</c:v>
              </c:pt>
              <c:pt idx="219">
                <c:v>220</c:v>
              </c:pt>
              <c:pt idx="220">
                <c:v>221</c:v>
              </c:pt>
              <c:pt idx="221">
                <c:v>222</c:v>
              </c:pt>
              <c:pt idx="222">
                <c:v>223</c:v>
              </c:pt>
              <c:pt idx="223">
                <c:v>224</c:v>
              </c:pt>
              <c:pt idx="224">
                <c:v>225</c:v>
              </c:pt>
              <c:pt idx="225">
                <c:v>226</c:v>
              </c:pt>
              <c:pt idx="226">
                <c:v>227</c:v>
              </c:pt>
              <c:pt idx="227">
                <c:v>228</c:v>
              </c:pt>
              <c:pt idx="228">
                <c:v>229</c:v>
              </c:pt>
              <c:pt idx="229">
                <c:v>230</c:v>
              </c:pt>
              <c:pt idx="230">
                <c:v>231</c:v>
              </c:pt>
              <c:pt idx="231">
                <c:v>232</c:v>
              </c:pt>
              <c:pt idx="232">
                <c:v>233</c:v>
              </c:pt>
              <c:pt idx="233">
                <c:v>234</c:v>
              </c:pt>
              <c:pt idx="234">
                <c:v>235</c:v>
              </c:pt>
              <c:pt idx="235">
                <c:v>236</c:v>
              </c:pt>
              <c:pt idx="236">
                <c:v>237</c:v>
              </c:pt>
              <c:pt idx="237">
                <c:v>238</c:v>
              </c:pt>
              <c:pt idx="238">
                <c:v>239</c:v>
              </c:pt>
              <c:pt idx="239">
                <c:v>240</c:v>
              </c:pt>
              <c:pt idx="240">
                <c:v>241</c:v>
              </c:pt>
              <c:pt idx="241">
                <c:v>242</c:v>
              </c:pt>
              <c:pt idx="242">
                <c:v>243</c:v>
              </c:pt>
              <c:pt idx="243">
                <c:v>244</c:v>
              </c:pt>
              <c:pt idx="244">
                <c:v>245</c:v>
              </c:pt>
              <c:pt idx="245">
                <c:v>246</c:v>
              </c:pt>
              <c:pt idx="246">
                <c:v>247</c:v>
              </c:pt>
              <c:pt idx="247">
                <c:v>248</c:v>
              </c:pt>
              <c:pt idx="248">
                <c:v>249</c:v>
              </c:pt>
              <c:pt idx="249">
                <c:v>250</c:v>
              </c:pt>
              <c:pt idx="250">
                <c:v>251</c:v>
              </c:pt>
              <c:pt idx="251">
                <c:v>252</c:v>
              </c:pt>
              <c:pt idx="252">
                <c:v>253</c:v>
              </c:pt>
              <c:pt idx="253">
                <c:v>254</c:v>
              </c:pt>
              <c:pt idx="254">
                <c:v>255</c:v>
              </c:pt>
              <c:pt idx="255">
                <c:v>256</c:v>
              </c:pt>
              <c:pt idx="256">
                <c:v>257</c:v>
              </c:pt>
              <c:pt idx="257">
                <c:v>258</c:v>
              </c:pt>
              <c:pt idx="258">
                <c:v>259</c:v>
              </c:pt>
              <c:pt idx="259">
                <c:v>260</c:v>
              </c:pt>
              <c:pt idx="260">
                <c:v>261</c:v>
              </c:pt>
              <c:pt idx="261">
                <c:v>262</c:v>
              </c:pt>
              <c:pt idx="262">
                <c:v>263</c:v>
              </c:pt>
              <c:pt idx="263">
                <c:v>264</c:v>
              </c:pt>
              <c:pt idx="264">
                <c:v>265</c:v>
              </c:pt>
              <c:pt idx="265">
                <c:v>266</c:v>
              </c:pt>
              <c:pt idx="266">
                <c:v>267</c:v>
              </c:pt>
              <c:pt idx="267">
                <c:v>268</c:v>
              </c:pt>
              <c:pt idx="268">
                <c:v>269</c:v>
              </c:pt>
              <c:pt idx="269">
                <c:v>270</c:v>
              </c:pt>
              <c:pt idx="270">
                <c:v>271</c:v>
              </c:pt>
              <c:pt idx="271">
                <c:v>272</c:v>
              </c:pt>
              <c:pt idx="272">
                <c:v>273</c:v>
              </c:pt>
              <c:pt idx="273">
                <c:v>274</c:v>
              </c:pt>
              <c:pt idx="274">
                <c:v>275</c:v>
              </c:pt>
              <c:pt idx="275">
                <c:v>276</c:v>
              </c:pt>
              <c:pt idx="276">
                <c:v>277</c:v>
              </c:pt>
              <c:pt idx="277">
                <c:v>278</c:v>
              </c:pt>
              <c:pt idx="278">
                <c:v>279</c:v>
              </c:pt>
              <c:pt idx="279">
                <c:v>280</c:v>
              </c:pt>
              <c:pt idx="280">
                <c:v>281</c:v>
              </c:pt>
              <c:pt idx="281">
                <c:v>282</c:v>
              </c:pt>
              <c:pt idx="282">
                <c:v>283</c:v>
              </c:pt>
              <c:pt idx="283">
                <c:v>284</c:v>
              </c:pt>
              <c:pt idx="284">
                <c:v>285</c:v>
              </c:pt>
              <c:pt idx="285">
                <c:v>286</c:v>
              </c:pt>
              <c:pt idx="286">
                <c:v>287</c:v>
              </c:pt>
              <c:pt idx="287">
                <c:v>288</c:v>
              </c:pt>
              <c:pt idx="288">
                <c:v>289</c:v>
              </c:pt>
              <c:pt idx="289">
                <c:v>290</c:v>
              </c:pt>
              <c:pt idx="290">
                <c:v>291</c:v>
              </c:pt>
              <c:pt idx="291">
                <c:v>292</c:v>
              </c:pt>
              <c:pt idx="292">
                <c:v>293</c:v>
              </c:pt>
              <c:pt idx="293">
                <c:v>294</c:v>
              </c:pt>
              <c:pt idx="294">
                <c:v>295</c:v>
              </c:pt>
              <c:pt idx="295">
                <c:v>296</c:v>
              </c:pt>
              <c:pt idx="296">
                <c:v>297</c:v>
              </c:pt>
              <c:pt idx="297">
                <c:v>298</c:v>
              </c:pt>
              <c:pt idx="298">
                <c:v>299</c:v>
              </c:pt>
              <c:pt idx="299">
                <c:v>300</c:v>
              </c:pt>
            </c:numLit>
          </c:xVal>
          <c:yVal>
            <c:numLit>
              <c:formatCode>0.00</c:formatCode>
              <c:ptCount val="300"/>
              <c:pt idx="0">
                <c:v>1.0894694328308105</c:v>
              </c:pt>
              <c:pt idx="1">
                <c:v>1.085296630859375</c:v>
              </c:pt>
              <c:pt idx="2">
                <c:v>1.0780599117279053</c:v>
              </c:pt>
              <c:pt idx="3">
                <c:v>1.0769325494766235</c:v>
              </c:pt>
              <c:pt idx="4">
                <c:v>1.0809791088104248</c:v>
              </c:pt>
              <c:pt idx="5">
                <c:v>1.0715510845184326</c:v>
              </c:pt>
              <c:pt idx="6">
                <c:v>1.0653724670410156</c:v>
              </c:pt>
              <c:pt idx="7">
                <c:v>1.0603219270706177</c:v>
              </c:pt>
              <c:pt idx="8">
                <c:v>1.0468626022338867</c:v>
              </c:pt>
              <c:pt idx="9">
                <c:v>1.0435842275619507</c:v>
              </c:pt>
              <c:pt idx="10">
                <c:v>1.0336066484451294</c:v>
              </c:pt>
              <c:pt idx="11">
                <c:v>1.0334124565124512</c:v>
              </c:pt>
              <c:pt idx="12">
                <c:v>1.0147198438644409</c:v>
              </c:pt>
              <c:pt idx="13">
                <c:v>0.99939322471618652</c:v>
              </c:pt>
              <c:pt idx="14">
                <c:v>0.99854177236557007</c:v>
              </c:pt>
              <c:pt idx="15">
                <c:v>0.9961998462677002</c:v>
              </c:pt>
              <c:pt idx="16">
                <c:v>0.9749295711517334</c:v>
              </c:pt>
              <c:pt idx="17">
                <c:v>0.95918738842010498</c:v>
              </c:pt>
              <c:pt idx="18">
                <c:v>0.94335788488388062</c:v>
              </c:pt>
              <c:pt idx="19">
                <c:v>0.93323898315429688</c:v>
              </c:pt>
              <c:pt idx="20">
                <c:v>0.92074596881866455</c:v>
              </c:pt>
              <c:pt idx="21">
                <c:v>0.91450279951095581</c:v>
              </c:pt>
              <c:pt idx="22">
                <c:v>0.90748786926269531</c:v>
              </c:pt>
              <c:pt idx="23">
                <c:v>0.8846207857131958</c:v>
              </c:pt>
              <c:pt idx="24">
                <c:v>0.86785191297531128</c:v>
              </c:pt>
              <c:pt idx="25">
                <c:v>0.85698509216308594</c:v>
              </c:pt>
              <c:pt idx="26">
                <c:v>0.83245962858200073</c:v>
              </c:pt>
              <c:pt idx="27">
                <c:v>0.83817523717880249</c:v>
              </c:pt>
              <c:pt idx="28">
                <c:v>0.82145547866821289</c:v>
              </c:pt>
              <c:pt idx="29">
                <c:v>0.77927625179290771</c:v>
              </c:pt>
              <c:pt idx="30">
                <c:v>0.76297318935394287</c:v>
              </c:pt>
              <c:pt idx="31">
                <c:v>0.75277137756347656</c:v>
              </c:pt>
              <c:pt idx="32">
                <c:v>0.75122642517089844</c:v>
              </c:pt>
              <c:pt idx="33">
                <c:v>0.72286885976791382</c:v>
              </c:pt>
              <c:pt idx="34">
                <c:v>0.72202193737030029</c:v>
              </c:pt>
              <c:pt idx="35">
                <c:v>0.70819276571273804</c:v>
              </c:pt>
              <c:pt idx="36">
                <c:v>0.66301286220550537</c:v>
              </c:pt>
              <c:pt idx="37">
                <c:v>0.62893551588058472</c:v>
              </c:pt>
              <c:pt idx="38">
                <c:v>0.6141362190246582</c:v>
              </c:pt>
              <c:pt idx="39">
                <c:v>0.61267226934432983</c:v>
              </c:pt>
              <c:pt idx="40">
                <c:v>0.60718560218811035</c:v>
              </c:pt>
              <c:pt idx="41">
                <c:v>0.58646887540817261</c:v>
              </c:pt>
              <c:pt idx="42">
                <c:v>0.58386015892028809</c:v>
              </c:pt>
              <c:pt idx="43">
                <c:v>0.54761934280395508</c:v>
              </c:pt>
              <c:pt idx="44">
                <c:v>0.53614580631256104</c:v>
              </c:pt>
              <c:pt idx="45">
                <c:v>0.49338430166244507</c:v>
              </c:pt>
              <c:pt idx="46">
                <c:v>0.50506776571273804</c:v>
              </c:pt>
              <c:pt idx="47">
                <c:v>0.50210505723953247</c:v>
              </c:pt>
              <c:pt idx="48">
                <c:v>0.4871114194393158</c:v>
              </c:pt>
              <c:pt idx="49">
                <c:v>0.45906564593315125</c:v>
              </c:pt>
              <c:pt idx="50">
                <c:v>0.45440360903739929</c:v>
              </c:pt>
              <c:pt idx="51">
                <c:v>0.38334387540817261</c:v>
              </c:pt>
              <c:pt idx="52">
                <c:v>0.43168222904205322</c:v>
              </c:pt>
              <c:pt idx="53">
                <c:v>0.4489712119102478</c:v>
              </c:pt>
              <c:pt idx="54">
                <c:v>0.37730163335800171</c:v>
              </c:pt>
              <c:pt idx="55">
                <c:v>0.37475836277008057</c:v>
              </c:pt>
              <c:pt idx="56">
                <c:v>0.33930748701095581</c:v>
              </c:pt>
              <c:pt idx="57">
                <c:v>0.37789261341094971</c:v>
              </c:pt>
              <c:pt idx="58">
                <c:v>0.34556478261947632</c:v>
              </c:pt>
              <c:pt idx="59">
                <c:v>0.3769645094871521</c:v>
              </c:pt>
              <c:pt idx="60">
                <c:v>0.33236923813819885</c:v>
              </c:pt>
              <c:pt idx="61">
                <c:v>0.31311091780662537</c:v>
              </c:pt>
              <c:pt idx="62">
                <c:v>0.2933647632598877</c:v>
              </c:pt>
              <c:pt idx="63">
                <c:v>0.33828660845756531</c:v>
              </c:pt>
              <c:pt idx="64">
                <c:v>0.30909943580627441</c:v>
              </c:pt>
              <c:pt idx="65">
                <c:v>0.29654693603515625</c:v>
              </c:pt>
              <c:pt idx="66">
                <c:v>0.26777848601341248</c:v>
              </c:pt>
              <c:pt idx="67">
                <c:v>0.26284649968147278</c:v>
              </c:pt>
              <c:pt idx="68">
                <c:v>0.26415148377418518</c:v>
              </c:pt>
              <c:pt idx="69">
                <c:v>0.26109695434570312</c:v>
              </c:pt>
              <c:pt idx="70">
                <c:v>0.22730320692062378</c:v>
              </c:pt>
              <c:pt idx="71">
                <c:v>0.22698280215263367</c:v>
              </c:pt>
              <c:pt idx="72">
                <c:v>0.2987554669380188</c:v>
              </c:pt>
              <c:pt idx="73">
                <c:v>0.24646131694316864</c:v>
              </c:pt>
              <c:pt idx="74">
                <c:v>0.26117837429046631</c:v>
              </c:pt>
              <c:pt idx="75">
                <c:v>0.25265350937843323</c:v>
              </c:pt>
              <c:pt idx="76">
                <c:v>0.24839800596237183</c:v>
              </c:pt>
              <c:pt idx="77">
                <c:v>0.24624912440776825</c:v>
              </c:pt>
              <c:pt idx="78">
                <c:v>0.20968902111053467</c:v>
              </c:pt>
              <c:pt idx="79">
                <c:v>0.21047751605510712</c:v>
              </c:pt>
              <c:pt idx="80">
                <c:v>0.2551843523979187</c:v>
              </c:pt>
              <c:pt idx="81">
                <c:v>0.21242344379425049</c:v>
              </c:pt>
              <c:pt idx="82">
                <c:v>0.23963469266891479</c:v>
              </c:pt>
              <c:pt idx="83">
                <c:v>0.25290453433990479</c:v>
              </c:pt>
              <c:pt idx="84">
                <c:v>0.22275936603546143</c:v>
              </c:pt>
              <c:pt idx="85">
                <c:v>0.1997353732585907</c:v>
              </c:pt>
              <c:pt idx="86">
                <c:v>0.20157954096794128</c:v>
              </c:pt>
              <c:pt idx="87">
                <c:v>0.23071412742137909</c:v>
              </c:pt>
              <c:pt idx="88">
                <c:v>0.17922493815422058</c:v>
              </c:pt>
              <c:pt idx="89">
                <c:v>0.22767059504985809</c:v>
              </c:pt>
              <c:pt idx="90">
                <c:v>0.18294879794120789</c:v>
              </c:pt>
              <c:pt idx="91">
                <c:v>0.20260715484619141</c:v>
              </c:pt>
              <c:pt idx="92">
                <c:v>0.21700894832611084</c:v>
              </c:pt>
              <c:pt idx="93">
                <c:v>0.18144306540489197</c:v>
              </c:pt>
              <c:pt idx="94">
                <c:v>0.24131670594215393</c:v>
              </c:pt>
              <c:pt idx="95">
                <c:v>0.18102340400218964</c:v>
              </c:pt>
              <c:pt idx="96">
                <c:v>0.2420591413974762</c:v>
              </c:pt>
              <c:pt idx="97">
                <c:v>0.21524558961391449</c:v>
              </c:pt>
              <c:pt idx="98">
                <c:v>0.16772878170013428</c:v>
              </c:pt>
              <c:pt idx="99">
                <c:v>0.20366016030311584</c:v>
              </c:pt>
              <c:pt idx="100">
                <c:v>0.19392728805541992</c:v>
              </c:pt>
              <c:pt idx="101">
                <c:v>0.20539294183254242</c:v>
              </c:pt>
              <c:pt idx="102">
                <c:v>0.19084781408309937</c:v>
              </c:pt>
              <c:pt idx="103">
                <c:v>0.16228404641151428</c:v>
              </c:pt>
              <c:pt idx="104">
                <c:v>0.19734446704387665</c:v>
              </c:pt>
              <c:pt idx="105">
                <c:v>0.21200713515281677</c:v>
              </c:pt>
              <c:pt idx="106">
                <c:v>0.16450397670269012</c:v>
              </c:pt>
              <c:pt idx="107">
                <c:v>0.14789797365665436</c:v>
              </c:pt>
              <c:pt idx="108">
                <c:v>0.17497448623180389</c:v>
              </c:pt>
              <c:pt idx="109">
                <c:v>0.17114453017711639</c:v>
              </c:pt>
              <c:pt idx="110">
                <c:v>0.17460159957408905</c:v>
              </c:pt>
              <c:pt idx="111">
                <c:v>0.15570840239524841</c:v>
              </c:pt>
              <c:pt idx="112">
                <c:v>0.16771149635314941</c:v>
              </c:pt>
              <c:pt idx="113">
                <c:v>0.16166497766971588</c:v>
              </c:pt>
              <c:pt idx="114">
                <c:v>0.18166987597942352</c:v>
              </c:pt>
              <c:pt idx="115">
                <c:v>0.16841989755630493</c:v>
              </c:pt>
              <c:pt idx="116">
                <c:v>0.15472006797790527</c:v>
              </c:pt>
              <c:pt idx="117">
                <c:v>0.17251585423946381</c:v>
              </c:pt>
              <c:pt idx="118">
                <c:v>0.20683464407920837</c:v>
              </c:pt>
              <c:pt idx="119">
                <c:v>0.19001504778862</c:v>
              </c:pt>
              <c:pt idx="120">
                <c:v>0.19211819767951965</c:v>
              </c:pt>
              <c:pt idx="121">
                <c:v>0.15966057777404785</c:v>
              </c:pt>
              <c:pt idx="122">
                <c:v>0.14497606456279755</c:v>
              </c:pt>
              <c:pt idx="123">
                <c:v>0.16828015446662903</c:v>
              </c:pt>
              <c:pt idx="124">
                <c:v>0.17591290175914764</c:v>
              </c:pt>
              <c:pt idx="125">
                <c:v>0.17245706915855408</c:v>
              </c:pt>
              <c:pt idx="126">
                <c:v>0.11877235770225525</c:v>
              </c:pt>
              <c:pt idx="127">
                <c:v>0.16938349604606628</c:v>
              </c:pt>
              <c:pt idx="128">
                <c:v>0.15660697221755981</c:v>
              </c:pt>
              <c:pt idx="129">
                <c:v>0.15530999004840851</c:v>
              </c:pt>
              <c:pt idx="130">
                <c:v>0.22345618903636932</c:v>
              </c:pt>
              <c:pt idx="131">
                <c:v>0.15672162175178528</c:v>
              </c:pt>
              <c:pt idx="132">
                <c:v>0.19097030162811279</c:v>
              </c:pt>
              <c:pt idx="133">
                <c:v>0.17034336924552917</c:v>
              </c:pt>
              <c:pt idx="134">
                <c:v>0.13756297528743744</c:v>
              </c:pt>
              <c:pt idx="135">
                <c:v>0.12466210126876831</c:v>
              </c:pt>
              <c:pt idx="136">
                <c:v>0.1465570330619812</c:v>
              </c:pt>
              <c:pt idx="137">
                <c:v>0.14249137043952942</c:v>
              </c:pt>
              <c:pt idx="138">
                <c:v>0.18634510040283203</c:v>
              </c:pt>
              <c:pt idx="139">
                <c:v>0.14124301075935364</c:v>
              </c:pt>
              <c:pt idx="140">
                <c:v>0.12936626374721527</c:v>
              </c:pt>
              <c:pt idx="141">
                <c:v>0.14131113886833191</c:v>
              </c:pt>
              <c:pt idx="142">
                <c:v>0.15000109374523163</c:v>
              </c:pt>
              <c:pt idx="143">
                <c:v>0.14109238982200623</c:v>
              </c:pt>
              <c:pt idx="144">
                <c:v>0.19022747874259949</c:v>
              </c:pt>
              <c:pt idx="145">
                <c:v>0.13442924618721008</c:v>
              </c:pt>
              <c:pt idx="146">
                <c:v>0.17215006053447723</c:v>
              </c:pt>
              <c:pt idx="147">
                <c:v>0.15887793898582458</c:v>
              </c:pt>
              <c:pt idx="148">
                <c:v>0.14819839596748352</c:v>
              </c:pt>
              <c:pt idx="149">
                <c:v>0.11459819972515106</c:v>
              </c:pt>
              <c:pt idx="150">
                <c:v>0.11747004091739655</c:v>
              </c:pt>
              <c:pt idx="151">
                <c:v>0.14575633406639099</c:v>
              </c:pt>
              <c:pt idx="152">
                <c:v>0.15531438589096069</c:v>
              </c:pt>
              <c:pt idx="153">
                <c:v>0.15846246480941772</c:v>
              </c:pt>
              <c:pt idx="154">
                <c:v>0.1244237944483757</c:v>
              </c:pt>
              <c:pt idx="155">
                <c:v>0.12896576523780823</c:v>
              </c:pt>
              <c:pt idx="156">
                <c:v>0.1526387482881546</c:v>
              </c:pt>
              <c:pt idx="157">
                <c:v>0.11186043918132782</c:v>
              </c:pt>
              <c:pt idx="158">
                <c:v>0.16906885802745819</c:v>
              </c:pt>
              <c:pt idx="159">
                <c:v>0.15851560235023499</c:v>
              </c:pt>
              <c:pt idx="160">
                <c:v>0.14335213601589203</c:v>
              </c:pt>
              <c:pt idx="161">
                <c:v>0.14401660859584808</c:v>
              </c:pt>
              <c:pt idx="162">
                <c:v>0.14103089272975922</c:v>
              </c:pt>
              <c:pt idx="163">
                <c:v>0.12732267379760742</c:v>
              </c:pt>
              <c:pt idx="164">
                <c:v>0.14047740399837494</c:v>
              </c:pt>
              <c:pt idx="165">
                <c:v>0.11584314703941345</c:v>
              </c:pt>
              <c:pt idx="166">
                <c:v>0.12552763521671295</c:v>
              </c:pt>
              <c:pt idx="167">
                <c:v>0.11419780552387238</c:v>
              </c:pt>
              <c:pt idx="168">
                <c:v>0.10086312144994736</c:v>
              </c:pt>
              <c:pt idx="169">
                <c:v>0.12647414207458496</c:v>
              </c:pt>
              <c:pt idx="170">
                <c:v>0.13736447691917419</c:v>
              </c:pt>
              <c:pt idx="171">
                <c:v>0.10493465512990952</c:v>
              </c:pt>
              <c:pt idx="172">
                <c:v>0.12886884808540344</c:v>
              </c:pt>
              <c:pt idx="173">
                <c:v>0.14228168129920959</c:v>
              </c:pt>
              <c:pt idx="174">
                <c:v>0.14147888123989105</c:v>
              </c:pt>
              <c:pt idx="175">
                <c:v>0.13712474703788757</c:v>
              </c:pt>
              <c:pt idx="176">
                <c:v>0.13704955577850342</c:v>
              </c:pt>
              <c:pt idx="177">
                <c:v>0.18083439767360687</c:v>
              </c:pt>
              <c:pt idx="178">
                <c:v>0.12534864246845245</c:v>
              </c:pt>
              <c:pt idx="179">
                <c:v>0.14756336808204651</c:v>
              </c:pt>
              <c:pt idx="180">
                <c:v>0.13971051573753357</c:v>
              </c:pt>
              <c:pt idx="181">
                <c:v>0.1299884021282196</c:v>
              </c:pt>
              <c:pt idx="182">
                <c:v>0.14255174994468689</c:v>
              </c:pt>
              <c:pt idx="183">
                <c:v>0.11643781512975693</c:v>
              </c:pt>
              <c:pt idx="184">
                <c:v>0.12910257279872894</c:v>
              </c:pt>
              <c:pt idx="185">
                <c:v>0.15327240526676178</c:v>
              </c:pt>
              <c:pt idx="186">
                <c:v>0.12493246793746948</c:v>
              </c:pt>
              <c:pt idx="187">
                <c:v>0.10298603773117065</c:v>
              </c:pt>
              <c:pt idx="188">
                <c:v>0.14682760834693909</c:v>
              </c:pt>
              <c:pt idx="189">
                <c:v>0.13023516535758972</c:v>
              </c:pt>
              <c:pt idx="190">
                <c:v>9.5631830394268036E-2</c:v>
              </c:pt>
              <c:pt idx="191">
                <c:v>0.10376026481389999</c:v>
              </c:pt>
              <c:pt idx="192">
                <c:v>0.13841159641742706</c:v>
              </c:pt>
              <c:pt idx="193">
                <c:v>0.14102961122989655</c:v>
              </c:pt>
              <c:pt idx="194">
                <c:v>0.14751675724983215</c:v>
              </c:pt>
              <c:pt idx="195">
                <c:v>0.13471758365631104</c:v>
              </c:pt>
              <c:pt idx="196">
                <c:v>0.15567681193351746</c:v>
              </c:pt>
              <c:pt idx="197">
                <c:v>0.14251996576786041</c:v>
              </c:pt>
              <c:pt idx="198">
                <c:v>0.13019327819347382</c:v>
              </c:pt>
              <c:pt idx="199">
                <c:v>0.1302897036075592</c:v>
              </c:pt>
              <c:pt idx="200">
                <c:v>0.10281705111265182</c:v>
              </c:pt>
              <c:pt idx="201">
                <c:v>0.11256652325391769</c:v>
              </c:pt>
              <c:pt idx="202">
                <c:v>0.10507869720458984</c:v>
              </c:pt>
              <c:pt idx="203">
                <c:v>0.10983753204345703</c:v>
              </c:pt>
              <c:pt idx="204">
                <c:v>8.7740302085876465E-2</c:v>
              </c:pt>
              <c:pt idx="205">
                <c:v>0.11611386388540268</c:v>
              </c:pt>
              <c:pt idx="206">
                <c:v>0.11118339747190475</c:v>
              </c:pt>
              <c:pt idx="207">
                <c:v>0.12772849202156067</c:v>
              </c:pt>
              <c:pt idx="208">
                <c:v>0.11642333120107651</c:v>
              </c:pt>
              <c:pt idx="209">
                <c:v>9.2591464519500732E-2</c:v>
              </c:pt>
              <c:pt idx="210">
                <c:v>0.15249155461788177</c:v>
              </c:pt>
              <c:pt idx="211">
                <c:v>0.10581089556217194</c:v>
              </c:pt>
              <c:pt idx="212">
                <c:v>0.11333188414573669</c:v>
              </c:pt>
              <c:pt idx="213">
                <c:v>0.13938318192958832</c:v>
              </c:pt>
              <c:pt idx="214">
                <c:v>0.14395955204963684</c:v>
              </c:pt>
              <c:pt idx="215">
                <c:v>0.11400885879993439</c:v>
              </c:pt>
              <c:pt idx="216">
                <c:v>0.12922811508178711</c:v>
              </c:pt>
              <c:pt idx="217">
                <c:v>0.15417927503585815</c:v>
              </c:pt>
              <c:pt idx="218">
                <c:v>0.10263733565807343</c:v>
              </c:pt>
              <c:pt idx="219">
                <c:v>0.1104973703622818</c:v>
              </c:pt>
              <c:pt idx="220">
                <c:v>0.10803855955600739</c:v>
              </c:pt>
              <c:pt idx="221">
                <c:v>0.12037336826324463</c:v>
              </c:pt>
              <c:pt idx="222">
                <c:v>0.12090426683425903</c:v>
              </c:pt>
              <c:pt idx="223">
                <c:v>0.11157853901386261</c:v>
              </c:pt>
              <c:pt idx="224">
                <c:v>0.12911742925643921</c:v>
              </c:pt>
              <c:pt idx="225">
                <c:v>0.11003919690847397</c:v>
              </c:pt>
              <c:pt idx="226">
                <c:v>0.10501899570226669</c:v>
              </c:pt>
              <c:pt idx="227">
                <c:v>0.11502955853939056</c:v>
              </c:pt>
              <c:pt idx="228">
                <c:v>0.10469160974025726</c:v>
              </c:pt>
              <c:pt idx="229">
                <c:v>0.11295100301504135</c:v>
              </c:pt>
              <c:pt idx="230">
                <c:v>0.11283986270427704</c:v>
              </c:pt>
              <c:pt idx="231">
                <c:v>0.10903754830360413</c:v>
              </c:pt>
              <c:pt idx="232">
                <c:v>0.11137475073337555</c:v>
              </c:pt>
              <c:pt idx="233">
                <c:v>0.12102197110652924</c:v>
              </c:pt>
              <c:pt idx="234">
                <c:v>0.11919020116329193</c:v>
              </c:pt>
              <c:pt idx="235">
                <c:v>0.10575293004512787</c:v>
              </c:pt>
              <c:pt idx="236">
                <c:v>0.11112213134765625</c:v>
              </c:pt>
              <c:pt idx="237">
                <c:v>8.5596516728401184E-2</c:v>
              </c:pt>
              <c:pt idx="238">
                <c:v>0.1253688633441925</c:v>
              </c:pt>
              <c:pt idx="239">
                <c:v>9.111388772726059E-2</c:v>
              </c:pt>
              <c:pt idx="240">
                <c:v>9.842710942029953E-2</c:v>
              </c:pt>
              <c:pt idx="241">
                <c:v>0.1071937307715416</c:v>
              </c:pt>
              <c:pt idx="242">
                <c:v>9.2060118913650513E-2</c:v>
              </c:pt>
              <c:pt idx="243">
                <c:v>9.4113469123840332E-2</c:v>
              </c:pt>
              <c:pt idx="244">
                <c:v>0.10908930003643036</c:v>
              </c:pt>
              <c:pt idx="245">
                <c:v>9.6640840172767639E-2</c:v>
              </c:pt>
              <c:pt idx="246">
                <c:v>0.10615555942058563</c:v>
              </c:pt>
              <c:pt idx="247">
                <c:v>0.10875488817691803</c:v>
              </c:pt>
              <c:pt idx="248">
                <c:v>0.12504652142524719</c:v>
              </c:pt>
              <c:pt idx="249">
                <c:v>8.3568751811981201E-2</c:v>
              </c:pt>
              <c:pt idx="250">
                <c:v>0.12029550969600677</c:v>
              </c:pt>
              <c:pt idx="251">
                <c:v>0.11234991997480392</c:v>
              </c:pt>
              <c:pt idx="252">
                <c:v>9.2374101281166077E-2</c:v>
              </c:pt>
              <c:pt idx="253">
                <c:v>9.8339490592479706E-2</c:v>
              </c:pt>
              <c:pt idx="254">
                <c:v>9.9210396409034729E-2</c:v>
              </c:pt>
              <c:pt idx="255">
                <c:v>8.2600921392440796E-2</c:v>
              </c:pt>
              <c:pt idx="256">
                <c:v>0.1153903603553772</c:v>
              </c:pt>
              <c:pt idx="257">
                <c:v>8.9470714330673218E-2</c:v>
              </c:pt>
              <c:pt idx="258">
                <c:v>8.4500156342983246E-2</c:v>
              </c:pt>
              <c:pt idx="259">
                <c:v>8.1974193453788757E-2</c:v>
              </c:pt>
              <c:pt idx="260">
                <c:v>0.12750773131847382</c:v>
              </c:pt>
              <c:pt idx="261">
                <c:v>0.11479586362838745</c:v>
              </c:pt>
              <c:pt idx="262">
                <c:v>0.10489281266927719</c:v>
              </c:pt>
              <c:pt idx="263">
                <c:v>9.5983311533927917E-2</c:v>
              </c:pt>
              <c:pt idx="264">
                <c:v>0.1058725118637085</c:v>
              </c:pt>
              <c:pt idx="265">
                <c:v>0.12327808141708374</c:v>
              </c:pt>
              <c:pt idx="266">
                <c:v>9.4247281551361084E-2</c:v>
              </c:pt>
              <c:pt idx="267">
                <c:v>9.0818963944911957E-2</c:v>
              </c:pt>
              <c:pt idx="268">
                <c:v>0.11775755137205124</c:v>
              </c:pt>
              <c:pt idx="269">
                <c:v>0.10019071400165558</c:v>
              </c:pt>
              <c:pt idx="270">
                <c:v>0.10220278799533844</c:v>
              </c:pt>
              <c:pt idx="271">
                <c:v>9.3886934220790863E-2</c:v>
              </c:pt>
              <c:pt idx="272">
                <c:v>0.10067018121480942</c:v>
              </c:pt>
              <c:pt idx="273">
                <c:v>0.10208432376384735</c:v>
              </c:pt>
              <c:pt idx="274">
                <c:v>0.10996874421834946</c:v>
              </c:pt>
              <c:pt idx="275">
                <c:v>0.1002420037984848</c:v>
              </c:pt>
              <c:pt idx="276">
                <c:v>0.12689715623855591</c:v>
              </c:pt>
              <c:pt idx="277">
                <c:v>9.1459929943084717E-2</c:v>
              </c:pt>
              <c:pt idx="278">
                <c:v>9.3976467847824097E-2</c:v>
              </c:pt>
              <c:pt idx="279">
                <c:v>0.10140993446111679</c:v>
              </c:pt>
              <c:pt idx="280">
                <c:v>8.0913335084915161E-2</c:v>
              </c:pt>
              <c:pt idx="281">
                <c:v>0.1024259552359581</c:v>
              </c:pt>
              <c:pt idx="282">
                <c:v>8.1087738275527954E-2</c:v>
              </c:pt>
              <c:pt idx="283">
                <c:v>8.2701295614242554E-2</c:v>
              </c:pt>
              <c:pt idx="284">
                <c:v>0.13174343109130859</c:v>
              </c:pt>
              <c:pt idx="285">
                <c:v>9.8095282912254333E-2</c:v>
              </c:pt>
              <c:pt idx="286">
                <c:v>9.4659134745597839E-2</c:v>
              </c:pt>
              <c:pt idx="287">
                <c:v>0.12072561681270599</c:v>
              </c:pt>
              <c:pt idx="288">
                <c:v>8.4839016199111938E-2</c:v>
              </c:pt>
              <c:pt idx="289">
                <c:v>0.13614287972450256</c:v>
              </c:pt>
              <c:pt idx="290">
                <c:v>9.5460355281829834E-2</c:v>
              </c:pt>
              <c:pt idx="291">
                <c:v>8.199802041053772E-2</c:v>
              </c:pt>
              <c:pt idx="292">
                <c:v>9.0500019490718842E-2</c:v>
              </c:pt>
              <c:pt idx="293">
                <c:v>7.7753394842147827E-2</c:v>
              </c:pt>
              <c:pt idx="294">
                <c:v>7.8377321362495422E-2</c:v>
              </c:pt>
              <c:pt idx="295">
                <c:v>0.12081994861364365</c:v>
              </c:pt>
              <c:pt idx="296">
                <c:v>9.1974377632141113E-2</c:v>
              </c:pt>
              <c:pt idx="297">
                <c:v>0.11230488121509552</c:v>
              </c:pt>
              <c:pt idx="298">
                <c:v>9.6091471612453461E-2</c:v>
              </c:pt>
              <c:pt idx="299">
                <c:v>9.6893660724163055E-2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1C97-E649-B2F1-71D1E04DA3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2"/>
          <c:min val="0"/>
        </c:scaling>
        <c:delete val="0"/>
        <c:axPos val="l"/>
        <c:majorGridlines>
          <c:spPr>
            <a:ln w="9525">
              <a:solidFill>
                <a:srgbClr val="D4DEE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1575">
                    <a:latin typeface="Helvetica Neue"/>
                    <a:ea typeface="Helvetica Neue"/>
                    <a:cs typeface="Helvetica Neue"/>
                  </a:rPr>
                  <a:t>Noise-prediction MSE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575">
                    <a:latin typeface="Helvetica Neue"/>
                    <a:ea typeface="Helvetica Neue"/>
                    <a:cs typeface="Helvetica Neue"/>
                  </a:rPr>
                  <a:t>Epoch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F8FAFC"/>
        </a:solidFill>
      </c:spPr>
    </c:plotArea>
    <c:plotVisOnly val="1"/>
    <c:dispBlanksAs val="zero"/>
    <c:showDLblsOverMax val="1"/>
  </c:chart>
  <c:spPr>
    <a:solidFill>
      <a:srgbClr val="F8FAFC"/>
    </a:solidFill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Main-run loss</c:v>
          </c:tx>
          <c:spPr>
            <a:ln w="28575">
              <a:solidFill>
                <a:srgbClr val="007F82"/>
              </a:solidFill>
            </a:ln>
          </c:spPr>
          <c:marker>
            <c:symbol val="none"/>
          </c:marker>
          <c:xVal>
            <c:numLit>
              <c:formatCode>General</c:formatCode>
              <c:ptCount val="1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</c:numLit>
          </c:xVal>
          <c:yVal>
            <c:numLit>
              <c:formatCode>0.00</c:formatCode>
              <c:ptCount val="18"/>
              <c:pt idx="0">
                <c:v>0.35539062317169579</c:v>
              </c:pt>
              <c:pt idx="1">
                <c:v>0.11061198997369032</c:v>
              </c:pt>
              <c:pt idx="2">
                <c:v>9.0024703566356487E-2</c:v>
              </c:pt>
              <c:pt idx="3">
                <c:v>8.1811629647434242E-2</c:v>
              </c:pt>
              <c:pt idx="4">
                <c:v>7.789280045667106E-2</c:v>
              </c:pt>
              <c:pt idx="5">
                <c:v>7.4756483956568962E-2</c:v>
              </c:pt>
              <c:pt idx="6">
                <c:v>7.316775154071356E-2</c:v>
              </c:pt>
              <c:pt idx="7">
                <c:v>7.0578323170100904E-2</c:v>
              </c:pt>
              <c:pt idx="8">
                <c:v>6.9437402177531762E-2</c:v>
              </c:pt>
              <c:pt idx="9">
                <c:v>6.8437589357564388E-2</c:v>
              </c:pt>
              <c:pt idx="10">
                <c:v>6.8070874742741858E-2</c:v>
              </c:pt>
              <c:pt idx="11">
                <c:v>6.6041863008811472E-2</c:v>
              </c:pt>
              <c:pt idx="12">
                <c:v>6.5609641995712759E-2</c:v>
              </c:pt>
              <c:pt idx="13">
                <c:v>6.5763155304678689E-2</c:v>
              </c:pt>
              <c:pt idx="14">
                <c:v>6.5051350993608856E-2</c:v>
              </c:pt>
              <c:pt idx="15">
                <c:v>6.4199494403809551E-2</c:v>
              </c:pt>
              <c:pt idx="16">
                <c:v>6.4811344527089698E-2</c:v>
              </c:pt>
              <c:pt idx="17">
                <c:v>6.3635839455612908E-2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A2D5-0B4E-BC2A-16112D4F4E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0.4"/>
          <c:min val="0"/>
        </c:scaling>
        <c:delete val="0"/>
        <c:axPos val="l"/>
        <c:majorGridlines>
          <c:spPr>
            <a:ln w="9525">
              <a:solidFill>
                <a:srgbClr val="D4DEE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1575">
                    <a:latin typeface="Helvetica Neue"/>
                    <a:ea typeface="Helvetica Neue"/>
                    <a:cs typeface="Helvetica Neue"/>
                  </a:rPr>
                  <a:t>Noise-prediction MSE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575">
                    <a:latin typeface="Helvetica Neue"/>
                    <a:ea typeface="Helvetica Neue"/>
                    <a:cs typeface="Helvetica Neue"/>
                  </a:rPr>
                  <a:t>Epoch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F8FAFC"/>
        </a:solidFill>
      </c:spPr>
    </c:plotArea>
    <c:plotVisOnly val="1"/>
    <c:dispBlanksAs val="zero"/>
    <c:showDLblsOverMax val="1"/>
  </c:chart>
  <c:spPr>
    <a:solidFill>
      <a:srgbClr val="F8FAFC"/>
    </a:solidFill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built a diffusion model in PyTorch using CIFAR-10 images.</a:t>
            </a:r>
          </a:p>
          <a:p>
            <a:r>
              <a:t>The model learns to remove noise and generate new images.</a:t>
            </a:r>
          </a:p>
          <a:p>
            <a:r>
              <a:t>I will explain the workflow and show the saved results.</a:t>
            </a:r>
          </a:p>
          <a:p>
            <a:r>
              <a:t>I will also highlight the evaluation work still 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began with the problem, then explored and prepared the data.</a:t>
            </a:r>
          </a:p>
          <a:p>
            <a:r>
              <a:t>Next, I built the model and trained it to predict noise.</a:t>
            </a:r>
          </a:p>
          <a:p>
            <a:r>
              <a:t>I reviewed the saved loss curves and generated images.</a:t>
            </a:r>
          </a:p>
          <a:p>
            <a:r>
              <a:t>I will finish with evaluation gaps and the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wanted to compare diffusion with other image-generation models.</a:t>
            </a:r>
          </a:p>
          <a:p>
            <a:r>
              <a:t>The main questions were image quality and training stability.</a:t>
            </a:r>
          </a:p>
          <a:p>
            <a:r>
              <a:t>A fair comparison needs measured results and clear compute budgets.</a:t>
            </a:r>
          </a:p>
          <a:p>
            <a:r>
              <a:t>The saved files support a prototype, with comparisons still 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used 50,000 CIFAR-10 images across ten classes.</a:t>
            </a:r>
          </a:p>
          <a:p>
            <a:r>
              <a:t>Each colour image is 32 by 32 pixels, with three channels.</a:t>
            </a:r>
          </a:p>
          <a:p>
            <a:r>
              <a:t>The main model generates images without receiving class labels.</a:t>
            </a:r>
          </a:p>
          <a:p>
            <a:r>
              <a:t>Next, I separated the training images from the evaluation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split the data using seed 42 for repeatable selection.</a:t>
            </a:r>
          </a:p>
          <a:p>
            <a:r>
              <a:t>I reserved 2,500 reference images and used 47,500 for training.</a:t>
            </a:r>
          </a:p>
          <a:p>
            <a:r>
              <a:t>All 2,500 saved reference images match the recreated split.</a:t>
            </a:r>
          </a:p>
          <a:p>
            <a:r>
              <a:t>The checkpoint does not record its historical training indices.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checked the image structure and screened 5,000 training images.</a:t>
            </a:r>
          </a:p>
          <a:p>
            <a:r>
              <a:t>The recalculated screen found 25 repeated coarse image hashes.</a:t>
            </a:r>
          </a:p>
          <a:p>
            <a:r>
              <a:t>An exact pixel check found no identical images in that subset.</a:t>
            </a:r>
          </a:p>
          <a:p>
            <a:r>
              <a:t>These limited checks did not lead to image removal.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Here, I checked how many training images each class contains.</a:t>
            </a:r>
          </a:p>
          <a:p>
            <a:r>
              <a:t>The recalculated counts range from 4,735 to 4,765.</a:t>
            </a:r>
          </a:p>
          <a:p>
            <a:r>
              <a:t>The classes are nearly balanced, so the pipeline keeps their counts.</a:t>
            </a:r>
          </a:p>
          <a:p>
            <a:r>
              <a:t>This balance does not prove that generated images cover every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scaled pixel values from zero-to-one to minus-one-to-one.</a:t>
            </a:r>
          </a:p>
          <a:p>
            <a:r>
              <a:t>This gives clean images a suitable range for adding noise.</a:t>
            </a:r>
          </a:p>
          <a:p>
            <a:r>
              <a:t>The table shows recalculated statistics from 5,000 training images.</a:t>
            </a:r>
          </a:p>
          <a:p>
            <a:r>
              <a:t>The scaling preserves information without forcing zero mean.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applied random horizontal flips to training images.</a:t>
            </a:r>
          </a:p>
          <a:p>
            <a:r>
              <a:t>Then I converted them to tensors and scaled their values.</a:t>
            </a:r>
          </a:p>
          <a:p>
            <a:r>
              <a:t>I shuffled the images into batches of 128.</a:t>
            </a:r>
          </a:p>
          <a:p>
            <a:r>
              <a:t>The reference images follow the same scaling without random flips.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Here, the curves show how image signal decreases as noise increases.</a:t>
            </a:r>
          </a:p>
          <a:p>
            <a:r>
              <a:t>The cosine schedule keeps more signal through much of the process.</a:t>
            </a:r>
          </a:p>
          <a:p>
            <a:r>
              <a:t>The saved main model uses cosine across 1,000 timesteps.</a:t>
            </a:r>
          </a:p>
          <a:p>
            <a:r>
              <a:t>A quality comparison with the linear schedule is still 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added known random noise to each clean training image.</a:t>
            </a:r>
          </a:p>
          <a:p>
            <a:r>
              <a:t>I also gave the model the timestep, which indicates the noise level.</a:t>
            </a:r>
          </a:p>
          <a:p>
            <a:r>
              <a:t>The model learned to predict the noise I added.</a:t>
            </a:r>
          </a:p>
          <a:p>
            <a:r>
              <a:t>I measured its average squared prediction error during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used a U-Net to predict the noise in each image.</a:t>
            </a:r>
          </a:p>
          <a:p>
            <a:r>
              <a:t>It reduces image size, then rebuilds it using saved spatial details.</a:t>
            </a:r>
          </a:p>
          <a:p>
            <a:r>
              <a:t>Time information guides the prediction, and attention links image regions.</a:t>
            </a:r>
          </a:p>
          <a:p>
            <a:r>
              <a:t>The final output has the same shape as the input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saved main model uses 32 base channels and 2.33 million parameters.</a:t>
            </a:r>
          </a:p>
          <a:p>
            <a:r>
              <a:t>The notebook currently specifies 64 channels, which causes a loading mismatch.</a:t>
            </a:r>
          </a:p>
          <a:p>
            <a:r>
              <a:t>The main checkpoint records 18 epochs and 6,678 training steps.</a:t>
            </a:r>
          </a:p>
          <a:p>
            <a:r>
              <a:t>I need the correct architecture settings before loading that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each batch, I added noise and trained the model to predict it.</a:t>
            </a:r>
          </a:p>
          <a:p>
            <a:r>
              <a:t>I used a gradual learning-rate warm-up and limited large gradients.</a:t>
            </a:r>
          </a:p>
          <a:p>
            <a:r>
              <a:t>I also kept a moving average of the model weights, called EMA.</a:t>
            </a:r>
          </a:p>
          <a:p>
            <a:r>
              <a:t>The code saves checkpoints and uses EMA for the sample grids.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first tested the training setup on 64 images for 300 epochs.</a:t>
            </a:r>
          </a:p>
          <a:p>
            <a:r>
              <a:t>The noise-prediction error fell from 1.0895 to 0.0969.</a:t>
            </a:r>
          </a:p>
          <a:p>
            <a:r>
              <a:t>This showed that the training components could learn together.</a:t>
            </a:r>
          </a:p>
          <a:p>
            <a:r>
              <a:t>It did not establish image quality or performance on unseen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saved main run completed 18 epochs.</a:t>
            </a:r>
          </a:p>
          <a:p>
            <a:r>
              <a:t>Its training error fell from 0.3554 to 0.0636, about 82.1%.</a:t>
            </a:r>
          </a:p>
          <a:p>
            <a:r>
              <a:t>This shows progress in predicting noise during training.</a:t>
            </a:r>
          </a:p>
          <a:p>
            <a:r>
              <a:t>I then inspected the generated images to judge their visual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are the original sample grids from epochs 5 and 18.</a:t>
            </a:r>
          </a:p>
          <a:p>
            <a:r>
              <a:t>The logging code uses EMA weights and 50 DDIM steps.</a:t>
            </a:r>
          </a:p>
          <a:p>
            <a:r>
              <a:t>I can see colour and texture, but many objects remain unclear.</a:t>
            </a:r>
          </a:p>
          <a:p>
            <a:r>
              <a:t>The falling training error has not established high image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Both samplers use the trained model to turn noise into images.</a:t>
            </a:r>
          </a:p>
          <a:p>
            <a:r>
              <a:t>DDPM uses 1,000 steps, while DDIM can use fewer steps.</a:t>
            </a:r>
          </a:p>
          <a:p>
            <a:r>
              <a:t>DDIM-50 needs 20 times fewer model calls than DDPM-1000.</a:t>
            </a:r>
          </a:p>
          <a:p>
            <a:r>
              <a:t>Actual speed and image-quality comparisons still need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evaluation code compares 2,500 generated images with 2,500 real images.</a:t>
            </a:r>
          </a:p>
          <a:p>
            <a:r>
              <a:t>FID checks how closely the image distributions match.</a:t>
            </a:r>
          </a:p>
          <a:p>
            <a:r>
              <a:t>Inception Score checks confident, varied class predictions.</a:t>
            </a:r>
          </a:p>
          <a:p>
            <a:r>
              <a:t>Precision and recall assess sample quality and coverage.</a:t>
            </a:r>
          </a:p>
          <a:p>
            <a:r>
              <a:t>No saved quality scores or generation timings are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saved evidence covers the main cosine model with attention.</a:t>
            </a:r>
          </a:p>
          <a:p>
            <a:r>
              <a:t>The notebook also includes code for baselines and design comparisons.</a:t>
            </a:r>
          </a:p>
          <a:p>
            <a:r>
              <a:t>Those comparison results and optional class-controlled training are missing.</a:t>
            </a:r>
          </a:p>
          <a:p>
            <a:r>
              <a:t>I therefore cannot claim that diffusion performed best.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current delivery is a local Jupyter notebook with saved artifacts.</a:t>
            </a:r>
          </a:p>
          <a:p>
            <a:r>
              <a:t>It includes training, image generation and evaluation code.</a:t>
            </a:r>
          </a:p>
          <a:p>
            <a:r>
              <a:t>The main checkpoint needs the correct 32-channel model settings.</a:t>
            </a:r>
          </a:p>
          <a:p>
            <a:r>
              <a:t>No Streamlit application or production service is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diagram connects the data preparation, training and generation stages.</a:t>
            </a:r>
          </a:p>
          <a:p>
            <a:r>
              <a:t>Training produces checkpoints, which samplers use to generate images.</a:t>
            </a:r>
          </a:p>
          <a:p>
            <a:r>
              <a:t>The separate real-image reference supports the planned quality evaluation.</a:t>
            </a:r>
          </a:p>
          <a:p>
            <a:r>
              <a:t>The dashed link marks evaluation results that are still 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project demonstrates how the main diffusion components work together.</a:t>
            </a:r>
          </a:p>
          <a:p>
            <a:r>
              <a:t>Synthetic data and image ideation are possible future applications.</a:t>
            </a:r>
          </a:p>
          <a:p>
            <a:r>
              <a:t>Those uses need better images and evidence of practical benefit.</a:t>
            </a:r>
          </a:p>
          <a:p>
            <a:r>
              <a:t>No business impact or privacy guarantee has been established.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would first fix model loading and save complete run settings.</a:t>
            </a:r>
          </a:p>
          <a:p>
            <a:r>
              <a:t>Next, I would measure image quality and generation time.</a:t>
            </a:r>
          </a:p>
          <a:p>
            <a:r>
              <a:t>Then I would compare models under clearly stated compute budgets.</a:t>
            </a:r>
          </a:p>
          <a:p>
            <a:r>
              <a:t>Better quality and repeatable results should come before an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built a working diffusion prototype and recorded training progress.</a:t>
            </a:r>
          </a:p>
          <a:p>
            <a:r>
              <a:t>The saved images still show clear quality limitations.</a:t>
            </a:r>
          </a:p>
          <a:p>
            <a:r>
              <a:t>The next milestone is repeatable sampling with saved evaluation results.</a:t>
            </a:r>
          </a:p>
          <a:p>
            <a:r>
              <a:t>Thank you. I welcome questions about the method and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5F128C7-6B57-4335-881F-C35458A1E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59E00E4E-9503-491D-B312-A1F5E99B3B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9CAA1D1-0814-4C9B-95D8-EA22EA162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E877615-7335-4DE9-9143-F7DD0E063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D4281C8-BF60-4971-A2B5-64C30B7FC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B12844F-2E4B-42FC-88DE-72EC4FD6C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75FD221-A766-4B2D-B404-499C8DF42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1BD80AC2-C087-4C9C-9E18-E0B38734FC2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5562A1F-D0BE-4FF4-9C3D-A411F2E96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D9CD199-C1C5-44D1-9C29-61C835374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116AC4-2DED-4BA0-8079-906052CFC432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200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200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200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200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200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200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200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200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200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200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200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3B7E43-E75B-45C7-82EE-33FF38012C7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125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125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rPr>
              <a:t>DDPM_CIFAR10_Mac_Local.ipynb and local checkpoint/sample artifacts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33C459-3795-4FDB-BD51-3F9C556DE945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03822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Denoising Diffusion</a:t>
            </a:r>
          </a:p>
          <a:p>
            <a:pPr algn="l">
              <a:def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 CIFAR-10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0C2529-5B5C-4DE9-BA82-7AD9AD941693}"/>
              </a:ext>
            </a:extLst>
          </p:cNvPr>
          <p:cNvSpPr>
            <a:spLocks noGrp="1"/>
          </p:cNvSpPr>
          <p:nvPr/>
        </p:nvSpPr>
        <p:spPr>
          <a:xfrm>
            <a:off x="695325" y="3714750"/>
            <a:ext cx="100012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00" b="0">
                <a:solidFill>
                  <a:srgbClr val="D5E5E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00" b="0">
                <a:solidFill>
                  <a:srgbClr val="D5E5E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00" b="0">
                <a:solidFill>
                  <a:srgbClr val="D5E5E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00" b="0">
                <a:solidFill>
                  <a:srgbClr val="D5E5E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00" b="0">
                <a:solidFill>
                  <a:srgbClr val="D5E5E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00" b="0">
                <a:solidFill>
                  <a:srgbClr val="D5E5E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00" b="0">
                <a:solidFill>
                  <a:srgbClr val="D5E5E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00" b="0">
                <a:solidFill>
                  <a:srgbClr val="D5E5E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00" b="0">
                <a:solidFill>
                  <a:srgbClr val="D5E5E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00" b="0">
                <a:solidFill>
                  <a:srgbClr val="D5E5E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400" b="0">
                <a:solidFill>
                  <a:srgbClr val="D5E5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D5E5EF"/>
                </a:solidFill>
                <a:latin typeface="Helvetica Neue"/>
                <a:ea typeface="Helvetica Neue"/>
                <a:cs typeface="Helvetica Neue"/>
              </a:rPr>
              <a:t>A complete project walkthrough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0B04D7-1943-4E21-9CA7-3BB66CAEFD73}"/>
              </a:ext>
            </a:extLst>
          </p:cNvPr>
          <p:cNvSpPr>
            <a:spLocks noGrp="1"/>
          </p:cNvSpPr>
          <p:nvPr/>
        </p:nvSpPr>
        <p:spPr>
          <a:xfrm>
            <a:off x="695325" y="4438650"/>
            <a:ext cx="10001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0">
                <a:solidFill>
                  <a:srgbClr val="AFC9D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AFC9D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AFC9D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AFC9D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AFC9D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AFC9D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AFC9D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AFC9D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AFC9D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AFC9DC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950" b="0">
                <a:solidFill>
                  <a:srgbClr val="AFC9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FC9DC"/>
                </a:solidFill>
                <a:latin typeface="Helvetica Neue"/>
                <a:ea typeface="Helvetica Neue"/>
                <a:cs typeface="Helvetica Neue"/>
              </a:rPr>
              <a:t>PyTorch implementation • Local Mac workflow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E78D69-B97E-4718-A17D-6F5E16C1D86F}"/>
              </a:ext>
            </a:extLst>
          </p:cNvPr>
          <p:cNvSpPr>
            <a:spLocks noGrp="1"/>
          </p:cNvSpPr>
          <p:nvPr/>
        </p:nvSpPr>
        <p:spPr>
          <a:xfrm>
            <a:off x="695325" y="5191125"/>
            <a:ext cx="104775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0">
                <a:solidFill>
                  <a:srgbClr val="AFC9D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AFC9D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AFC9D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AFC9D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AFC9D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AFC9D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AFC9D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AFC9D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AFC9D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AFC9DC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875" b="0">
                <a:solidFill>
                  <a:srgbClr val="AFC9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FC9DC"/>
                </a:solidFill>
                <a:latin typeface="Helvetica Neue"/>
                <a:ea typeface="Helvetica Neue"/>
                <a:cs typeface="Helvetica Neue"/>
              </a:rPr>
              <a:t>Training evidence, generation quality and evaluation gaps</a:t>
            </a:r>
          </a:p>
        </p:txBody>
      </p:sp>
    </p:spTree>
    <p:extLst>
      <p:ext uri="{BB962C8B-B14F-4D97-AF65-F5344CB8AC3E}">
        <p14:creationId xmlns:p14="http://schemas.microsoft.com/office/powerpoint/2010/main" val="159224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E0A98A2-B4A8-4D0A-BB4D-B7C618D2A479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6143625" y="4405313"/>
            <a:ext cx="714375" cy="0"/>
          </a:xfrm>
          <a:prstGeom prst="straightConnector1">
            <a:avLst/>
          </a:prstGeom>
          <a:ln w="19050">
            <a:solidFill>
              <a:srgbClr val="007F82"/>
            </a:solidFill>
            <a:prstDash val="solid"/>
            <a:tailEnd type="triangle" w="med" len="med"/>
          </a:ln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C5BD0A4-1635-494D-B729-FAFD6D44C60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3048000" y="4405313"/>
            <a:ext cx="714375" cy="0"/>
          </a:xfrm>
          <a:prstGeom prst="straightConnector1">
            <a:avLst/>
          </a:prstGeom>
          <a:ln w="19050">
            <a:solidFill>
              <a:srgbClr val="007F82"/>
            </a:solidFill>
            <a:prstDash val="solid"/>
            <a:tailEnd type="triangle" w="med" len="med"/>
          </a:ln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E201160-957B-45A4-AAA1-9E8112F7F28D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6143625" y="2309813"/>
            <a:ext cx="714375" cy="0"/>
          </a:xfrm>
          <a:prstGeom prst="straightConnector1">
            <a:avLst/>
          </a:prstGeom>
          <a:ln w="19050">
            <a:solidFill>
              <a:srgbClr val="007F82"/>
            </a:solidFill>
            <a:prstDash val="solid"/>
            <a:tailEnd type="triangle" w="med" len="med"/>
          </a:ln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D0D45DF-27A7-4912-8021-9BD457DEA850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048000" y="2309813"/>
            <a:ext cx="714375" cy="0"/>
          </a:xfrm>
          <a:prstGeom prst="straightConnector1">
            <a:avLst/>
          </a:prstGeom>
          <a:ln w="19050">
            <a:solidFill>
              <a:srgbClr val="007F82"/>
            </a:solidFill>
            <a:prstDash val="solid"/>
            <a:tailEnd type="triangle" w="med" len="med"/>
          </a:ln>
        </p:spPr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CC9E91E-82AC-4D19-9BC4-55E396FAA563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Project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313B5B-97F1-4608-B8E3-A3653A2396FA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27BC79-0A47-4188-8AFB-8CC97E29EDDA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DDPM_CIFAR10_Mac_Local.ipynb, workflow sections 1–20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8E5398-8A5B-435E-909E-BD53D107F4AB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2381250" cy="1000125"/>
          </a:xfrm>
          <a:prstGeom prst="rect">
            <a:avLst/>
          </a:prstGeom>
          <a:solidFill>
            <a:srgbClr val="EAF2F5"/>
          </a:solidFill>
          <a:ln w="9525">
            <a:solidFill>
              <a:srgbClr val="D4DEE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Problem and</a:t>
            </a:r>
          </a:p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success criteria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920930-4572-446A-BB16-9FDEE53A3961}"/>
              </a:ext>
            </a:extLst>
          </p:cNvPr>
          <p:cNvSpPr>
            <a:spLocks noGrp="1"/>
          </p:cNvSpPr>
          <p:nvPr/>
        </p:nvSpPr>
        <p:spPr>
          <a:xfrm>
            <a:off x="3762375" y="1809750"/>
            <a:ext cx="2381250" cy="1000125"/>
          </a:xfrm>
          <a:prstGeom prst="rect">
            <a:avLst/>
          </a:prstGeom>
          <a:solidFill>
            <a:srgbClr val="EAF2F5"/>
          </a:solidFill>
          <a:ln w="9525">
            <a:solidFill>
              <a:srgbClr val="D4DEE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Data understanding</a:t>
            </a:r>
          </a:p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and preparation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87057C-335A-4028-8FB5-4CDA84244481}"/>
              </a:ext>
            </a:extLst>
          </p:cNvPr>
          <p:cNvSpPr>
            <a:spLocks noGrp="1"/>
          </p:cNvSpPr>
          <p:nvPr/>
        </p:nvSpPr>
        <p:spPr>
          <a:xfrm>
            <a:off x="6858000" y="1809750"/>
            <a:ext cx="2381250" cy="1000125"/>
          </a:xfrm>
          <a:prstGeom prst="rect">
            <a:avLst/>
          </a:prstGeom>
          <a:solidFill>
            <a:srgbClr val="EAF2F5"/>
          </a:solidFill>
          <a:ln w="9525">
            <a:solidFill>
              <a:srgbClr val="D4DEE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Diffusion model</a:t>
            </a:r>
          </a:p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and training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5054AD-05BE-4A59-AE19-365B33967569}"/>
              </a:ext>
            </a:extLst>
          </p:cNvPr>
          <p:cNvSpPr>
            <a:spLocks noGrp="1"/>
          </p:cNvSpPr>
          <p:nvPr/>
        </p:nvSpPr>
        <p:spPr>
          <a:xfrm>
            <a:off x="666750" y="3905250"/>
            <a:ext cx="2381250" cy="1000125"/>
          </a:xfrm>
          <a:prstGeom prst="rect">
            <a:avLst/>
          </a:prstGeom>
          <a:solidFill>
            <a:srgbClr val="EAF2F5"/>
          </a:solidFill>
          <a:ln w="9525">
            <a:solidFill>
              <a:srgbClr val="D4DEE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Saved training</a:t>
            </a:r>
          </a:p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and sample evidence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73FA28-4091-45B6-859A-C9A81DA0E654}"/>
              </a:ext>
            </a:extLst>
          </p:cNvPr>
          <p:cNvSpPr>
            <a:spLocks noGrp="1"/>
          </p:cNvSpPr>
          <p:nvPr/>
        </p:nvSpPr>
        <p:spPr>
          <a:xfrm>
            <a:off x="3762375" y="3905250"/>
            <a:ext cx="2381250" cy="1000125"/>
          </a:xfrm>
          <a:prstGeom prst="rect">
            <a:avLst/>
          </a:prstGeom>
          <a:solidFill>
            <a:srgbClr val="EAF2F5"/>
          </a:solidFill>
          <a:ln w="9525">
            <a:solidFill>
              <a:srgbClr val="D4DEE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Evaluation and</a:t>
            </a:r>
          </a:p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comparison protocol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86FE5C-CE4C-49D4-AF00-44703FE430F6}"/>
              </a:ext>
            </a:extLst>
          </p:cNvPr>
          <p:cNvSpPr>
            <a:spLocks noGrp="1"/>
          </p:cNvSpPr>
          <p:nvPr/>
        </p:nvSpPr>
        <p:spPr>
          <a:xfrm>
            <a:off x="6858000" y="3905250"/>
            <a:ext cx="2381250" cy="1000125"/>
          </a:xfrm>
          <a:prstGeom prst="rect">
            <a:avLst/>
          </a:prstGeom>
          <a:solidFill>
            <a:srgbClr val="EAF2F5"/>
          </a:solidFill>
          <a:ln w="9525">
            <a:solidFill>
              <a:srgbClr val="D4DEE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Delivery, limitations</a:t>
            </a:r>
          </a:p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and next steps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8F6FD2-8DE0-4B5D-B629-F003DCEB446B}"/>
              </a:ext>
            </a:extLst>
          </p:cNvPr>
          <p:cNvSpPr>
            <a:spLocks noGrp="1"/>
          </p:cNvSpPr>
          <p:nvPr/>
        </p:nvSpPr>
        <p:spPr>
          <a:xfrm>
            <a:off x="666750" y="579120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The narrative follows the notebook and marks results that remain unmeasured</a:t>
            </a:r>
          </a:p>
        </p:txBody>
      </p:sp>
    </p:spTree>
    <p:extLst>
      <p:ext uri="{BB962C8B-B14F-4D97-AF65-F5344CB8AC3E}">
        <p14:creationId xmlns:p14="http://schemas.microsoft.com/office/powerpoint/2010/main" val="1385417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8B04C84-0F57-4E0F-94E1-F78F6C89EE05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Problem and success criteria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0C8104-3D07-40F1-9900-06AD871E6860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98ACA2-47E2-46A7-B578-DB3720B3880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DDPM_CIFAR10_Mac_Local.ipynb, cell 69 problem statement and cells 50–62 evaluation/comparisons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0761CF-F815-4A06-B6A5-3CB3477618AA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2286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123AA5-65CD-44B3-A13A-97A2DC986DAB}"/>
              </a:ext>
            </a:extLst>
          </p:cNvPr>
          <p:cNvSpPr>
            <a:spLocks noGrp="1"/>
          </p:cNvSpPr>
          <p:nvPr/>
        </p:nvSpPr>
        <p:spPr>
          <a:xfrm>
            <a:off x="1000125" y="1619250"/>
            <a:ext cx="10334625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Research question: can a core-component DDPM improve image fidelity and training stability over AE, VAE and DCGAN?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C0C935-B57F-483A-BE43-6E55AF6F4155}"/>
              </a:ext>
            </a:extLst>
          </p:cNvPr>
          <p:cNvSpPr>
            <a:spLocks noGrp="1"/>
          </p:cNvSpPr>
          <p:nvPr/>
        </p:nvSpPr>
        <p:spPr>
          <a:xfrm>
            <a:off x="666750" y="2876550"/>
            <a:ext cx="2286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2D1578-4B44-4E5B-BBC2-EC936FC4B016}"/>
              </a:ext>
            </a:extLst>
          </p:cNvPr>
          <p:cNvSpPr>
            <a:spLocks noGrp="1"/>
          </p:cNvSpPr>
          <p:nvPr/>
        </p:nvSpPr>
        <p:spPr>
          <a:xfrm>
            <a:off x="1000125" y="2876550"/>
            <a:ext cx="10334625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Technical success needs image-quality metrics, sample inspection and fair compute reporting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77D65A-1296-421B-9717-9ADD07E606EC}"/>
              </a:ext>
            </a:extLst>
          </p:cNvPr>
          <p:cNvSpPr>
            <a:spLocks noGrp="1"/>
          </p:cNvSpPr>
          <p:nvPr/>
        </p:nvSpPr>
        <p:spPr>
          <a:xfrm>
            <a:off x="666750" y="4133850"/>
            <a:ext cx="2286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021974-EE6C-47C6-8257-35AE29273C00}"/>
              </a:ext>
            </a:extLst>
          </p:cNvPr>
          <p:cNvSpPr>
            <a:spLocks noGrp="1"/>
          </p:cNvSpPr>
          <p:nvPr/>
        </p:nvSpPr>
        <p:spPr>
          <a:xfrm>
            <a:off x="1000125" y="4133850"/>
            <a:ext cx="10334625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No business KPI, numerical acceptance threshold or baseline victory is documented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B7345E-ACB0-4B8F-939A-6B30B17C77DC}"/>
              </a:ext>
            </a:extLst>
          </p:cNvPr>
          <p:cNvSpPr>
            <a:spLocks noGrp="1"/>
          </p:cNvSpPr>
          <p:nvPr/>
        </p:nvSpPr>
        <p:spPr>
          <a:xfrm>
            <a:off x="666750" y="579120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Current outcome: a trained prototype with incomplete comparative evaluation</a:t>
            </a:r>
          </a:p>
        </p:txBody>
      </p:sp>
    </p:spTree>
    <p:extLst>
      <p:ext uri="{BB962C8B-B14F-4D97-AF65-F5344CB8AC3E}">
        <p14:creationId xmlns:p14="http://schemas.microsoft.com/office/powerpoint/2010/main" val="127097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F790B13-A564-4D18-883D-72708E8D7758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CIFAR-10 image data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3E1010-95D5-4FE4-96DE-47E96CBD48D4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294531-8DD4-4A82-B332-2091130C992A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DDPM_CIFAR10_Mac_Local.ipynb, cells 7–10. Local CIFAR batches and fid_eval/real_holdout PNGs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21436C-3CE2-4378-9855-8DB780C02174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40005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45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45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45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45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45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45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45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45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45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45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45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50,000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9D9367-8901-441F-8850-E8A284A4149A}"/>
              </a:ext>
            </a:extLst>
          </p:cNvPr>
          <p:cNvSpPr>
            <a:spLocks noGrp="1"/>
          </p:cNvSpPr>
          <p:nvPr/>
        </p:nvSpPr>
        <p:spPr>
          <a:xfrm>
            <a:off x="666750" y="2476500"/>
            <a:ext cx="4572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9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images in the loaded partition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EFAD25-A503-4730-A87E-5DD2BF67DF25}"/>
              </a:ext>
            </a:extLst>
          </p:cNvPr>
          <p:cNvSpPr>
            <a:spLocks noGrp="1"/>
          </p:cNvSpPr>
          <p:nvPr/>
        </p:nvSpPr>
        <p:spPr>
          <a:xfrm>
            <a:off x="666750" y="3333750"/>
            <a:ext cx="4572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1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1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32 × 32 ×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BE27D0-796A-4F03-8D17-1CF2EA3F5237}"/>
              </a:ext>
            </a:extLst>
          </p:cNvPr>
          <p:cNvSpPr>
            <a:spLocks noGrp="1"/>
          </p:cNvSpPr>
          <p:nvPr/>
        </p:nvSpPr>
        <p:spPr>
          <a:xfrm>
            <a:off x="666750" y="4000500"/>
            <a:ext cx="4572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87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RGB pixels, uint8 values 0–255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35F4F1-9E9D-441D-977A-6B9F4DD8EB6F}"/>
              </a:ext>
            </a:extLst>
          </p:cNvPr>
          <p:cNvSpPr>
            <a:spLocks noGrp="1"/>
          </p:cNvSpPr>
          <p:nvPr/>
        </p:nvSpPr>
        <p:spPr>
          <a:xfrm>
            <a:off x="666750" y="4810125"/>
            <a:ext cx="4572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8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8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8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8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8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8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8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8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8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8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8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10 classes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FDB0B1-D1C7-43A0-9678-A489A7E25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38875" y="1714500"/>
            <a:ext cx="1476375" cy="14763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05D3D6-B505-497A-92EB-3E1671F6C4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905750" y="1714500"/>
            <a:ext cx="1476375" cy="14763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1149E0-C758-40AC-8C2A-0DF09ED768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572625" y="1714500"/>
            <a:ext cx="1476375" cy="14763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A64B47E-17AF-437E-9687-927077A5C5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238875" y="3524250"/>
            <a:ext cx="1476375" cy="14763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7599BD2-6495-48AE-BD35-70DF558F1E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7905750" y="3524250"/>
            <a:ext cx="1476375" cy="14763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8D528A9-1F7C-477E-BCDF-BF07DDA04C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9572625" y="3524250"/>
            <a:ext cx="1476375" cy="147637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E134E40-E49C-4E17-8468-56E2712DD8F4}"/>
              </a:ext>
            </a:extLst>
          </p:cNvPr>
          <p:cNvSpPr>
            <a:spLocks noGrp="1"/>
          </p:cNvSpPr>
          <p:nvPr/>
        </p:nvSpPr>
        <p:spPr>
          <a:xfrm>
            <a:off x="6191250" y="5543550"/>
            <a:ext cx="5238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65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65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65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65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65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65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65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65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65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65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Actual reference images, enlarged for viewing</a:t>
            </a:r>
          </a:p>
        </p:txBody>
      </p:sp>
    </p:spTree>
    <p:extLst>
      <p:ext uri="{BB962C8B-B14F-4D97-AF65-F5344CB8AC3E}">
        <p14:creationId xmlns:p14="http://schemas.microsoft.com/office/powerpoint/2010/main" val="353682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3A5802-8F89-4197-80EB-B1C88EB919BB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3143250" y="3000375"/>
            <a:ext cx="1952625" cy="1404938"/>
          </a:xfrm>
          <a:prstGeom prst="straightConnector1">
            <a:avLst/>
          </a:prstGeom>
          <a:ln w="19050">
            <a:solidFill>
              <a:srgbClr val="007F82"/>
            </a:solidFill>
            <a:prstDash val="solid"/>
            <a:tailEnd type="triangle" w="med" len="med"/>
          </a:ln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736572A-EE5E-4957-9DB1-D3F93E3B0614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3143250" y="2262188"/>
            <a:ext cx="1952625" cy="738188"/>
          </a:xfrm>
          <a:prstGeom prst="straightConnector1">
            <a:avLst/>
          </a:prstGeom>
          <a:ln w="19050">
            <a:solidFill>
              <a:srgbClr val="007F82"/>
            </a:solidFill>
            <a:prstDash val="solid"/>
            <a:tailEnd type="triangle" w="med" len="med"/>
          </a:ln>
        </p:spPr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C2AB8DA-158E-4F70-AF24-93AB9447C67C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A separate reference set for evaluation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3988E4-0FC3-45DD-8E29-E47AB33CADEB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437D74-C001-4F61-AA88-7F2C35F4FA2A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DDPM_CIFAR10_Mac_Local.ipynb, cell 10. Reference PNG match recalculated from local 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F790DB-DED0-4FF2-91C4-11E4096F673E}"/>
              </a:ext>
            </a:extLst>
          </p:cNvPr>
          <p:cNvSpPr>
            <a:spLocks noGrp="1"/>
          </p:cNvSpPr>
          <p:nvPr/>
        </p:nvSpPr>
        <p:spPr>
          <a:xfrm>
            <a:off x="666750" y="2476500"/>
            <a:ext cx="2476500" cy="1047750"/>
          </a:xfrm>
          <a:prstGeom prst="rect">
            <a:avLst/>
          </a:prstGeom>
          <a:solidFill>
            <a:srgbClr val="EAF2F5"/>
          </a:solidFill>
          <a:ln w="9525">
            <a:solidFill>
              <a:srgbClr val="D4DEE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50,000 images</a:t>
            </a:r>
          </a:p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seed = 42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76266B-1A3E-4518-BD5C-C931CC900FE6}"/>
              </a:ext>
            </a:extLst>
          </p:cNvPr>
          <p:cNvSpPr>
            <a:spLocks noGrp="1"/>
          </p:cNvSpPr>
          <p:nvPr/>
        </p:nvSpPr>
        <p:spPr>
          <a:xfrm>
            <a:off x="5095875" y="1762125"/>
            <a:ext cx="2952750" cy="1000125"/>
          </a:xfrm>
          <a:prstGeom prst="rect">
            <a:avLst/>
          </a:prstGeom>
          <a:solidFill>
            <a:srgbClr val="EAF2F5"/>
          </a:solidFill>
          <a:ln w="9525">
            <a:solidFill>
              <a:srgbClr val="D4DEE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47,500 training</a:t>
            </a:r>
          </a:p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random flips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2E1967-7D3B-480E-AF4E-8858D7C37BE0}"/>
              </a:ext>
            </a:extLst>
          </p:cNvPr>
          <p:cNvSpPr>
            <a:spLocks noGrp="1"/>
          </p:cNvSpPr>
          <p:nvPr/>
        </p:nvSpPr>
        <p:spPr>
          <a:xfrm>
            <a:off x="5095875" y="3905250"/>
            <a:ext cx="2952750" cy="1000125"/>
          </a:xfrm>
          <a:prstGeom prst="rect">
            <a:avLst/>
          </a:prstGeom>
          <a:solidFill>
            <a:srgbClr val="EAF2F5"/>
          </a:solidFill>
          <a:ln w="9525">
            <a:solidFill>
              <a:srgbClr val="D4DEE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2,500 reference</a:t>
            </a:r>
          </a:p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no random flips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60A2CC-BEDC-48AA-B96B-B0838195CBE3}"/>
              </a:ext>
            </a:extLst>
          </p:cNvPr>
          <p:cNvSpPr>
            <a:spLocks noGrp="1"/>
          </p:cNvSpPr>
          <p:nvPr/>
        </p:nvSpPr>
        <p:spPr>
          <a:xfrm>
            <a:off x="8667750" y="1762125"/>
            <a:ext cx="27622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9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371 full batches per epoch</a:t>
            </a:r>
          </a:p>
          <a:p>
            <a:pPr algn="l">
              <a:defRPr sz="19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Batch size 128, drop_last=True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4479BC-CF83-49D1-BDE1-8B685F6E98A8}"/>
              </a:ext>
            </a:extLst>
          </p:cNvPr>
          <p:cNvSpPr>
            <a:spLocks noGrp="1"/>
          </p:cNvSpPr>
          <p:nvPr/>
        </p:nvSpPr>
        <p:spPr>
          <a:xfrm>
            <a:off x="8667750" y="3905250"/>
            <a:ext cx="276225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9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2,500 / 2,500 saved PNGs</a:t>
            </a:r>
          </a:p>
          <a:p>
            <a:pPr algn="l">
              <a:defRPr sz="19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match the recreated split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A72EBF-FF23-4666-9356-7B33ADBC3130}"/>
              </a:ext>
            </a:extLst>
          </p:cNvPr>
          <p:cNvSpPr>
            <a:spLocks noGrp="1"/>
          </p:cNvSpPr>
          <p:nvPr/>
        </p:nvSpPr>
        <p:spPr>
          <a:xfrm>
            <a:off x="666750" y="579120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The split prevents index overlap. Historical checkpoint provenance is less complete</a:t>
            </a:r>
          </a:p>
        </p:txBody>
      </p:sp>
    </p:spTree>
    <p:extLst>
      <p:ext uri="{BB962C8B-B14F-4D97-AF65-F5344CB8AC3E}">
        <p14:creationId xmlns:p14="http://schemas.microsoft.com/office/powerpoint/2010/main" val="1863639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FD3043C-4351-4155-9944-A6549552C248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Data quality checks and their limits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F89F2B-4557-4242-A26B-33441D6112DE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3CE7E0-8F2E-4A56-A301-11B15BE3D0E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DDPM_CIFAR10_Mac_Local.ipynb, cells 13–15. Recalculated EDA on 5,000 training images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FF64B9-CDEA-4E4A-9098-F1D6B909425A}"/>
              </a:ext>
            </a:extLst>
          </p:cNvPr>
          <p:cNvGraphicFramePr/>
          <p:nvPr/>
        </p:nvGraphicFramePr>
        <p:xfrm>
          <a:off x="666750" y="1619250"/>
          <a:ext cx="10858500" cy="3333750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Check</a:t>
                      </a:r>
                    </a:p>
                  </a:txBody>
                  <a:tcPr anchor="ctr">
                    <a:lnL w="9525">
                      <a:solidFill>
                        <a:srgbClr val="D4DEE8"/>
                      </a:solidFill>
                      <a:prstDash val="soli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>
                      <a:solidFill>
                        <a:srgbClr val="D4DEE8"/>
                      </a:solidFill>
                      <a:prstDash val="soli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>
                      <a:solidFill>
                        <a:srgbClr val="D4DEE8"/>
                      </a:solidFill>
                      <a:prstDash val="soli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Interpretation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>
                      <a:solidFill>
                        <a:srgbClr val="D4DEE8"/>
                      </a:solidFill>
                      <a:prstDash val="soli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14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Tensor validity</a:t>
                      </a:r>
                    </a:p>
                  </a:txBody>
                  <a:tcPr anchor="ctr">
                    <a:lnL w="9525">
                      <a:solidFill>
                        <a:srgbClr val="D4DEE8"/>
                      </a:solidFill>
                      <a:prstDash val="soli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50,000 × 3 × 32 × 32, uint8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Consistent structure and pixel type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Coarse hash screen</a:t>
                      </a:r>
                    </a:p>
                  </a:txBody>
                  <a:tcPr anchor="ctr">
                    <a:lnL w="9525">
                      <a:solidFill>
                        <a:srgbClr val="D4DEE8"/>
                      </a:solidFill>
                      <a:prstDash val="soli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 repeated occurrences / 5,000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Similarity candidates only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Exact pixel duplicate check</a:t>
                      </a:r>
                    </a:p>
                  </a:txBody>
                  <a:tcPr anchor="ctr">
                    <a:lnL w="9525">
                      <a:solidFill>
                        <a:srgbClr val="D4DEE8"/>
                      </a:solidFill>
                      <a:prstDash val="soli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 repeats / same 5,000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Additional check for this deck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Cleaning actions</a:t>
                      </a:r>
                    </a:p>
                  </a:txBody>
                  <a:tcPr anchor="ctr">
                    <a:lnL w="9525">
                      <a:solidFill>
                        <a:srgbClr val="D4DEE8"/>
                      </a:solidFill>
                      <a:prstDash val="soli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candidate removal in notebook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imputation or outlier deletion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865F6DB-28E1-49FC-AB7F-3422DFA67CFC}"/>
              </a:ext>
            </a:extLst>
          </p:cNvPr>
          <p:cNvSpPr>
            <a:spLocks noGrp="1"/>
          </p:cNvSpPr>
          <p:nvPr/>
        </p:nvSpPr>
        <p:spPr>
          <a:xfrm>
            <a:off x="666750" y="579120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Unverified: full-dataset duplicates, cross-split similarity and semantic label quality</a:t>
            </a:r>
          </a:p>
        </p:txBody>
      </p:sp>
    </p:spTree>
    <p:extLst>
      <p:ext uri="{BB962C8B-B14F-4D97-AF65-F5344CB8AC3E}">
        <p14:creationId xmlns:p14="http://schemas.microsoft.com/office/powerpoint/2010/main" val="2058620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F7590C-8B1F-49BF-96BE-0C67C3CD252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The training split remains nearly balanced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5CF0CA-D256-47B8-8060-2121A4A23EFB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9FD243-4FA3-4D11-A0E9-00584F3D8D3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DDPM_CIFAR10_Mac_Local.ipynb, cell 13. Counts recalculated from local data and seed-42 split</a:t>
            </a:r>
          </a:p>
        </p:txBody>
      </p: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1AB25CCF-77A1-4458-AA10-CFFC35968C2F}"/>
              </a:ext>
            </a:extLst>
          </p:cNvPr>
          <p:cNvGraphicFramePr/>
          <p:nvPr/>
        </p:nvGraphicFramePr>
        <p:xfrm>
          <a:off x="666750" y="1524000"/>
          <a:ext cx="108585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E8E1194-8E14-4F99-A722-CE6DA4151FCD}"/>
              </a:ext>
            </a:extLst>
          </p:cNvPr>
          <p:cNvSpPr>
            <a:spLocks noGrp="1"/>
          </p:cNvSpPr>
          <p:nvPr/>
        </p:nvSpPr>
        <p:spPr>
          <a:xfrm>
            <a:off x="666750" y="579120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Counts range from 4,735 to 4,765. No class resampling appears in the pipeline</a:t>
            </a:r>
          </a:p>
        </p:txBody>
      </p:sp>
    </p:spTree>
    <p:extLst>
      <p:ext uri="{BB962C8B-B14F-4D97-AF65-F5344CB8AC3E}">
        <p14:creationId xmlns:p14="http://schemas.microsoft.com/office/powerpoint/2010/main" val="1851771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80A6137-D4B7-4261-9A36-ECA83279B845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Pixel scaling preserves the image signal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DEC04B-D829-43C0-8C1C-E1BB0708BF5E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D0C998-7BF5-4502-AA77-9490E6D5B3FB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DDPM_CIFAR10_Mac_Local.ipynb, cells 7 and 14. Statistics recalculated on 5,000 training images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085ECB-50DD-416A-B2CA-6B10E619533F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0763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x_normalized = 2 × x_[0,1] − 1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9B876BC-9768-43E1-AC59-0031510A8CA6}"/>
              </a:ext>
            </a:extLst>
          </p:cNvPr>
          <p:cNvGraphicFramePr/>
          <p:nvPr/>
        </p:nvGraphicFramePr>
        <p:xfrm>
          <a:off x="666750" y="2524125"/>
          <a:ext cx="10858500" cy="2333625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340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Channel</a:t>
                      </a:r>
                    </a:p>
                  </a:txBody>
                  <a:tcPr anchor="ctr">
                    <a:lnL w="9525">
                      <a:solidFill>
                        <a:srgbClr val="D4DEE8"/>
                      </a:solidFill>
                      <a:prstDash val="soli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>
                      <a:solidFill>
                        <a:srgbClr val="D4DEE8"/>
                      </a:solidFill>
                      <a:prstDash val="soli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 [0,1]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>
                      <a:solidFill>
                        <a:srgbClr val="D4DEE8"/>
                      </a:solidFill>
                      <a:prstDash val="soli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Std [0,1]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>
                      <a:solidFill>
                        <a:srgbClr val="D4DEE8"/>
                      </a:solidFill>
                      <a:prstDash val="soli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 [−1,1]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>
                      <a:solidFill>
                        <a:srgbClr val="D4DEE8"/>
                      </a:solidFill>
                      <a:prstDash val="soli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Std [−1,1]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>
                      <a:solidFill>
                        <a:srgbClr val="D4DEE8"/>
                      </a:solidFill>
                      <a:prstDash val="soli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14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Red</a:t>
                      </a:r>
                    </a:p>
                  </a:txBody>
                  <a:tcPr anchor="ctr">
                    <a:lnL w="9525">
                      <a:solidFill>
                        <a:srgbClr val="D4DEE8"/>
                      </a:solidFill>
                      <a:prstDash val="soli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0.494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0.248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-0.011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0.496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Green</a:t>
                      </a:r>
                    </a:p>
                  </a:txBody>
                  <a:tcPr anchor="ctr">
                    <a:lnL w="9525">
                      <a:solidFill>
                        <a:srgbClr val="D4DEE8"/>
                      </a:solidFill>
                      <a:prstDash val="soli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0.486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0.244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-0.028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0.488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Blue</a:t>
                      </a:r>
                    </a:p>
                  </a:txBody>
                  <a:tcPr anchor="ctr">
                    <a:lnL w="9525">
                      <a:solidFill>
                        <a:srgbClr val="D4DEE8"/>
                      </a:solidFill>
                      <a:prstDash val="soli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0.449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0.263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-0.101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0.526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C372B9E2-930A-4F16-9745-90C7225DBEA2}"/>
              </a:ext>
            </a:extLst>
          </p:cNvPr>
          <p:cNvSpPr>
            <a:spLocks noGrp="1"/>
          </p:cNvSpPr>
          <p:nvPr/>
        </p:nvSpPr>
        <p:spPr>
          <a:xfrm>
            <a:off x="666750" y="579120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The transform changes the scale. It does not force zero mean or unit variance</a:t>
            </a:r>
          </a:p>
        </p:txBody>
      </p:sp>
    </p:spTree>
    <p:extLst>
      <p:ext uri="{BB962C8B-B14F-4D97-AF65-F5344CB8AC3E}">
        <p14:creationId xmlns:p14="http://schemas.microsoft.com/office/powerpoint/2010/main" val="193917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457C464-C94E-4E7A-9A57-BE991D71B8BB}"/>
              </a:ext>
            </a:extLst>
          </p:cNvPr>
          <p:cNvCxnSpPr>
            <a:stCxn id="7" idx="2"/>
            <a:endCxn id="11" idx="0"/>
          </p:cNvCxnSpPr>
          <p:nvPr/>
        </p:nvCxnSpPr>
        <p:spPr>
          <a:xfrm flipH="1">
            <a:off x="8048625" y="2952750"/>
            <a:ext cx="1905000" cy="1190625"/>
          </a:xfrm>
          <a:prstGeom prst="straightConnector1">
            <a:avLst/>
          </a:prstGeom>
          <a:ln w="19050">
            <a:solidFill>
              <a:srgbClr val="007F82"/>
            </a:solidFill>
            <a:prstDash val="solid"/>
            <a:tailEnd type="triangle" w="med" len="med"/>
          </a:ln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442AB25-074B-4FF7-8D3F-CA39E3812F1B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8382000" y="2428875"/>
            <a:ext cx="428625" cy="0"/>
          </a:xfrm>
          <a:prstGeom prst="straightConnector1">
            <a:avLst/>
          </a:prstGeom>
          <a:ln w="19050">
            <a:solidFill>
              <a:srgbClr val="007F82"/>
            </a:solidFill>
            <a:prstDash val="solid"/>
            <a:tailEnd type="triangle" w="med" len="med"/>
          </a:ln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785FF42-FB24-4EE3-BBDB-499328F0773F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667375" y="2428875"/>
            <a:ext cx="428625" cy="0"/>
          </a:xfrm>
          <a:prstGeom prst="straightConnector1">
            <a:avLst/>
          </a:prstGeom>
          <a:ln w="19050">
            <a:solidFill>
              <a:srgbClr val="007F82"/>
            </a:solidFill>
            <a:prstDash val="solid"/>
            <a:tailEnd type="triangle" w="med" len="med"/>
          </a:ln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F4F5ED5-466A-4A59-AF21-5B37DB890875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952750" y="2428875"/>
            <a:ext cx="428625" cy="0"/>
          </a:xfrm>
          <a:prstGeom prst="straightConnector1">
            <a:avLst/>
          </a:prstGeom>
          <a:ln w="19050">
            <a:solidFill>
              <a:srgbClr val="007F82"/>
            </a:solidFill>
            <a:prstDash val="solid"/>
            <a:tailEnd type="triangle" w="med" len="med"/>
          </a:ln>
        </p:spPr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2D74C43-6463-4E75-806A-B4031853681E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Image preprocessing and batching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7C564F-7C20-4604-A53C-A1218F9C6C1A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D41828-889A-43C8-80C4-19D4BC6350C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DDPM_CIFAR10_Mac_Local.ipynb, cells 7 and 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5068DA-C65C-4E62-8162-2EFC5CB14D46}"/>
              </a:ext>
            </a:extLst>
          </p:cNvPr>
          <p:cNvSpPr>
            <a:spLocks noGrp="1"/>
          </p:cNvSpPr>
          <p:nvPr/>
        </p:nvSpPr>
        <p:spPr>
          <a:xfrm>
            <a:off x="666750" y="1905000"/>
            <a:ext cx="2286000" cy="1047750"/>
          </a:xfrm>
          <a:prstGeom prst="rect">
            <a:avLst/>
          </a:prstGeom>
          <a:solidFill>
            <a:srgbClr val="EAF2F5"/>
          </a:solidFill>
          <a:ln w="9525">
            <a:solidFill>
              <a:srgbClr val="D4DEE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Training</a:t>
            </a:r>
          </a:p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indices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81FE97-AF80-4305-A7FA-0C5D85D66D8D}"/>
              </a:ext>
            </a:extLst>
          </p:cNvPr>
          <p:cNvSpPr>
            <a:spLocks noGrp="1"/>
          </p:cNvSpPr>
          <p:nvPr/>
        </p:nvSpPr>
        <p:spPr>
          <a:xfrm>
            <a:off x="3381375" y="1905000"/>
            <a:ext cx="2286000" cy="1047750"/>
          </a:xfrm>
          <a:prstGeom prst="rect">
            <a:avLst/>
          </a:prstGeom>
          <a:solidFill>
            <a:srgbClr val="EAF2F5"/>
          </a:solidFill>
          <a:ln w="9525">
            <a:solidFill>
              <a:srgbClr val="D4DEE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Random</a:t>
            </a:r>
          </a:p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horizontal flip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FE634E-1461-4AAC-A20F-28BC089E1A3A}"/>
              </a:ext>
            </a:extLst>
          </p:cNvPr>
          <p:cNvSpPr>
            <a:spLocks noGrp="1"/>
          </p:cNvSpPr>
          <p:nvPr/>
        </p:nvSpPr>
        <p:spPr>
          <a:xfrm>
            <a:off x="6096000" y="1905000"/>
            <a:ext cx="2286000" cy="1047750"/>
          </a:xfrm>
          <a:prstGeom prst="rect">
            <a:avLst/>
          </a:prstGeom>
          <a:solidFill>
            <a:srgbClr val="EAF2F5"/>
          </a:solidFill>
          <a:ln w="9525">
            <a:solidFill>
              <a:srgbClr val="D4DEE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Tensor</a:t>
            </a:r>
          </a:p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[0,1]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BB7DB9-EE1C-414E-AD92-B82D431DA71E}"/>
              </a:ext>
            </a:extLst>
          </p:cNvPr>
          <p:cNvSpPr>
            <a:spLocks noGrp="1"/>
          </p:cNvSpPr>
          <p:nvPr/>
        </p:nvSpPr>
        <p:spPr>
          <a:xfrm>
            <a:off x="8810625" y="1905000"/>
            <a:ext cx="2286000" cy="1047750"/>
          </a:xfrm>
          <a:prstGeom prst="rect">
            <a:avLst/>
          </a:prstGeom>
          <a:solidFill>
            <a:srgbClr val="EAF2F5"/>
          </a:solidFill>
          <a:ln w="9525">
            <a:solidFill>
              <a:srgbClr val="D4DEE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Scale</a:t>
            </a:r>
          </a:p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[−1,1]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74ACBE-E823-4ABB-AB01-4E13EF1A3F00}"/>
              </a:ext>
            </a:extLst>
          </p:cNvPr>
          <p:cNvSpPr>
            <a:spLocks noGrp="1"/>
          </p:cNvSpPr>
          <p:nvPr/>
        </p:nvSpPr>
        <p:spPr>
          <a:xfrm>
            <a:off x="6191250" y="4143375"/>
            <a:ext cx="3714750" cy="1047750"/>
          </a:xfrm>
          <a:prstGeom prst="rect">
            <a:avLst/>
          </a:prstGeom>
          <a:solidFill>
            <a:srgbClr val="EAF2F5"/>
          </a:solidFill>
          <a:ln w="9525">
            <a:solidFill>
              <a:srgbClr val="D4DEE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Shuffle and batch</a:t>
            </a:r>
          </a:p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128 × 3 × 32 × 32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025BDE-8B6D-453F-B198-FF0C47552D1C}"/>
              </a:ext>
            </a:extLst>
          </p:cNvPr>
          <p:cNvSpPr>
            <a:spLocks noGrp="1"/>
          </p:cNvSpPr>
          <p:nvPr/>
        </p:nvSpPr>
        <p:spPr>
          <a:xfrm>
            <a:off x="666750" y="4048125"/>
            <a:ext cx="4572000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Reference path</a:t>
            </a:r>
          </a:p>
          <a:p>
            <a: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Uses the plain view without random flips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5C0ABE-AB59-469B-8ACD-65959515DCF1}"/>
              </a:ext>
            </a:extLst>
          </p:cNvPr>
          <p:cNvSpPr>
            <a:spLocks noGrp="1"/>
          </p:cNvSpPr>
          <p:nvPr/>
        </p:nvSpPr>
        <p:spPr>
          <a:xfrm>
            <a:off x="666750" y="579120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Clean image tensors become inputs to the synthetic noising task</a:t>
            </a:r>
          </a:p>
        </p:txBody>
      </p:sp>
    </p:spTree>
    <p:extLst>
      <p:ext uri="{BB962C8B-B14F-4D97-AF65-F5344CB8AC3E}">
        <p14:creationId xmlns:p14="http://schemas.microsoft.com/office/powerpoint/2010/main" val="1063537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030B7D0-11B1-48E4-864D-93339DF20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The noise schedule controls signal removal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C773B8-942F-45BB-A2B4-5EDE20A254B9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856427-3412-408D-B2B5-A7C703EC92B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DDPM_CIFAR10_Mac_Local.ipynb, cells 17 and 20. Curves recalculated from code. Background: https://arxiv.org/abs/2006.11239</a:t>
            </a:r>
          </a:p>
        </p:txBody>
      </p: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CF6E9344-CF8A-4C7A-88C9-EC51CE8B5E2A}"/>
              </a:ext>
            </a:extLst>
          </p:cNvPr>
          <p:cNvGraphicFramePr/>
          <p:nvPr/>
        </p:nvGraphicFramePr>
        <p:xfrm>
          <a:off x="666750" y="1571625"/>
          <a:ext cx="790575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C6932A0-DA09-4DAB-A985-BC9227F5C0C1}"/>
              </a:ext>
            </a:extLst>
          </p:cNvPr>
          <p:cNvSpPr>
            <a:spLocks noGrp="1"/>
          </p:cNvSpPr>
          <p:nvPr/>
        </p:nvSpPr>
        <p:spPr>
          <a:xfrm>
            <a:off x="9144000" y="2000250"/>
            <a:ext cx="2476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4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1,000 timesteps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67BB89-F0B1-40B5-843C-A1FD9D971A93}"/>
              </a:ext>
            </a:extLst>
          </p:cNvPr>
          <p:cNvSpPr>
            <a:spLocks noGrp="1"/>
          </p:cNvSpPr>
          <p:nvPr/>
        </p:nvSpPr>
        <p:spPr>
          <a:xfrm>
            <a:off x="9144000" y="3000375"/>
            <a:ext cx="247650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Cosine is the saved run’s schedule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01041A-FFF0-4987-925C-3F7F11BBD469}"/>
              </a:ext>
            </a:extLst>
          </p:cNvPr>
          <p:cNvSpPr>
            <a:spLocks noGrp="1"/>
          </p:cNvSpPr>
          <p:nvPr/>
        </p:nvSpPr>
        <p:spPr>
          <a:xfrm>
            <a:off x="9144000" y="4524375"/>
            <a:ext cx="24765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8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Curve behaviour is known. Quality gains need an ablation.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AC788F-6C8B-448C-9BAA-9198F2E1D663}"/>
              </a:ext>
            </a:extLst>
          </p:cNvPr>
          <p:cNvSpPr>
            <a:spLocks noGrp="1"/>
          </p:cNvSpPr>
          <p:nvPr/>
        </p:nvSpPr>
        <p:spPr>
          <a:xfrm>
            <a:off x="666750" y="579120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At high t, the noised image contains almost no clean-image signal</a:t>
            </a:r>
          </a:p>
        </p:txBody>
      </p:sp>
    </p:spTree>
    <p:extLst>
      <p:ext uri="{BB962C8B-B14F-4D97-AF65-F5344CB8AC3E}">
        <p14:creationId xmlns:p14="http://schemas.microsoft.com/office/powerpoint/2010/main" val="979400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64A23A9-2BC9-4456-BA8F-52C918F08A81}"/>
              </a:ext>
            </a:extLst>
          </p:cNvPr>
          <p:cNvCxnSpPr>
            <a:stCxn id="9" idx="3"/>
            <a:endCxn id="6" idx="2"/>
          </p:cNvCxnSpPr>
          <p:nvPr/>
        </p:nvCxnSpPr>
        <p:spPr>
          <a:xfrm flipV="1">
            <a:off x="7667625" y="2857500"/>
            <a:ext cx="2619375" cy="1595438"/>
          </a:xfrm>
          <a:prstGeom prst="straightConnector1">
            <a:avLst/>
          </a:prstGeom>
          <a:ln w="19050">
            <a:solidFill>
              <a:srgbClr val="007F82"/>
            </a:solidFill>
            <a:prstDash val="solid"/>
            <a:tailEnd type="triangle" w="med" len="med"/>
          </a:ln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8AF400C-2680-4FEA-9EC6-5AB6D056BFB3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7667625" y="2381250"/>
            <a:ext cx="1381125" cy="0"/>
          </a:xfrm>
          <a:prstGeom prst="straightConnector1">
            <a:avLst/>
          </a:prstGeom>
          <a:ln w="19050">
            <a:solidFill>
              <a:srgbClr val="007F82"/>
            </a:solidFill>
            <a:prstDash val="solid"/>
            <a:tailEnd type="triangle" w="med" len="med"/>
          </a:ln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1715087-72C8-4143-884E-E4AB1DD9076E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143250" y="2381250"/>
            <a:ext cx="1381125" cy="0"/>
          </a:xfrm>
          <a:prstGeom prst="straightConnector1">
            <a:avLst/>
          </a:prstGeom>
          <a:ln w="19050">
            <a:solidFill>
              <a:srgbClr val="007F82"/>
            </a:solidFill>
            <a:prstDash val="solid"/>
            <a:tailEnd type="triangle" w="med" len="med"/>
          </a:ln>
        </p:spPr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E69E3B6-85E5-417E-ACE1-A5DBDEFB9D6F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Training inputs and the noise target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69AFA5-6725-44C4-A39B-3E4476C40544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F58FE4-00C3-4A2D-9E6F-01FE74C825E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DDPM_CIFAR10_Mac_Local.ipynb, cells 20, 23, 32 and 36. DDPM background: https://arxiv.org/abs/2006.11239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3CBF62-AA52-493F-85C5-277FD1B4787E}"/>
              </a:ext>
            </a:extLst>
          </p:cNvPr>
          <p:cNvSpPr>
            <a:spLocks noGrp="1"/>
          </p:cNvSpPr>
          <p:nvPr/>
        </p:nvSpPr>
        <p:spPr>
          <a:xfrm>
            <a:off x="666750" y="1905000"/>
            <a:ext cx="2476500" cy="952500"/>
          </a:xfrm>
          <a:prstGeom prst="rect">
            <a:avLst/>
          </a:prstGeom>
          <a:solidFill>
            <a:srgbClr val="EAF2F5"/>
          </a:solidFill>
          <a:ln w="9525">
            <a:solidFill>
              <a:srgbClr val="D4DEE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Clean image x₀</a:t>
            </a:r>
          </a:p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3 × 32 × 32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281BBB-0E0A-496A-BFDB-F0EC3690BD20}"/>
              </a:ext>
            </a:extLst>
          </p:cNvPr>
          <p:cNvSpPr>
            <a:spLocks noGrp="1"/>
          </p:cNvSpPr>
          <p:nvPr/>
        </p:nvSpPr>
        <p:spPr>
          <a:xfrm>
            <a:off x="4524375" y="1905000"/>
            <a:ext cx="3143250" cy="952500"/>
          </a:xfrm>
          <a:prstGeom prst="rect">
            <a:avLst/>
          </a:prstGeom>
          <a:solidFill>
            <a:srgbClr val="EAF2F5"/>
          </a:solidFill>
          <a:ln w="9525">
            <a:solidFill>
              <a:srgbClr val="D4DEE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Forward mixture xₜ</a:t>
            </a:r>
          </a:p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image + Gaussian noise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E4E810-13FE-48C0-97B4-0DA830A9B747}"/>
              </a:ext>
            </a:extLst>
          </p:cNvPr>
          <p:cNvSpPr>
            <a:spLocks noGrp="1"/>
          </p:cNvSpPr>
          <p:nvPr/>
        </p:nvSpPr>
        <p:spPr>
          <a:xfrm>
            <a:off x="9048750" y="1905000"/>
            <a:ext cx="2476500" cy="952500"/>
          </a:xfrm>
          <a:prstGeom prst="rect">
            <a:avLst/>
          </a:prstGeom>
          <a:solidFill>
            <a:srgbClr val="EAF2F5"/>
          </a:solidFill>
          <a:ln w="9525">
            <a:solidFill>
              <a:srgbClr val="D4DEE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U-Net</a:t>
            </a:r>
          </a:p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noise estimate ε̂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C2C151-A6CC-43F2-A3CE-99C1AA524E47}"/>
              </a:ext>
            </a:extLst>
          </p:cNvPr>
          <p:cNvSpPr>
            <a:spLocks noGrp="1"/>
          </p:cNvSpPr>
          <p:nvPr/>
        </p:nvSpPr>
        <p:spPr>
          <a:xfrm>
            <a:off x="4524375" y="3952875"/>
            <a:ext cx="3143250" cy="1000125"/>
          </a:xfrm>
          <a:prstGeom prst="rect">
            <a:avLst/>
          </a:prstGeom>
          <a:solidFill>
            <a:srgbClr val="EAF2F5"/>
          </a:solidFill>
          <a:ln w="9525">
            <a:solidFill>
              <a:srgbClr val="D4DEE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Random timestep t</a:t>
            </a:r>
          </a:p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sinusoidal embedding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823577-1F29-4826-A52B-B7B18A40B208}"/>
              </a:ext>
            </a:extLst>
          </p:cNvPr>
          <p:cNvSpPr>
            <a:spLocks noGrp="1"/>
          </p:cNvSpPr>
          <p:nvPr/>
        </p:nvSpPr>
        <p:spPr>
          <a:xfrm>
            <a:off x="666750" y="5286375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Known noise ε is the training target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370105-7A7A-48BC-83F3-9CE438E20C69}"/>
              </a:ext>
            </a:extLst>
          </p:cNvPr>
          <p:cNvSpPr>
            <a:spLocks noGrp="1"/>
          </p:cNvSpPr>
          <p:nvPr/>
        </p:nvSpPr>
        <p:spPr>
          <a:xfrm>
            <a:off x="666750" y="579120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Loss = mean squared error between the known noise and the predicted noise</a:t>
            </a:r>
          </a:p>
        </p:txBody>
      </p:sp>
    </p:spTree>
    <p:extLst>
      <p:ext uri="{BB962C8B-B14F-4D97-AF65-F5344CB8AC3E}">
        <p14:creationId xmlns:p14="http://schemas.microsoft.com/office/powerpoint/2010/main" val="1422854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9C6F0E9-AB2A-40A3-A845-F6E9F5E3AE4D}"/>
              </a:ext>
            </a:extLst>
          </p:cNvPr>
          <p:cNvCxnSpPr>
            <a:stCxn id="5" idx="2"/>
            <a:endCxn id="12" idx="0"/>
          </p:cNvCxnSpPr>
          <p:nvPr/>
        </p:nvCxnSpPr>
        <p:spPr>
          <a:xfrm>
            <a:off x="4333875" y="2619375"/>
            <a:ext cx="0" cy="1524000"/>
          </a:xfrm>
          <a:prstGeom prst="straightConnector1">
            <a:avLst/>
          </a:prstGeom>
          <a:ln w="19050">
            <a:solidFill>
              <a:srgbClr val="007F82"/>
            </a:solidFill>
            <a:prstDash val="solid"/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FC866C7-79F0-4C8B-B52A-46997B9B771A}"/>
              </a:ext>
            </a:extLst>
          </p:cNvPr>
          <p:cNvCxnSpPr>
            <a:stCxn id="12" idx="1"/>
            <a:endCxn id="11" idx="3"/>
          </p:cNvCxnSpPr>
          <p:nvPr/>
        </p:nvCxnSpPr>
        <p:spPr>
          <a:xfrm flipH="1">
            <a:off x="2667000" y="4572000"/>
            <a:ext cx="666750" cy="0"/>
          </a:xfrm>
          <a:prstGeom prst="straightConnector1">
            <a:avLst/>
          </a:prstGeom>
          <a:ln w="19050">
            <a:solidFill>
              <a:srgbClr val="007F82"/>
            </a:solidFill>
            <a:prstDash val="solid"/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A562079-082A-4460-B9B1-7CDFEAEEDADF}"/>
              </a:ext>
            </a:extLst>
          </p:cNvPr>
          <p:cNvCxnSpPr>
            <a:stCxn id="13" idx="1"/>
            <a:endCxn id="12" idx="3"/>
          </p:cNvCxnSpPr>
          <p:nvPr/>
        </p:nvCxnSpPr>
        <p:spPr>
          <a:xfrm flipH="1">
            <a:off x="5334000" y="4572000"/>
            <a:ext cx="666750" cy="0"/>
          </a:xfrm>
          <a:prstGeom prst="straightConnector1">
            <a:avLst/>
          </a:prstGeom>
          <a:ln w="19050">
            <a:solidFill>
              <a:srgbClr val="007F82"/>
            </a:solidFill>
            <a:prstDash val="solid"/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9BF77BB-FBB3-4691-923A-60DE7F9B14D9}"/>
              </a:ext>
            </a:extLst>
          </p:cNvPr>
          <p:cNvCxnSpPr>
            <a:stCxn id="7" idx="2"/>
            <a:endCxn id="13" idx="3"/>
          </p:cNvCxnSpPr>
          <p:nvPr/>
        </p:nvCxnSpPr>
        <p:spPr>
          <a:xfrm flipH="1">
            <a:off x="8001000" y="2619375"/>
            <a:ext cx="1666875" cy="1952625"/>
          </a:xfrm>
          <a:prstGeom prst="straightConnector1">
            <a:avLst/>
          </a:prstGeom>
          <a:ln w="19050">
            <a:solidFill>
              <a:srgbClr val="007F82"/>
            </a:solidFill>
            <a:prstDash val="solid"/>
            <a:tailEnd type="triangle" w="med" len="med"/>
          </a:ln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F1818FF-CAA5-4728-8DE9-02C6EE8BFD78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8001000" y="2190750"/>
            <a:ext cx="666750" cy="0"/>
          </a:xfrm>
          <a:prstGeom prst="straightConnector1">
            <a:avLst/>
          </a:prstGeom>
          <a:ln w="19050">
            <a:solidFill>
              <a:srgbClr val="007F82"/>
            </a:solidFill>
            <a:prstDash val="solid"/>
            <a:tailEnd type="triangle" w="med" len="med"/>
          </a:ln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3D8D3AB-FE8F-458C-95E9-5BCC8F347453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334000" y="2190750"/>
            <a:ext cx="666750" cy="0"/>
          </a:xfrm>
          <a:prstGeom prst="straightConnector1">
            <a:avLst/>
          </a:prstGeom>
          <a:ln w="19050">
            <a:solidFill>
              <a:srgbClr val="007F82"/>
            </a:solidFill>
            <a:prstDash val="solid"/>
            <a:tailEnd type="triangle" w="med" len="med"/>
          </a:ln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639991D-5E91-4681-826A-507824C1D60B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667000" y="2190750"/>
            <a:ext cx="666750" cy="0"/>
          </a:xfrm>
          <a:prstGeom prst="straightConnector1">
            <a:avLst/>
          </a:prstGeom>
          <a:ln w="19050">
            <a:solidFill>
              <a:srgbClr val="007F82"/>
            </a:solidFill>
            <a:prstDash val="solid"/>
            <a:tailEnd type="triangle" w="med" len="med"/>
          </a:ln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2F256336-32C8-4F65-818C-7CFEF3FF303D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Time-conditioned U-Net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7DE11E-6F45-4463-BDE2-891452916C33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49E00F-380A-4826-826B-C6C249E22FC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DDPM_CIFAR10_Mac_Local.ipynb, cells 26–32. Checkpoint state dictionaries determine channel widths and parameter counts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1C5D1C-0907-44C6-A074-A55D4016573F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2000250" cy="857250"/>
          </a:xfrm>
          <a:prstGeom prst="rect">
            <a:avLst/>
          </a:prstGeom>
          <a:solidFill>
            <a:srgbClr val="EAF2F5"/>
          </a:solidFill>
          <a:ln w="9525">
            <a:solidFill>
              <a:srgbClr val="D4DEE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32 × 32</a:t>
            </a:r>
          </a:p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Encoder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B8FE5A-83EB-463A-88D5-686C8E11EF3D}"/>
              </a:ext>
            </a:extLst>
          </p:cNvPr>
          <p:cNvSpPr>
            <a:spLocks noGrp="1"/>
          </p:cNvSpPr>
          <p:nvPr/>
        </p:nvSpPr>
        <p:spPr>
          <a:xfrm>
            <a:off x="3333750" y="1762125"/>
            <a:ext cx="2000250" cy="857250"/>
          </a:xfrm>
          <a:prstGeom prst="rect">
            <a:avLst/>
          </a:prstGeom>
          <a:solidFill>
            <a:srgbClr val="EAF2F5"/>
          </a:solidFill>
          <a:ln w="9525">
            <a:solidFill>
              <a:srgbClr val="D4DEE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16 × 16</a:t>
            </a:r>
          </a:p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+ attention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F8AAC7-73B1-4AB7-A9AF-C613F1AF0C42}"/>
              </a:ext>
            </a:extLst>
          </p:cNvPr>
          <p:cNvSpPr>
            <a:spLocks noGrp="1"/>
          </p:cNvSpPr>
          <p:nvPr/>
        </p:nvSpPr>
        <p:spPr>
          <a:xfrm>
            <a:off x="6000750" y="1762125"/>
            <a:ext cx="2000250" cy="857250"/>
          </a:xfrm>
          <a:prstGeom prst="rect">
            <a:avLst/>
          </a:prstGeom>
          <a:solidFill>
            <a:srgbClr val="EAF2F5"/>
          </a:solidFill>
          <a:ln w="9525">
            <a:solidFill>
              <a:srgbClr val="D4DEE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8 × 8</a:t>
            </a:r>
          </a:p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+ attention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807C5C-70A8-4EC8-A86F-17B9E0589153}"/>
              </a:ext>
            </a:extLst>
          </p:cNvPr>
          <p:cNvSpPr>
            <a:spLocks noGrp="1"/>
          </p:cNvSpPr>
          <p:nvPr/>
        </p:nvSpPr>
        <p:spPr>
          <a:xfrm>
            <a:off x="8667750" y="1762125"/>
            <a:ext cx="2000250" cy="857250"/>
          </a:xfrm>
          <a:prstGeom prst="rect">
            <a:avLst/>
          </a:prstGeom>
          <a:solidFill>
            <a:srgbClr val="EAF2F5"/>
          </a:solidFill>
          <a:ln w="9525">
            <a:solidFill>
              <a:srgbClr val="D4DEE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4 × 4</a:t>
            </a:r>
          </a:p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Bottleneck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88CAB0-71DE-4134-AF26-B4B4FDB28598}"/>
              </a:ext>
            </a:extLst>
          </p:cNvPr>
          <p:cNvSpPr>
            <a:spLocks noGrp="1"/>
          </p:cNvSpPr>
          <p:nvPr/>
        </p:nvSpPr>
        <p:spPr>
          <a:xfrm>
            <a:off x="666750" y="4143375"/>
            <a:ext cx="2000250" cy="857250"/>
          </a:xfrm>
          <a:prstGeom prst="rect">
            <a:avLst/>
          </a:prstGeom>
          <a:solidFill>
            <a:srgbClr val="EAF2F5"/>
          </a:solidFill>
          <a:ln w="9525">
            <a:solidFill>
              <a:srgbClr val="D4DEE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32 × 32</a:t>
            </a:r>
          </a:p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Noise output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ECB3A1-A250-4AA8-B3DF-8D431841C41B}"/>
              </a:ext>
            </a:extLst>
          </p:cNvPr>
          <p:cNvSpPr>
            <a:spLocks noGrp="1"/>
          </p:cNvSpPr>
          <p:nvPr/>
        </p:nvSpPr>
        <p:spPr>
          <a:xfrm>
            <a:off x="3333750" y="4143375"/>
            <a:ext cx="2000250" cy="857250"/>
          </a:xfrm>
          <a:prstGeom prst="rect">
            <a:avLst/>
          </a:prstGeom>
          <a:solidFill>
            <a:srgbClr val="EAF2F5"/>
          </a:solidFill>
          <a:ln w="9525">
            <a:solidFill>
              <a:srgbClr val="D4DEE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16 × 16</a:t>
            </a:r>
          </a:p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Decoder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F79B80-E891-4631-BE16-FC638500B92E}"/>
              </a:ext>
            </a:extLst>
          </p:cNvPr>
          <p:cNvSpPr>
            <a:spLocks noGrp="1"/>
          </p:cNvSpPr>
          <p:nvPr/>
        </p:nvSpPr>
        <p:spPr>
          <a:xfrm>
            <a:off x="6000750" y="4143375"/>
            <a:ext cx="2000250" cy="857250"/>
          </a:xfrm>
          <a:prstGeom prst="rect">
            <a:avLst/>
          </a:prstGeom>
          <a:solidFill>
            <a:srgbClr val="EAF2F5"/>
          </a:solidFill>
          <a:ln w="9525">
            <a:solidFill>
              <a:srgbClr val="D4DEE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8 × 8</a:t>
            </a:r>
          </a:p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Decoder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EB2041-563D-4971-8D50-F38A7DA6FA4D}"/>
              </a:ext>
            </a:extLst>
          </p:cNvPr>
          <p:cNvSpPr>
            <a:spLocks noGrp="1"/>
          </p:cNvSpPr>
          <p:nvPr/>
        </p:nvSpPr>
        <p:spPr>
          <a:xfrm>
            <a:off x="4667250" y="3095625"/>
            <a:ext cx="3238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Representative skip</a:t>
            </a:r>
          </a:p>
          <a:p>
            <a: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concatenation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AD7D5C-A554-44B2-86D6-5D917D9329A0}"/>
              </a:ext>
            </a:extLst>
          </p:cNvPr>
          <p:cNvSpPr>
            <a:spLocks noGrp="1"/>
          </p:cNvSpPr>
          <p:nvPr/>
        </p:nvSpPr>
        <p:spPr>
          <a:xfrm>
            <a:off x="666750" y="5381625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9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Time embeddings enter residual blocks</a:t>
            </a:r>
          </a:p>
        </p:txBody>
      </p:sp>
    </p:spTree>
    <p:extLst>
      <p:ext uri="{BB962C8B-B14F-4D97-AF65-F5344CB8AC3E}">
        <p14:creationId xmlns:p14="http://schemas.microsoft.com/office/powerpoint/2010/main" val="766178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1A3C453-CE0A-4D49-B6C3-52272CB0177F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Saved configuration and reproducibility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34C494-B7DB-42E7-A516-C96844809C41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6BEC96-3586-41FC-9B46-F8ACEAD11AA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DDPM_CIFAR10_Mac_Local.ipynb, cells 4, 36 and 42. Main final/last and sanity checkpoint metadata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C997EC-0A14-48F1-B8B8-6C24A02197FA}"/>
              </a:ext>
            </a:extLst>
          </p:cNvPr>
          <p:cNvGraphicFramePr/>
          <p:nvPr/>
        </p:nvGraphicFramePr>
        <p:xfrm>
          <a:off x="666750" y="1619250"/>
          <a:ext cx="10858500" cy="352425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Setting</a:t>
                      </a:r>
                    </a:p>
                  </a:txBody>
                  <a:tcPr anchor="ctr">
                    <a:lnL w="9525">
                      <a:solidFill>
                        <a:srgbClr val="D4DEE8"/>
                      </a:solidFill>
                      <a:prstDash val="soli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>
                      <a:solidFill>
                        <a:srgbClr val="D4DEE8"/>
                      </a:solidFill>
                      <a:prstDash val="soli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 notebook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>
                      <a:solidFill>
                        <a:srgbClr val="D4DEE8"/>
                      </a:solidFill>
                      <a:prstDash val="soli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Saved evidence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>
                      <a:solidFill>
                        <a:srgbClr val="D4DEE8"/>
                      </a:solidFill>
                      <a:prstDash val="soli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14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Base channels</a:t>
                      </a:r>
                    </a:p>
                  </a:txBody>
                  <a:tcPr anchor="ctr">
                    <a:lnL w="9525">
                      <a:solidFill>
                        <a:srgbClr val="D4DEE8"/>
                      </a:solidFill>
                      <a:prstDash val="soli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Main 32, sanity test 64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Parameter count</a:t>
                      </a:r>
                    </a:p>
                  </a:txBody>
                  <a:tcPr anchor="ctr">
                    <a:lnL w="9525">
                      <a:solidFill>
                        <a:srgbClr val="D4DEE8"/>
                      </a:solidFill>
                      <a:prstDash val="soli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Depends on BASE_CH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Main 2.33M, sanity test 9.28M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extent</a:t>
                      </a:r>
                    </a:p>
                  </a:txBody>
                  <a:tcPr anchor="ctr">
                    <a:lnL w="9525">
                      <a:solidFill>
                        <a:srgbClr val="D4DEE8"/>
                      </a:solidFill>
                      <a:prstDash val="soli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1,000-epoch cap, 75-min budget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Main 18 epochs and 6,678 steps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Optimizer and learning rate</a:t>
                      </a:r>
                    </a:p>
                  </a:txBody>
                  <a:tcPr anchor="ctr">
                    <a:lnL w="9525">
                      <a:solidFill>
                        <a:srgbClr val="D4DEE8"/>
                      </a:solidFill>
                      <a:prstDash val="soli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Adam, 0.0002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Resume optimizer state exists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Device and elapsed time</a:t>
                      </a:r>
                    </a:p>
                  </a:txBody>
                  <a:tcPr anchor="ctr">
                    <a:lnL w="9525">
                      <a:solidFill>
                        <a:srgbClr val="D4DEE8"/>
                      </a:solidFill>
                      <a:prstDash val="soli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CUDA, then MPS, then CPU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Historical device/time not logged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A78B061-157A-4D59-A441-6A20A2477F8E}"/>
              </a:ext>
            </a:extLst>
          </p:cNvPr>
          <p:cNvSpPr>
            <a:spLocks noGrp="1"/>
          </p:cNvSpPr>
          <p:nvPr/>
        </p:nvSpPr>
        <p:spPr>
          <a:xfrm>
            <a:off x="666750" y="579120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A65F1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A65F1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A65F1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A65F1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A65F1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A65F1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A65F1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A65F1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A65F1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A65F13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875" b="1">
                <a:solidFill>
                  <a:srgbClr val="A65F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A65F13"/>
                </a:solidFill>
                <a:latin typeface="Helvetica Neue"/>
                <a:ea typeface="Helvetica Neue"/>
                <a:cs typeface="Helvetica Neue"/>
              </a:rPr>
              <a:t>The loader needs BASE_CH = 32 for the saved main model</a:t>
            </a:r>
          </a:p>
        </p:txBody>
      </p:sp>
    </p:spTree>
    <p:extLst>
      <p:ext uri="{BB962C8B-B14F-4D97-AF65-F5344CB8AC3E}">
        <p14:creationId xmlns:p14="http://schemas.microsoft.com/office/powerpoint/2010/main" val="594212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9C8B206-1993-4165-BBA2-3910FE1F795E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9715500" y="2357438"/>
            <a:ext cx="238125" cy="0"/>
          </a:xfrm>
          <a:prstGeom prst="straightConnector1">
            <a:avLst/>
          </a:prstGeom>
          <a:ln w="19050">
            <a:solidFill>
              <a:srgbClr val="007F82"/>
            </a:solidFill>
            <a:prstDash val="solid"/>
            <a:tailEnd type="triangle" w="med" len="med"/>
          </a:ln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D2FAE02-E341-4B92-91D7-F90D2B1F8E6E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381875" y="2357438"/>
            <a:ext cx="238125" cy="0"/>
          </a:xfrm>
          <a:prstGeom prst="straightConnector1">
            <a:avLst/>
          </a:prstGeom>
          <a:ln w="19050">
            <a:solidFill>
              <a:srgbClr val="007F82"/>
            </a:solidFill>
            <a:prstDash val="solid"/>
            <a:tailEnd type="triangle" w="med" len="med"/>
          </a:ln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53627D0-07E5-4484-80A8-FDA1E5C4C241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048250" y="2357438"/>
            <a:ext cx="238125" cy="0"/>
          </a:xfrm>
          <a:prstGeom prst="straightConnector1">
            <a:avLst/>
          </a:prstGeom>
          <a:ln w="19050">
            <a:solidFill>
              <a:srgbClr val="007F82"/>
            </a:solidFill>
            <a:prstDash val="solid"/>
            <a:tailEnd type="triangle" w="med" len="med"/>
          </a:ln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194A501-6D01-47E3-95CD-FE03833A06F4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714625" y="2357438"/>
            <a:ext cx="238125" cy="0"/>
          </a:xfrm>
          <a:prstGeom prst="straightConnector1">
            <a:avLst/>
          </a:prstGeom>
          <a:ln w="19050">
            <a:solidFill>
              <a:srgbClr val="007F82"/>
            </a:solidFill>
            <a:prstDash val="solid"/>
            <a:tailEnd type="triangle" w="med" len="med"/>
          </a:ln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0082510B-BE36-4B52-8A44-D1E9DBE4576A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Training loop and numerical safeguards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38EC0A-9D56-41DF-8617-F7F3BDF1FB31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7A603D-9315-4B27-B096-910239D7663D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DDPM_CIFAR10_Mac_Local.ipynb, cells 35–36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205401-0754-496E-8E31-90E32B9C69C3}"/>
              </a:ext>
            </a:extLst>
          </p:cNvPr>
          <p:cNvSpPr>
            <a:spLocks noGrp="1"/>
          </p:cNvSpPr>
          <p:nvPr/>
        </p:nvSpPr>
        <p:spPr>
          <a:xfrm>
            <a:off x="619125" y="1857375"/>
            <a:ext cx="2095500" cy="1000125"/>
          </a:xfrm>
          <a:prstGeom prst="rect">
            <a:avLst/>
          </a:prstGeom>
          <a:solidFill>
            <a:srgbClr val="EAF2F5"/>
          </a:solidFill>
          <a:ln w="9525">
            <a:solidFill>
              <a:srgbClr val="D4DEE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Sample t</a:t>
            </a:r>
          </a:p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and noise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E336D7-59FC-43BB-9666-911560480D15}"/>
              </a:ext>
            </a:extLst>
          </p:cNvPr>
          <p:cNvSpPr>
            <a:spLocks noGrp="1"/>
          </p:cNvSpPr>
          <p:nvPr/>
        </p:nvSpPr>
        <p:spPr>
          <a:xfrm>
            <a:off x="2952750" y="1857375"/>
            <a:ext cx="2095500" cy="1000125"/>
          </a:xfrm>
          <a:prstGeom prst="rect">
            <a:avLst/>
          </a:prstGeom>
          <a:solidFill>
            <a:srgbClr val="EAF2F5"/>
          </a:solidFill>
          <a:ln w="9525">
            <a:solidFill>
              <a:srgbClr val="D4DEE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Construct xₜ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0AD4C9-68CE-42E1-814A-D779612FF301}"/>
              </a:ext>
            </a:extLst>
          </p:cNvPr>
          <p:cNvSpPr>
            <a:spLocks noGrp="1"/>
          </p:cNvSpPr>
          <p:nvPr/>
        </p:nvSpPr>
        <p:spPr>
          <a:xfrm>
            <a:off x="5286375" y="1857375"/>
            <a:ext cx="2095500" cy="1000125"/>
          </a:xfrm>
          <a:prstGeom prst="rect">
            <a:avLst/>
          </a:prstGeom>
          <a:solidFill>
            <a:srgbClr val="EAF2F5"/>
          </a:solidFill>
          <a:ln w="9525">
            <a:solidFill>
              <a:srgbClr val="D4DEE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Predict noise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3969EC-29F3-43C3-AA8B-BC3FBBE179E0}"/>
              </a:ext>
            </a:extLst>
          </p:cNvPr>
          <p:cNvSpPr>
            <a:spLocks noGrp="1"/>
          </p:cNvSpPr>
          <p:nvPr/>
        </p:nvSpPr>
        <p:spPr>
          <a:xfrm>
            <a:off x="7620000" y="1857375"/>
            <a:ext cx="2095500" cy="1000125"/>
          </a:xfrm>
          <a:prstGeom prst="rect">
            <a:avLst/>
          </a:prstGeom>
          <a:solidFill>
            <a:srgbClr val="EAF2F5"/>
          </a:solidFill>
          <a:ln w="9525">
            <a:solidFill>
              <a:srgbClr val="D4DEE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MSE and</a:t>
            </a:r>
          </a:p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backpropagation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6D0597-8DBA-4AAE-B28C-8160A58656D7}"/>
              </a:ext>
            </a:extLst>
          </p:cNvPr>
          <p:cNvSpPr>
            <a:spLocks noGrp="1"/>
          </p:cNvSpPr>
          <p:nvPr/>
        </p:nvSpPr>
        <p:spPr>
          <a:xfrm>
            <a:off x="9953625" y="1857375"/>
            <a:ext cx="2095500" cy="1000125"/>
          </a:xfrm>
          <a:prstGeom prst="rect">
            <a:avLst/>
          </a:prstGeom>
          <a:solidFill>
            <a:srgbClr val="EAF2F5"/>
          </a:solidFill>
          <a:ln w="9525">
            <a:solidFill>
              <a:srgbClr val="D4DEE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Adam update</a:t>
            </a:r>
          </a:p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and EMA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96B3DD-CCD6-4919-9D0C-748D62107B87}"/>
              </a:ext>
            </a:extLst>
          </p:cNvPr>
          <p:cNvSpPr>
            <a:spLocks noGrp="1"/>
          </p:cNvSpPr>
          <p:nvPr/>
        </p:nvSpPr>
        <p:spPr>
          <a:xfrm>
            <a:off x="666750" y="3619500"/>
            <a:ext cx="2286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B700B6-F0F7-4847-88ED-80ECF336C55D}"/>
              </a:ext>
            </a:extLst>
          </p:cNvPr>
          <p:cNvSpPr>
            <a:spLocks noGrp="1"/>
          </p:cNvSpPr>
          <p:nvPr/>
        </p:nvSpPr>
        <p:spPr>
          <a:xfrm>
            <a:off x="1000125" y="3619500"/>
            <a:ext cx="10334625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200-step learning-rate warm-up and gradient-norm clipping at 1.0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44FFEF-577B-4710-A275-A04EB8697A29}"/>
              </a:ext>
            </a:extLst>
          </p:cNvPr>
          <p:cNvSpPr>
            <a:spLocks noGrp="1"/>
          </p:cNvSpPr>
          <p:nvPr/>
        </p:nvSpPr>
        <p:spPr>
          <a:xfrm>
            <a:off x="666750" y="4333875"/>
            <a:ext cx="2286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8C5134-0899-497D-89F4-45CFDC07FF98}"/>
              </a:ext>
            </a:extLst>
          </p:cNvPr>
          <p:cNvSpPr>
            <a:spLocks noGrp="1"/>
          </p:cNvSpPr>
          <p:nvPr/>
        </p:nvSpPr>
        <p:spPr>
          <a:xfrm>
            <a:off x="1000125" y="4333875"/>
            <a:ext cx="10334625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Non-finite loss checks, periodic checkpoints and resume state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E5D513-E087-4B1C-A1A7-215122F4ADB9}"/>
              </a:ext>
            </a:extLst>
          </p:cNvPr>
          <p:cNvSpPr>
            <a:spLocks noGrp="1"/>
          </p:cNvSpPr>
          <p:nvPr/>
        </p:nvSpPr>
        <p:spPr>
          <a:xfrm>
            <a:off x="666750" y="5048250"/>
            <a:ext cx="2286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09973A-2225-494A-B112-BB127548CB05}"/>
              </a:ext>
            </a:extLst>
          </p:cNvPr>
          <p:cNvSpPr>
            <a:spLocks noGrp="1"/>
          </p:cNvSpPr>
          <p:nvPr/>
        </p:nvSpPr>
        <p:spPr>
          <a:xfrm>
            <a:off x="1000125" y="5048250"/>
            <a:ext cx="10334625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EMA weights supply the saved DDIM-50 sample grids</a:t>
            </a:r>
          </a:p>
        </p:txBody>
      </p:sp>
    </p:spTree>
    <p:extLst>
      <p:ext uri="{BB962C8B-B14F-4D97-AF65-F5344CB8AC3E}">
        <p14:creationId xmlns:p14="http://schemas.microsoft.com/office/powerpoint/2010/main" val="407675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40AD540-1DF7-42C5-8F63-4DBBCAA280CC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The sanity test learned the noise task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4C929E-025D-400C-AA9A-947BE7A5A2D4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A46DF9-7DA8-436F-A905-FD5DE57F18DD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DDPM_CIFAR10_Mac_Local.ipynb, cell 39. diffusion_project/checkpoints/overfit_test_final.pt history</a:t>
            </a:r>
          </a:p>
        </p:txBody>
      </p: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3F744743-30A4-49AF-B8D0-008B82766FBB}"/>
              </a:ext>
            </a:extLst>
          </p:cNvPr>
          <p:cNvGraphicFramePr/>
          <p:nvPr/>
        </p:nvGraphicFramePr>
        <p:xfrm>
          <a:off x="666750" y="1571625"/>
          <a:ext cx="809625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360F87E-9779-404D-B886-706D7A8F56A7}"/>
              </a:ext>
            </a:extLst>
          </p:cNvPr>
          <p:cNvSpPr>
            <a:spLocks noGrp="1"/>
          </p:cNvSpPr>
          <p:nvPr/>
        </p:nvSpPr>
        <p:spPr>
          <a:xfrm>
            <a:off x="9144000" y="1714500"/>
            <a:ext cx="2381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5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5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64 images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36873A-E360-475A-91D6-4EBB0C7EE92E}"/>
              </a:ext>
            </a:extLst>
          </p:cNvPr>
          <p:cNvSpPr>
            <a:spLocks noGrp="1"/>
          </p:cNvSpPr>
          <p:nvPr/>
        </p:nvSpPr>
        <p:spPr>
          <a:xfrm>
            <a:off x="9144000" y="2476500"/>
            <a:ext cx="2381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5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5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300 epochs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7119A8-AE03-477D-9642-5281A67B833B}"/>
              </a:ext>
            </a:extLst>
          </p:cNvPr>
          <p:cNvSpPr>
            <a:spLocks noGrp="1"/>
          </p:cNvSpPr>
          <p:nvPr/>
        </p:nvSpPr>
        <p:spPr>
          <a:xfrm>
            <a:off x="9144000" y="3429000"/>
            <a:ext cx="2381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8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8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8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8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8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8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8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8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8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8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8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1.0895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8DB5B3-73A7-4EA2-BB32-0E26929C3C2B}"/>
              </a:ext>
            </a:extLst>
          </p:cNvPr>
          <p:cNvSpPr>
            <a:spLocks noGrp="1"/>
          </p:cNvSpPr>
          <p:nvPr/>
        </p:nvSpPr>
        <p:spPr>
          <a:xfrm>
            <a:off x="9144000" y="3952875"/>
            <a:ext cx="2381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first epoch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2007A1-2688-4435-8217-172E1710CEDA}"/>
              </a:ext>
            </a:extLst>
          </p:cNvPr>
          <p:cNvSpPr>
            <a:spLocks noGrp="1"/>
          </p:cNvSpPr>
          <p:nvPr/>
        </p:nvSpPr>
        <p:spPr>
          <a:xfrm>
            <a:off x="9144000" y="4572000"/>
            <a:ext cx="2381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8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8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8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8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8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8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8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8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8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8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8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0.0969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DD59DB-FE6A-42E0-93C7-2D05039E731B}"/>
              </a:ext>
            </a:extLst>
          </p:cNvPr>
          <p:cNvSpPr>
            <a:spLocks noGrp="1"/>
          </p:cNvSpPr>
          <p:nvPr/>
        </p:nvSpPr>
        <p:spPr>
          <a:xfrm>
            <a:off x="9144000" y="5095875"/>
            <a:ext cx="2381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final epoch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AD3E29-743F-4A0E-AC57-86C0DB7F58D7}"/>
              </a:ext>
            </a:extLst>
          </p:cNvPr>
          <p:cNvSpPr>
            <a:spLocks noGrp="1"/>
          </p:cNvSpPr>
          <p:nvPr/>
        </p:nvSpPr>
        <p:spPr>
          <a:xfrm>
            <a:off x="666750" y="579120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A strong debugging signal. Generalization and visual fidelity remain separate tests</a:t>
            </a:r>
          </a:p>
        </p:txBody>
      </p:sp>
    </p:spTree>
    <p:extLst>
      <p:ext uri="{BB962C8B-B14F-4D97-AF65-F5344CB8AC3E}">
        <p14:creationId xmlns:p14="http://schemas.microsoft.com/office/powerpoint/2010/main" val="1448136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6257EFD-74B0-4669-A554-FC05490B391C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The main run reduced noise-prediction loss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F705B7-4E6E-46A1-8A27-78644FCA34EB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8E2617-28DE-4517-9405-D03C4BB19CB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DDPM_CIFAR10_Mac_Local.ipynb, cell 42. cosine_attn_final.pt and cosine_attn_last.pt histories</a:t>
            </a:r>
          </a:p>
        </p:txBody>
      </p: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E5DF2D80-51E6-4E32-B028-10AFC16130FC}"/>
              </a:ext>
            </a:extLst>
          </p:cNvPr>
          <p:cNvGraphicFramePr/>
          <p:nvPr/>
        </p:nvGraphicFramePr>
        <p:xfrm>
          <a:off x="666750" y="1571625"/>
          <a:ext cx="809625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3F10E9DA-1AF7-4576-8447-9D903F0BB1CF}"/>
              </a:ext>
            </a:extLst>
          </p:cNvPr>
          <p:cNvSpPr>
            <a:spLocks noGrp="1"/>
          </p:cNvSpPr>
          <p:nvPr/>
        </p:nvSpPr>
        <p:spPr>
          <a:xfrm>
            <a:off x="9144000" y="1762125"/>
            <a:ext cx="2381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18 epochs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E633EE-DFFA-4675-BCC7-F76A909A2840}"/>
              </a:ext>
            </a:extLst>
          </p:cNvPr>
          <p:cNvSpPr>
            <a:spLocks noGrp="1"/>
          </p:cNvSpPr>
          <p:nvPr/>
        </p:nvSpPr>
        <p:spPr>
          <a:xfrm>
            <a:off x="9144000" y="2762250"/>
            <a:ext cx="2381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8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8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8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8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8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8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8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8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8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8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8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0.3554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57DC8E-803A-4384-8278-389D46359319}"/>
              </a:ext>
            </a:extLst>
          </p:cNvPr>
          <p:cNvSpPr>
            <a:spLocks noGrp="1"/>
          </p:cNvSpPr>
          <p:nvPr/>
        </p:nvSpPr>
        <p:spPr>
          <a:xfrm>
            <a:off x="9144000" y="3314700"/>
            <a:ext cx="2381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first epoch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2AA480-DB16-4C7A-8693-ED4FB9B052DE}"/>
              </a:ext>
            </a:extLst>
          </p:cNvPr>
          <p:cNvSpPr>
            <a:spLocks noGrp="1"/>
          </p:cNvSpPr>
          <p:nvPr/>
        </p:nvSpPr>
        <p:spPr>
          <a:xfrm>
            <a:off x="9144000" y="4048125"/>
            <a:ext cx="2381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8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8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8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8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8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8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8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8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8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8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8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0.0636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B2EBE3-F927-4228-B956-83F3A815FE40}"/>
              </a:ext>
            </a:extLst>
          </p:cNvPr>
          <p:cNvSpPr>
            <a:spLocks noGrp="1"/>
          </p:cNvSpPr>
          <p:nvPr/>
        </p:nvSpPr>
        <p:spPr>
          <a:xfrm>
            <a:off x="9144000" y="4619625"/>
            <a:ext cx="2381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final epoch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25696E-C898-4478-9472-9A31B8DB714F}"/>
              </a:ext>
            </a:extLst>
          </p:cNvPr>
          <p:cNvSpPr>
            <a:spLocks noGrp="1"/>
          </p:cNvSpPr>
          <p:nvPr/>
        </p:nvSpPr>
        <p:spPr>
          <a:xfrm>
            <a:off x="666750" y="579120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Training MSE fell 82.1%. This does not measure generated-image fidelity</a:t>
            </a:r>
          </a:p>
        </p:txBody>
      </p:sp>
    </p:spTree>
    <p:extLst>
      <p:ext uri="{BB962C8B-B14F-4D97-AF65-F5344CB8AC3E}">
        <p14:creationId xmlns:p14="http://schemas.microsoft.com/office/powerpoint/2010/main" val="7794214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D8CAB2-2436-4933-AD6E-208ABC4A84C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Saved samples still show substantial artifacts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4C495B-318C-4C35-9849-FF0424362552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94A04C-CC28-44BE-8B72-6677D6E095A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DDPM_CIFAR10_Mac_Local.ipynb, cell 36 logging. Original cosine_attn_epoch005.png and cosine_attn_epoch018.png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8F2C71-7B26-46C7-BC70-BED49CBB1D8D}"/>
              </a:ext>
            </a:extLst>
          </p:cNvPr>
          <p:cNvSpPr>
            <a:spLocks noGrp="1"/>
          </p:cNvSpPr>
          <p:nvPr/>
        </p:nvSpPr>
        <p:spPr>
          <a:xfrm>
            <a:off x="904875" y="1381125"/>
            <a:ext cx="4476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2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2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2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2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2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2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2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2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2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2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Epoch 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D4B93C-721B-45B6-B5C8-0537B7095B02}"/>
              </a:ext>
            </a:extLst>
          </p:cNvPr>
          <p:cNvSpPr>
            <a:spLocks noGrp="1"/>
          </p:cNvSpPr>
          <p:nvPr/>
        </p:nvSpPr>
        <p:spPr>
          <a:xfrm>
            <a:off x="6715125" y="1381125"/>
            <a:ext cx="4476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2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2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2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2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2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2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2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2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2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2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Epoch 18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D08A50-C055-4497-BE8A-48BBEE26E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1905000"/>
            <a:ext cx="3619500" cy="3619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CA11EE-F121-4D3C-82D6-0CCC18649E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0" y="1905000"/>
            <a:ext cx="3619500" cy="36195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34817D9-94D4-4908-A97B-B7ABE0C9FC36}"/>
              </a:ext>
            </a:extLst>
          </p:cNvPr>
          <p:cNvSpPr>
            <a:spLocks noGrp="1"/>
          </p:cNvSpPr>
          <p:nvPr/>
        </p:nvSpPr>
        <p:spPr>
          <a:xfrm>
            <a:off x="666750" y="579120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EMA, DDIM-50 logging path. Colour and texture appear, but object structure is weak</a:t>
            </a:r>
          </a:p>
        </p:txBody>
      </p:sp>
    </p:spTree>
    <p:extLst>
      <p:ext uri="{BB962C8B-B14F-4D97-AF65-F5344CB8AC3E}">
        <p14:creationId xmlns:p14="http://schemas.microsoft.com/office/powerpoint/2010/main" val="995460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C308C18-99D4-4D63-9F63-4E40F42AF99F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DDPM and DDIM sampling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227801-58CD-46B2-BB78-7E03692F6CA9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1DA375-B9AD-40EE-BF8B-08A7480D0A66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DDPM_CIFAR10_Mac_Local.ipynb, cells 35, 45, 48, 52–53. DDIM background: https://arxiv.org/abs/2010.02502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40C4EA-6727-4A97-9F42-C2EB66ECED37}"/>
              </a:ext>
            </a:extLst>
          </p:cNvPr>
          <p:cNvGraphicFramePr/>
          <p:nvPr/>
        </p:nvGraphicFramePr>
        <p:xfrm>
          <a:off x="666750" y="1666875"/>
          <a:ext cx="10858500" cy="3143250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Aspect</a:t>
                      </a:r>
                    </a:p>
                  </a:txBody>
                  <a:tcPr anchor="ctr">
                    <a:lnL w="9525">
                      <a:solidFill>
                        <a:srgbClr val="D4DEE8"/>
                      </a:solidFill>
                      <a:prstDash val="soli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>
                      <a:solidFill>
                        <a:srgbClr val="D4DEE8"/>
                      </a:solidFill>
                      <a:prstDash val="soli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DDPM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>
                      <a:solidFill>
                        <a:srgbClr val="D4DEE8"/>
                      </a:solidFill>
                      <a:prstDash val="soli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DDIM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>
                      <a:solidFill>
                        <a:srgbClr val="D4DEE8"/>
                      </a:solidFill>
                      <a:prstDash val="soli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14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Denoising path</a:t>
                      </a:r>
                    </a:p>
                  </a:txBody>
                  <a:tcPr anchor="ctr">
                    <a:lnL w="9525">
                      <a:solidFill>
                        <a:srgbClr val="D4DEE8"/>
                      </a:solidFill>
                      <a:prstDash val="soli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All 1,000 timesteps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Subset of timesteps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Randomness</a:t>
                      </a:r>
                    </a:p>
                  </a:txBody>
                  <a:tcPr anchor="ctr">
                    <a:lnL w="9525">
                      <a:solidFill>
                        <a:srgbClr val="D4DEE8"/>
                      </a:solidFill>
                      <a:prstDash val="soli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Posterior noise during sampling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η = 0 for deterministic trajectory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Saved grid setting</a:t>
                      </a:r>
                    </a:p>
                  </a:txBody>
                  <a:tcPr anchor="ctr">
                    <a:lnL w="9525">
                      <a:solidFill>
                        <a:srgbClr val="D4DEE8"/>
                      </a:solidFill>
                      <a:prstDash val="soli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retained DDPM grid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EMA, 50 steps during logging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Quality and runtime comparison</a:t>
                      </a:r>
                    </a:p>
                  </a:txBody>
                  <a:tcPr anchor="ctr">
                    <a:lnL w="9525">
                      <a:solidFill>
                        <a:srgbClr val="D4DEE8"/>
                      </a:solidFill>
                      <a:prstDash val="soli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saved metric result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saved timing / metric sweep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4E93418E-743A-4B59-AF69-87C81EAA048C}"/>
              </a:ext>
            </a:extLst>
          </p:cNvPr>
          <p:cNvSpPr>
            <a:spLocks noGrp="1"/>
          </p:cNvSpPr>
          <p:nvPr/>
        </p:nvSpPr>
        <p:spPr>
          <a:xfrm>
            <a:off x="666750" y="579120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DDIM-50 uses 20× fewer model calls. Actual speed and quality need measurement</a:t>
            </a:r>
          </a:p>
        </p:txBody>
      </p:sp>
    </p:spTree>
    <p:extLst>
      <p:ext uri="{BB962C8B-B14F-4D97-AF65-F5344CB8AC3E}">
        <p14:creationId xmlns:p14="http://schemas.microsoft.com/office/powerpoint/2010/main" val="808941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BDA8770-A8B3-4A3A-9452-13E13FF1676A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Evaluation protocol and missing measurements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946472-3880-4311-BB26-195DEA49FC10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DA43C0-8B42-45BC-8A2D-0440B171FFE2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DDPM_CIFAR10_Mac_Local.ipynb, cells 50–54 and 68. Metric API: https://torch-fidelity.readthedocs.io/en/latest/usage_api.html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2BBDAB-079E-4A7C-80E0-0ACB48555290}"/>
              </a:ext>
            </a:extLst>
          </p:cNvPr>
          <p:cNvGraphicFramePr/>
          <p:nvPr/>
        </p:nvGraphicFramePr>
        <p:xfrm>
          <a:off x="666750" y="1666875"/>
          <a:ext cx="10858500" cy="3333750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</a:t>
                      </a:r>
                    </a:p>
                  </a:txBody>
                  <a:tcPr anchor="ctr">
                    <a:lnL w="9525">
                      <a:solidFill>
                        <a:srgbClr val="D4DEE8"/>
                      </a:solidFill>
                      <a:prstDash val="soli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>
                      <a:solidFill>
                        <a:srgbClr val="D4DEE8"/>
                      </a:solidFill>
                      <a:prstDash val="soli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 it addresses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>
                      <a:solidFill>
                        <a:srgbClr val="D4DEE8"/>
                      </a:solidFill>
                      <a:prstDash val="soli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Saved result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>
                      <a:solidFill>
                        <a:srgbClr val="D4DEE8"/>
                      </a:solidFill>
                      <a:prstDash val="soli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14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FID, lower is better</a:t>
                      </a:r>
                    </a:p>
                  </a:txBody>
                  <a:tcPr anchor="ctr">
                    <a:lnL w="9525">
                      <a:solidFill>
                        <a:srgbClr val="D4DEE8"/>
                      </a:solidFill>
                      <a:prstDash val="soli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How closely do feature distributions match?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available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Inception Score</a:t>
                      </a:r>
                    </a:p>
                  </a:txBody>
                  <a:tcPr anchor="ctr">
                    <a:lnL w="9525">
                      <a:solidFill>
                        <a:srgbClr val="D4DEE8"/>
                      </a:solidFill>
                      <a:prstDash val="soli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Are generated class predictions confident and varied?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available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Generative precision / recall</a:t>
                      </a:r>
                    </a:p>
                  </a:txBody>
                  <a:tcPr anchor="ctr">
                    <a:lnL w="9525">
                      <a:solidFill>
                        <a:srgbClr val="D4DEE8"/>
                      </a:solidFill>
                      <a:prstDash val="soli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Sample fidelity and coverage of real content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available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Generation time</a:t>
                      </a:r>
                    </a:p>
                  </a:txBody>
                  <a:tcPr anchor="ctr">
                    <a:lnL w="9525">
                      <a:solidFill>
                        <a:srgbClr val="D4DEE8"/>
                      </a:solidFill>
                      <a:prstDash val="soli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is the measured sampling cost?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available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EFD7464A-0532-4ED2-97F6-52CBFBA54506}"/>
              </a:ext>
            </a:extLst>
          </p:cNvPr>
          <p:cNvSpPr>
            <a:spLocks noGrp="1"/>
          </p:cNvSpPr>
          <p:nvPr/>
        </p:nvSpPr>
        <p:spPr>
          <a:xfrm>
            <a:off x="666750" y="579120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Planned protocol: 2,500 generated images against 2,500 reference images</a:t>
            </a:r>
          </a:p>
        </p:txBody>
      </p:sp>
    </p:spTree>
    <p:extLst>
      <p:ext uri="{BB962C8B-B14F-4D97-AF65-F5344CB8AC3E}">
        <p14:creationId xmlns:p14="http://schemas.microsoft.com/office/powerpoint/2010/main" val="15991714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610980A-8AF8-4B10-9D93-A48B63AECFB5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Model comparisons remain unverified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73B46C-16D0-469F-A40A-229D8BF6A6C7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016F7A-71BA-4ACE-9789-EDC2A670566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DDPM_CIFAR10_Mac_Local.ipynb, cells 55–65. Available checkpoint directory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AFF74A5-26C0-45F9-BCFF-6A35BDF85DDC}"/>
              </a:ext>
            </a:extLst>
          </p:cNvPr>
          <p:cNvGraphicFramePr/>
          <p:nvPr/>
        </p:nvGraphicFramePr>
        <p:xfrm>
          <a:off x="666750" y="1666875"/>
          <a:ext cx="10858500" cy="3286125"/>
        </p:xfrm>
        <a:graphic>
          <a:graphicData uri="http://schemas.openxmlformats.org/drawingml/2006/table">
            <a:tbl>
              <a:tblPr/>
              <a:tblGrid>
                <a:gridCol w="352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72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Experiment</a:t>
                      </a:r>
                    </a:p>
                  </a:txBody>
                  <a:tcPr anchor="ctr">
                    <a:lnL w="9525">
                      <a:solidFill>
                        <a:srgbClr val="D4DEE8"/>
                      </a:solidFill>
                      <a:prstDash val="soli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>
                      <a:solidFill>
                        <a:srgbClr val="D4DEE8"/>
                      </a:solidFill>
                      <a:prstDash val="soli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Implementation status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>
                      <a:solidFill>
                        <a:srgbClr val="D4DEE8"/>
                      </a:solidFill>
                      <a:prstDash val="soli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Saved evidence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>
                      <a:solidFill>
                        <a:srgbClr val="D4DEE8"/>
                      </a:solidFill>
                      <a:prstDash val="soli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14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Cosine + attention</a:t>
                      </a:r>
                    </a:p>
                  </a:txBody>
                  <a:tcPr anchor="ctr">
                    <a:lnL w="9525">
                      <a:solidFill>
                        <a:srgbClr val="D4DEE8"/>
                      </a:solidFill>
                      <a:prstDash val="soli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Primary unconditional configuration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18-epoch checkpoint and grids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Linear / no-attention ablations</a:t>
                      </a:r>
                    </a:p>
                  </a:txBody>
                  <a:tcPr anchor="ctr">
                    <a:lnL w="9525">
                      <a:solidFill>
                        <a:srgbClr val="D4DEE8"/>
                      </a:solidFill>
                      <a:prstDash val="soli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Code present, RUN_ABLATIONS=False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comparison checkpoints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AE / VAE / DCGAN</a:t>
                      </a:r>
                    </a:p>
                  </a:txBody>
                  <a:tcPr anchor="ctr">
                    <a:lnL w="9525">
                      <a:solidFill>
                        <a:srgbClr val="D4DEE8"/>
                      </a:solidFill>
                      <a:prstDash val="soli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and sampling code present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retained trained outputs or scores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Classifier-free guidance</a:t>
                      </a:r>
                    </a:p>
                  </a:txBody>
                  <a:tcPr anchor="ctr">
                    <a:lnL w="9525">
                      <a:solidFill>
                        <a:srgbClr val="D4DEE8"/>
                      </a:solidFill>
                      <a:prstDash val="soli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Optional, RUN_CFG=False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conditional checkpoint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A3A47A2-A6EA-480A-B50E-5E35FF31B8C2}"/>
              </a:ext>
            </a:extLst>
          </p:cNvPr>
          <p:cNvSpPr>
            <a:spLocks noGrp="1"/>
          </p:cNvSpPr>
          <p:nvPr/>
        </p:nvSpPr>
        <p:spPr>
          <a:xfrm>
            <a:off x="666750" y="579120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No comparative winner can be selected from the supplied evidence</a:t>
            </a:r>
          </a:p>
        </p:txBody>
      </p:sp>
    </p:spTree>
    <p:extLst>
      <p:ext uri="{BB962C8B-B14F-4D97-AF65-F5344CB8AC3E}">
        <p14:creationId xmlns:p14="http://schemas.microsoft.com/office/powerpoint/2010/main" val="3564641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E2FE8A1-1C38-49E4-B122-0A9E645A7097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Current delivery is a local notebook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E29F8C-A27D-4F59-9463-7E05CAF8A0A8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10B3EB-3EA1-46C0-94FD-0D816D216E5B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DDPM_CIFAR10_Mac_Local.ipynb, cells 36, 42 and 68. Local output folders, no application code supplied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FD6B9B-F3E7-4B68-AAB0-D73EC2263DFB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2286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D0AFF8-79FF-40F6-B0F7-895CC52F31A1}"/>
              </a:ext>
            </a:extLst>
          </p:cNvPr>
          <p:cNvSpPr>
            <a:spLocks noGrp="1"/>
          </p:cNvSpPr>
          <p:nvPr/>
        </p:nvSpPr>
        <p:spPr>
          <a:xfrm>
            <a:off x="1000125" y="1619250"/>
            <a:ext cx="10334625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Jupyter notebook provides training, sampling and evaluation code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427CD6-848C-4374-868B-27A7073A5EE9}"/>
              </a:ext>
            </a:extLst>
          </p:cNvPr>
          <p:cNvSpPr>
            <a:spLocks noGrp="1"/>
          </p:cNvSpPr>
          <p:nvPr/>
        </p:nvSpPr>
        <p:spPr>
          <a:xfrm>
            <a:off x="666750" y="2571750"/>
            <a:ext cx="2286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C46301-5ECA-4C84-AD98-6B12BB49D47E}"/>
              </a:ext>
            </a:extLst>
          </p:cNvPr>
          <p:cNvSpPr>
            <a:spLocks noGrp="1"/>
          </p:cNvSpPr>
          <p:nvPr/>
        </p:nvSpPr>
        <p:spPr>
          <a:xfrm>
            <a:off x="1000125" y="2571750"/>
            <a:ext cx="10334625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Final checkpoint stores raw and EMA weights plus training history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5C3184-C318-443D-A37E-649A6A1E3FC7}"/>
              </a:ext>
            </a:extLst>
          </p:cNvPr>
          <p:cNvSpPr>
            <a:spLocks noGrp="1"/>
          </p:cNvSpPr>
          <p:nvPr/>
        </p:nvSpPr>
        <p:spPr>
          <a:xfrm>
            <a:off x="666750" y="3524250"/>
            <a:ext cx="2286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B14AD8-B7FB-4619-93EE-936F8B107D6E}"/>
              </a:ext>
            </a:extLst>
          </p:cNvPr>
          <p:cNvSpPr>
            <a:spLocks noGrp="1"/>
          </p:cNvSpPr>
          <p:nvPr/>
        </p:nvSpPr>
        <p:spPr>
          <a:xfrm>
            <a:off x="1000125" y="3524250"/>
            <a:ext cx="10334625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Resume checkpoint adds optimizer state, epoch and step count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7C858A-DD5A-4810-B41D-B5721F36E958}"/>
              </a:ext>
            </a:extLst>
          </p:cNvPr>
          <p:cNvSpPr>
            <a:spLocks noGrp="1"/>
          </p:cNvSpPr>
          <p:nvPr/>
        </p:nvSpPr>
        <p:spPr>
          <a:xfrm>
            <a:off x="666750" y="4476750"/>
            <a:ext cx="2286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08A3E3-2F78-4578-8E00-68120CC28004}"/>
              </a:ext>
            </a:extLst>
          </p:cNvPr>
          <p:cNvSpPr>
            <a:spLocks noGrp="1"/>
          </p:cNvSpPr>
          <p:nvPr/>
        </p:nvSpPr>
        <p:spPr>
          <a:xfrm>
            <a:off x="1000125" y="4476750"/>
            <a:ext cx="10334625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Main-model loading requires the saved 32-channel architecture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B7DF09-BDD9-4834-AF87-DAB13E989FEA}"/>
              </a:ext>
            </a:extLst>
          </p:cNvPr>
          <p:cNvSpPr>
            <a:spLocks noGrp="1"/>
          </p:cNvSpPr>
          <p:nvPr/>
        </p:nvSpPr>
        <p:spPr>
          <a:xfrm>
            <a:off x="666750" y="579120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A65F1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A65F1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A65F1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A65F1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A65F1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A65F1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A65F1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A65F1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A65F1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A65F13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875" b="1">
                <a:solidFill>
                  <a:srgbClr val="A65F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A65F13"/>
                </a:solidFill>
                <a:latin typeface="Helvetica Neue"/>
                <a:ea typeface="Helvetica Neue"/>
                <a:cs typeface="Helvetica Neue"/>
              </a:rPr>
              <a:t>No Streamlit application or production endpoint is documented</a:t>
            </a:r>
          </a:p>
        </p:txBody>
      </p:sp>
    </p:spTree>
    <p:extLst>
      <p:ext uri="{BB962C8B-B14F-4D97-AF65-F5344CB8AC3E}">
        <p14:creationId xmlns:p14="http://schemas.microsoft.com/office/powerpoint/2010/main" val="926606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7175EBB-DFDC-49EB-8057-097549A2FA6D}"/>
              </a:ext>
            </a:extLst>
          </p:cNvPr>
          <p:cNvCxnSpPr>
            <a:stCxn id="7" idx="2"/>
            <a:endCxn id="13" idx="0"/>
          </p:cNvCxnSpPr>
          <p:nvPr/>
        </p:nvCxnSpPr>
        <p:spPr>
          <a:xfrm flipH="1">
            <a:off x="4572000" y="2428875"/>
            <a:ext cx="5953125" cy="1905000"/>
          </a:xfrm>
          <a:prstGeom prst="straightConnector1">
            <a:avLst/>
          </a:prstGeom>
          <a:ln w="19050">
            <a:solidFill>
              <a:srgbClr val="007F82"/>
            </a:solidFill>
            <a:prstDash val="solid"/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7D7D05E-741F-4597-95BD-6D80590C555B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8620125" y="4786313"/>
            <a:ext cx="809625" cy="0"/>
          </a:xfrm>
          <a:prstGeom prst="straightConnector1">
            <a:avLst/>
          </a:prstGeom>
          <a:ln w="19050">
            <a:solidFill>
              <a:srgbClr val="007F82"/>
            </a:solidFill>
            <a:prstDash val="dash"/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FCC2F04-94C9-43F5-913F-F329F2B50A00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5667375" y="4786313"/>
            <a:ext cx="762000" cy="0"/>
          </a:xfrm>
          <a:prstGeom prst="straightConnector1">
            <a:avLst/>
          </a:prstGeom>
          <a:ln w="19050">
            <a:solidFill>
              <a:srgbClr val="007F82"/>
            </a:solidFill>
            <a:prstDash val="solid"/>
            <a:tailEnd type="triangle" w="med" len="med"/>
          </a:ln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CEBEC61-7F60-4476-BFEA-3DBD87D64711}"/>
              </a:ext>
            </a:extLst>
          </p:cNvPr>
          <p:cNvCxnSpPr>
            <a:stCxn id="4" idx="2"/>
            <a:endCxn id="11" idx="0"/>
          </p:cNvCxnSpPr>
          <p:nvPr/>
        </p:nvCxnSpPr>
        <p:spPr>
          <a:xfrm>
            <a:off x="1666875" y="2428875"/>
            <a:ext cx="0" cy="1905000"/>
          </a:xfrm>
          <a:prstGeom prst="straightConnector1">
            <a:avLst/>
          </a:prstGeom>
          <a:ln w="19050">
            <a:solidFill>
              <a:srgbClr val="007F82"/>
            </a:solidFill>
            <a:prstDash val="solid"/>
            <a:tailEnd type="triangle" w="med" len="med"/>
          </a:ln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AEE7F19-839A-4C93-9BF2-38A7E7420CBE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8620125" y="2024063"/>
            <a:ext cx="809625" cy="0"/>
          </a:xfrm>
          <a:prstGeom prst="straightConnector1">
            <a:avLst/>
          </a:prstGeom>
          <a:ln w="19050">
            <a:solidFill>
              <a:srgbClr val="007F82"/>
            </a:solidFill>
            <a:prstDash val="solid"/>
            <a:tailEnd type="triangle" w="med" len="med"/>
          </a:ln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7EFE255-1C81-4D90-B82D-8F3A747C9A07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667375" y="2024063"/>
            <a:ext cx="762000" cy="0"/>
          </a:xfrm>
          <a:prstGeom prst="straightConnector1">
            <a:avLst/>
          </a:prstGeom>
          <a:ln w="19050">
            <a:solidFill>
              <a:srgbClr val="007F82"/>
            </a:solidFill>
            <a:prstDash val="solid"/>
            <a:tailEnd type="triangle" w="med" len="med"/>
          </a:ln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E79FA7E-F51C-4558-9CD4-14D34AD5E40B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714625" y="2024063"/>
            <a:ext cx="762000" cy="0"/>
          </a:xfrm>
          <a:prstGeom prst="straightConnector1">
            <a:avLst/>
          </a:prstGeom>
          <a:ln w="19050">
            <a:solidFill>
              <a:srgbClr val="007F82"/>
            </a:solidFill>
            <a:prstDash val="solid"/>
            <a:tailEnd type="triangle" w="med" len="med"/>
          </a:ln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EF80F2E-F597-498F-93DF-EB042E7C3F1C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End-to-end data and model 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FF4746-7929-44FF-BC27-AA938D4D820A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2A93C8-7118-4869-BE6C-9924D9C942B6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DDPM_CIFAR10_Mac_Local.ipynb, cells 7–68. Solid flow = implemented artifact path, dashed evaluation link = no saved scores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7FDDB7-0D71-498C-8A60-A23B128E21F8}"/>
              </a:ext>
            </a:extLst>
          </p:cNvPr>
          <p:cNvSpPr>
            <a:spLocks noGrp="1"/>
          </p:cNvSpPr>
          <p:nvPr/>
        </p:nvSpPr>
        <p:spPr>
          <a:xfrm>
            <a:off x="619125" y="1619250"/>
            <a:ext cx="2095500" cy="809625"/>
          </a:xfrm>
          <a:prstGeom prst="rect">
            <a:avLst/>
          </a:prstGeom>
          <a:solidFill>
            <a:srgbClr val="EAF2F5"/>
          </a:solidFill>
          <a:ln w="9525">
            <a:solidFill>
              <a:srgbClr val="D4DEE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CIFAR-10</a:t>
            </a:r>
          </a:p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50,000 images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B3BE8C-E3B4-4F6F-BA98-4A4D266D6788}"/>
              </a:ext>
            </a:extLst>
          </p:cNvPr>
          <p:cNvSpPr>
            <a:spLocks noGrp="1"/>
          </p:cNvSpPr>
          <p:nvPr/>
        </p:nvSpPr>
        <p:spPr>
          <a:xfrm>
            <a:off x="3476625" y="1619250"/>
            <a:ext cx="2190750" cy="809625"/>
          </a:xfrm>
          <a:prstGeom prst="rect">
            <a:avLst/>
          </a:prstGeom>
          <a:solidFill>
            <a:srgbClr val="EAF2F5"/>
          </a:solidFill>
          <a:ln w="9525">
            <a:solidFill>
              <a:srgbClr val="D4DEE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47,500 train</a:t>
            </a:r>
          </a:p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scale and flip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ECB1D9-D9E8-4C34-860A-33B7C315AA1D}"/>
              </a:ext>
            </a:extLst>
          </p:cNvPr>
          <p:cNvSpPr>
            <a:spLocks noGrp="1"/>
          </p:cNvSpPr>
          <p:nvPr/>
        </p:nvSpPr>
        <p:spPr>
          <a:xfrm>
            <a:off x="6429375" y="1619250"/>
            <a:ext cx="2190750" cy="809625"/>
          </a:xfrm>
          <a:prstGeom prst="rect">
            <a:avLst/>
          </a:prstGeom>
          <a:solidFill>
            <a:srgbClr val="EAF2F5"/>
          </a:solidFill>
          <a:ln w="9525">
            <a:solidFill>
              <a:srgbClr val="D4DEE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Noise + timestep</a:t>
            </a:r>
          </a:p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training task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0054C4-223C-4DF1-911B-3C334D00841D}"/>
              </a:ext>
            </a:extLst>
          </p:cNvPr>
          <p:cNvSpPr>
            <a:spLocks noGrp="1"/>
          </p:cNvSpPr>
          <p:nvPr/>
        </p:nvSpPr>
        <p:spPr>
          <a:xfrm>
            <a:off x="9429750" y="1619250"/>
            <a:ext cx="2190750" cy="809625"/>
          </a:xfrm>
          <a:prstGeom prst="rect">
            <a:avLst/>
          </a:prstGeom>
          <a:solidFill>
            <a:srgbClr val="EAF2F5"/>
          </a:solidFill>
          <a:ln w="9525">
            <a:solidFill>
              <a:srgbClr val="D4DEE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U-Net + EMA</a:t>
            </a:r>
          </a:p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checkpoints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CE7684-4FC9-40EE-96F1-871D40C59EB4}"/>
              </a:ext>
            </a:extLst>
          </p:cNvPr>
          <p:cNvSpPr>
            <a:spLocks noGrp="1"/>
          </p:cNvSpPr>
          <p:nvPr/>
        </p:nvSpPr>
        <p:spPr>
          <a:xfrm>
            <a:off x="619125" y="4333875"/>
            <a:ext cx="2095500" cy="904875"/>
          </a:xfrm>
          <a:prstGeom prst="rect">
            <a:avLst/>
          </a:prstGeom>
          <a:solidFill>
            <a:srgbClr val="EAF2F5"/>
          </a:solidFill>
          <a:ln w="9525">
            <a:solidFill>
              <a:srgbClr val="D4DEE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2,500 real</a:t>
            </a:r>
          </a:p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reference PNGs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374BC8-DA24-4B28-BFEC-6A9D3C1C0E64}"/>
              </a:ext>
            </a:extLst>
          </p:cNvPr>
          <p:cNvSpPr>
            <a:spLocks noGrp="1"/>
          </p:cNvSpPr>
          <p:nvPr/>
        </p:nvSpPr>
        <p:spPr>
          <a:xfrm>
            <a:off x="3476625" y="4333875"/>
            <a:ext cx="2190750" cy="904875"/>
          </a:xfrm>
          <a:prstGeom prst="rect">
            <a:avLst/>
          </a:prstGeom>
          <a:solidFill>
            <a:srgbClr val="EAF2F5"/>
          </a:solidFill>
          <a:ln w="9525">
            <a:solidFill>
              <a:srgbClr val="D4DEE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Gaussian noise</a:t>
            </a:r>
          </a:p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+ saved model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25D08A-E2CD-46BA-A043-AB3D122C7474}"/>
              </a:ext>
            </a:extLst>
          </p:cNvPr>
          <p:cNvSpPr>
            <a:spLocks noGrp="1"/>
          </p:cNvSpPr>
          <p:nvPr/>
        </p:nvSpPr>
        <p:spPr>
          <a:xfrm>
            <a:off x="6429375" y="4333875"/>
            <a:ext cx="2190750" cy="904875"/>
          </a:xfrm>
          <a:prstGeom prst="rect">
            <a:avLst/>
          </a:prstGeom>
          <a:solidFill>
            <a:srgbClr val="EAF2F5"/>
          </a:solidFill>
          <a:ln w="9525">
            <a:solidFill>
              <a:srgbClr val="D4DEE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DDPM / DDIM</a:t>
            </a:r>
          </a:p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generated PNGs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74DA27-D3D9-4342-A89B-CE827805FAD6}"/>
              </a:ext>
            </a:extLst>
          </p:cNvPr>
          <p:cNvSpPr>
            <a:spLocks noGrp="1"/>
          </p:cNvSpPr>
          <p:nvPr/>
        </p:nvSpPr>
        <p:spPr>
          <a:xfrm>
            <a:off x="9429750" y="4333875"/>
            <a:ext cx="2190750" cy="904875"/>
          </a:xfrm>
          <a:prstGeom prst="rect">
            <a:avLst/>
          </a:prstGeom>
          <a:solidFill>
            <a:srgbClr val="EAF2F5"/>
          </a:solidFill>
          <a:ln w="9525">
            <a:solidFill>
              <a:srgbClr val="D4DEE8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FID / IS / P–R</a:t>
            </a:r>
          </a:p>
          <a:p>
            <a:pPr algn="ctr">
              <a:def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results pending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FF05EA-2C6E-47C9-A50C-745A24AEA731}"/>
              </a:ext>
            </a:extLst>
          </p:cNvPr>
          <p:cNvSpPr>
            <a:spLocks noGrp="1"/>
          </p:cNvSpPr>
          <p:nvPr/>
        </p:nvSpPr>
        <p:spPr>
          <a:xfrm>
            <a:off x="619125" y="5619750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87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Reference images feed distribution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14863805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528D808-A625-4ED7-994D-29893E260F2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Practical value and application boundaries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EF16F9-398E-4B64-821C-8F4396CCD630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EFC52C-8F56-4863-9D04-0B124FE4EC6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DDPM_CIFAR10_Mac_Local.ipynb, cell 69 business relevance. Application statements are proposed validation paths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5F814F-303A-4214-BFD3-28999C7D9EC7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4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Demonstrated value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B73607-F34D-4D6E-B809-128225E1C9FA}"/>
              </a:ext>
            </a:extLst>
          </p:cNvPr>
          <p:cNvSpPr>
            <a:spLocks noGrp="1"/>
          </p:cNvSpPr>
          <p:nvPr/>
        </p:nvSpPr>
        <p:spPr>
          <a:xfrm>
            <a:off x="666750" y="2333625"/>
            <a:ext cx="2286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830AB1-A93C-4BE6-86A9-B1721E8D9149}"/>
              </a:ext>
            </a:extLst>
          </p:cNvPr>
          <p:cNvSpPr>
            <a:spLocks noGrp="1"/>
          </p:cNvSpPr>
          <p:nvPr/>
        </p:nvSpPr>
        <p:spPr>
          <a:xfrm>
            <a:off x="1000125" y="2333625"/>
            <a:ext cx="4619625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Understanding the diffusion pipeline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D5B2B6-2EF6-4210-BEEC-93354578EE33}"/>
              </a:ext>
            </a:extLst>
          </p:cNvPr>
          <p:cNvSpPr>
            <a:spLocks noGrp="1"/>
          </p:cNvSpPr>
          <p:nvPr/>
        </p:nvSpPr>
        <p:spPr>
          <a:xfrm>
            <a:off x="666750" y="3429000"/>
            <a:ext cx="2286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8A357A-C5C2-49E4-8ACF-8874BABDA12C}"/>
              </a:ext>
            </a:extLst>
          </p:cNvPr>
          <p:cNvSpPr>
            <a:spLocks noGrp="1"/>
          </p:cNvSpPr>
          <p:nvPr/>
        </p:nvSpPr>
        <p:spPr>
          <a:xfrm>
            <a:off x="1000125" y="3429000"/>
            <a:ext cx="4619625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Local training and saved experiment artifacts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AAE8EF-0DD0-4DF4-B4E6-28C7084B1623}"/>
              </a:ext>
            </a:extLst>
          </p:cNvPr>
          <p:cNvSpPr>
            <a:spLocks noGrp="1"/>
          </p:cNvSpPr>
          <p:nvPr/>
        </p:nvSpPr>
        <p:spPr>
          <a:xfrm>
            <a:off x="6477000" y="16192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4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Potential value after validation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B069EC-5B4F-4029-8458-33CD0E2315C1}"/>
              </a:ext>
            </a:extLst>
          </p:cNvPr>
          <p:cNvSpPr>
            <a:spLocks noGrp="1"/>
          </p:cNvSpPr>
          <p:nvPr/>
        </p:nvSpPr>
        <p:spPr>
          <a:xfrm>
            <a:off x="6477000" y="2333625"/>
            <a:ext cx="2286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5737F1-B71F-4405-929B-04D8F7BE1D4B}"/>
              </a:ext>
            </a:extLst>
          </p:cNvPr>
          <p:cNvSpPr>
            <a:spLocks noGrp="1"/>
          </p:cNvSpPr>
          <p:nvPr/>
        </p:nvSpPr>
        <p:spPr>
          <a:xfrm>
            <a:off x="6810375" y="2333625"/>
            <a:ext cx="4714875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Synthetic data: test downstream utility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171070-EA29-47D0-8461-B2943FA84F07}"/>
              </a:ext>
            </a:extLst>
          </p:cNvPr>
          <p:cNvSpPr>
            <a:spLocks noGrp="1"/>
          </p:cNvSpPr>
          <p:nvPr/>
        </p:nvSpPr>
        <p:spPr>
          <a:xfrm>
            <a:off x="6477000" y="3429000"/>
            <a:ext cx="2286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104B42-11B0-4985-8350-B6068D94B3BB}"/>
              </a:ext>
            </a:extLst>
          </p:cNvPr>
          <p:cNvSpPr>
            <a:spLocks noGrp="1"/>
          </p:cNvSpPr>
          <p:nvPr/>
        </p:nvSpPr>
        <p:spPr>
          <a:xfrm>
            <a:off x="6810375" y="3429000"/>
            <a:ext cx="4714875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Image ideation: verify quality and latency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3AA4C1-4A27-49D8-87CC-0F782E3D3F48}"/>
              </a:ext>
            </a:extLst>
          </p:cNvPr>
          <p:cNvSpPr>
            <a:spLocks noGrp="1"/>
          </p:cNvSpPr>
          <p:nvPr/>
        </p:nvSpPr>
        <p:spPr>
          <a:xfrm>
            <a:off x="666750" y="579120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No measured business impact, privacy guarantee or production readiness</a:t>
            </a:r>
          </a:p>
        </p:txBody>
      </p:sp>
    </p:spTree>
    <p:extLst>
      <p:ext uri="{BB962C8B-B14F-4D97-AF65-F5344CB8AC3E}">
        <p14:creationId xmlns:p14="http://schemas.microsoft.com/office/powerpoint/2010/main" val="20618990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B10925A-6C11-4675-9A5C-8ACA6F43A5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D4E"/>
                </a:solidFill>
                <a:latin typeface="Helvetica Neue"/>
                <a:ea typeface="Helvetica Neue"/>
                <a:cs typeface="Helvetica Neue"/>
              </a:rPr>
              <a:t>Limitations and next experiments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510747-9AA1-4A95-942F-760B25A20B4C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FB2337-B331-42CF-988B-58C2AB23A37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B"/>
                </a:solidFill>
                <a:latin typeface="Helvetica Neue"/>
                <a:ea typeface="Helvetica Neue"/>
                <a:cs typeface="Helvetica Neue"/>
              </a:rPr>
              <a:t>DDPM_CIFAR10_Mac_Local.ipynb, configuration and evaluation code. Prioritized improvements inferred from artifact gaps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D5A52E-321A-4977-A88E-E6334F276A64}"/>
              </a:ext>
            </a:extLst>
          </p:cNvPr>
          <p:cNvGraphicFramePr/>
          <p:nvPr/>
        </p:nvGraphicFramePr>
        <p:xfrm>
          <a:off x="666750" y="1666875"/>
          <a:ext cx="10858500" cy="3333750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3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Priority</a:t>
                      </a:r>
                    </a:p>
                  </a:txBody>
                  <a:tcPr anchor="ctr">
                    <a:lnL w="9525">
                      <a:solidFill>
                        <a:srgbClr val="D4DEE8"/>
                      </a:solidFill>
                      <a:prstDash val="soli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>
                      <a:solidFill>
                        <a:srgbClr val="D4DEE8"/>
                      </a:solidFill>
                      <a:prstDash val="soli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 limitation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>
                      <a:solidFill>
                        <a:srgbClr val="D4DEE8"/>
                      </a:solidFill>
                      <a:prstDash val="soli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Next action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>
                      <a:solidFill>
                        <a:srgbClr val="D4DEE8"/>
                      </a:solidFill>
                      <a:prstDash val="soli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14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 Reproduce</a:t>
                      </a:r>
                    </a:p>
                  </a:txBody>
                  <a:tcPr anchor="ctr">
                    <a:lnL w="9525">
                      <a:solidFill>
                        <a:srgbClr val="D4DEE8"/>
                      </a:solidFill>
                      <a:prstDash val="soli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32-channel checkpoint versus 64-channel default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Load per-run architecture and log provenance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 Measure</a:t>
                      </a:r>
                    </a:p>
                  </a:txBody>
                  <a:tcPr anchor="ctr">
                    <a:lnL w="9525">
                      <a:solidFill>
                        <a:srgbClr val="D4DEE8"/>
                      </a:solidFill>
                      <a:prstDash val="soli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Artifacts in grids, no saved quality scores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Generate a fixed set and retain metrics/timing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 Compare</a:t>
                      </a:r>
                    </a:p>
                  </a:txBody>
                  <a:tcPr anchor="ctr">
                    <a:lnL w="9525">
                      <a:solidFill>
                        <a:srgbClr val="D4DEE8"/>
                      </a:solidFill>
                      <a:prstDash val="soli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 ablations and baseline results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 fair budgets and report uncertainty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 Extend</a:t>
                      </a:r>
                    </a:p>
                  </a:txBody>
                  <a:tcPr anchor="ctr">
                    <a:lnL w="9525">
                      <a:solidFill>
                        <a:srgbClr val="D4DEE8"/>
                      </a:solidFill>
                      <a:prstDash val="soli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Unconditional 32 × 32 prototype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Improve quality before conditioning or an app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8"/>
                      </a:solidFill>
                      <a:prstDash val="soli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66A1BC1-6B49-4898-8BBE-DFB4C1844DAA}"/>
              </a:ext>
            </a:extLst>
          </p:cNvPr>
          <p:cNvSpPr>
            <a:spLocks noGrp="1"/>
          </p:cNvSpPr>
          <p:nvPr/>
        </p:nvSpPr>
        <p:spPr>
          <a:xfrm>
            <a:off x="666750" y="579120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Model quality and reproducibility come before application packaging</a:t>
            </a:r>
          </a:p>
        </p:txBody>
      </p:sp>
    </p:spTree>
    <p:extLst>
      <p:ext uri="{BB962C8B-B14F-4D97-AF65-F5344CB8AC3E}">
        <p14:creationId xmlns:p14="http://schemas.microsoft.com/office/powerpoint/2010/main" val="10749057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B1349E-9114-40B0-A00A-8DD74EC96C3C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Conclusion and discussion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531CBA-99A2-4924-A4EC-FA8FCE178976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r">
              <a:defRPr sz="1200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200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200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200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200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200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200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200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200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200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200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F3BBFE-E254-4A0E-B219-16777DEAD96B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125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125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C5D4E3"/>
                </a:solidFill>
                <a:latin typeface="Helvetica Neue"/>
                <a:ea typeface="Helvetica Neue"/>
                <a:cs typeface="Helvetica Neue"/>
              </a:rPr>
              <a:t>DDPM_CIFAR10_Mac_Local.ipynb and supplied checkpoint/sample artifacts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09F6E8-235B-4ACA-8E27-F39608365D5F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66800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working diffusion prototype</a:t>
            </a:r>
          </a:p>
          <a:p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with a clear evaluation gap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FB3651-39BA-4FB4-983C-2742AAC4B46E}"/>
              </a:ext>
            </a:extLst>
          </p:cNvPr>
          <p:cNvSpPr>
            <a:spLocks noGrp="1"/>
          </p:cNvSpPr>
          <p:nvPr/>
        </p:nvSpPr>
        <p:spPr>
          <a:xfrm>
            <a:off x="695325" y="3476625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0">
                <a:solidFill>
                  <a:srgbClr val="D5E5E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D5E5E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D5E5E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D5E5E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D5E5E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D5E5E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D5E5E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D5E5E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D5E5E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D5E5E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175" b="0">
                <a:solidFill>
                  <a:srgbClr val="D5E5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D5E5EF"/>
                </a:solidFill>
                <a:latin typeface="Helvetica Neue"/>
                <a:ea typeface="Helvetica Neue"/>
                <a:cs typeface="Helvetica Neue"/>
              </a:rPr>
              <a:t>Implemented core mechanics and recorded learning progress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7FED22-ABD2-4652-8C93-4A1F7A2DDC5D}"/>
              </a:ext>
            </a:extLst>
          </p:cNvPr>
          <p:cNvSpPr>
            <a:spLocks noGrp="1"/>
          </p:cNvSpPr>
          <p:nvPr/>
        </p:nvSpPr>
        <p:spPr>
          <a:xfrm>
            <a:off x="695325" y="4286250"/>
            <a:ext cx="104775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0">
                <a:solidFill>
                  <a:srgbClr val="D5E5E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D5E5E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D5E5E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D5E5E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D5E5E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D5E5E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D5E5E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D5E5E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D5E5E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D5E5E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175" b="0">
                <a:solidFill>
                  <a:srgbClr val="D5E5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D5E5EF"/>
                </a:solidFill>
                <a:latin typeface="Helvetica Neue"/>
                <a:ea typeface="Helvetica Neue"/>
                <a:cs typeface="Helvetica Neue"/>
              </a:rPr>
              <a:t>Image fidelity and superiority over baselines remain unverified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E14F05-2650-4CB9-89CD-E2EACDFE92A3}"/>
              </a:ext>
            </a:extLst>
          </p:cNvPr>
          <p:cNvSpPr>
            <a:spLocks noGrp="1"/>
          </p:cNvSpPr>
          <p:nvPr/>
        </p:nvSpPr>
        <p:spPr>
          <a:xfrm>
            <a:off x="695325" y="5476875"/>
            <a:ext cx="10572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Thank you · Questions and discussion</a:t>
            </a:r>
          </a:p>
        </p:txBody>
      </p:sp>
    </p:spTree>
    <p:extLst>
      <p:ext uri="{BB962C8B-B14F-4D97-AF65-F5344CB8AC3E}">
        <p14:creationId xmlns:p14="http://schemas.microsoft.com/office/powerpoint/2010/main" val="24791127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2951</Words>
  <Application>Microsoft Macintosh PowerPoint</Application>
  <DocSecurity>0</DocSecurity>
  <PresentationFormat>Widescreen</PresentationFormat>
  <Paragraphs>463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Aptos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Sundharamurali Ramachandran</cp:lastModifiedBy>
  <cp:revision>1</cp:revision>
  <dcterms:created xsi:type="dcterms:W3CDTF">2026-10-21T17:40:05Z</dcterms:created>
  <dcterms:modified xsi:type="dcterms:W3CDTF">2026-10-23T19:48:24Z</dcterms:modified>
</cp:coreProperties>
</file>